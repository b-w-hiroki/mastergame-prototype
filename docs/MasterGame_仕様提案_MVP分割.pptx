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2B"/>
        </a:solidFill>
      </p:bgPr>
    </p:bg>
    <p:spTree>
      <p:nvGrpSpPr>
        <p:cNvPr id="1" name=""/>
        <p:cNvGrpSpPr/>
        <p:nvPr/>
      </p:nvGrpSpPr>
      <p:grpSpPr>
        <a:xfrm>
          <a:off x="0" y="0"/>
          <a:ext cx="0" cy="0"/>
          <a:chOff x="0" y="0"/>
          <a:chExt cx="0" cy="0"/>
        </a:xfrm>
      </p:grpSpPr>
      <p:sp>
        <p:nvSpPr>
          <p:cNvPr id="2" name="Shape 0"/>
          <p:cNvSpPr/>
          <p:nvPr/>
        </p:nvSpPr>
        <p:spPr>
          <a:xfrm>
            <a:off x="8229600" y="-2194560"/>
            <a:ext cx="6400800" cy="6400800"/>
          </a:xfrm>
          <a:prstGeom prst="ellipse">
            <a:avLst/>
          </a:prstGeom>
          <a:solidFill>
            <a:srgbClr val="3B4CCA">
              <a:alpha val="22000"/>
            </a:srgbClr>
          </a:solidFill>
          <a:ln/>
        </p:spPr>
      </p:sp>
      <p:sp>
        <p:nvSpPr>
          <p:cNvPr id="3" name="Shape 1"/>
          <p:cNvSpPr/>
          <p:nvPr/>
        </p:nvSpPr>
        <p:spPr>
          <a:xfrm>
            <a:off x="9875520" y="2926080"/>
            <a:ext cx="5029200" cy="5029200"/>
          </a:xfrm>
          <a:prstGeom prst="ellipse">
            <a:avLst/>
          </a:prstGeom>
          <a:solidFill>
            <a:srgbClr val="7A4FD0">
              <a:alpha val="18000"/>
            </a:srgbClr>
          </a:solidFill>
          <a:ln/>
        </p:spPr>
      </p:sp>
      <p:sp>
        <p:nvSpPr>
          <p:cNvPr id="4" name="Shape 2"/>
          <p:cNvSpPr/>
          <p:nvPr/>
        </p:nvSpPr>
        <p:spPr>
          <a:xfrm>
            <a:off x="777240" y="1234440"/>
            <a:ext cx="914400" cy="914400"/>
          </a:xfrm>
          <a:prstGeom prst="roundRect">
            <a:avLst>
              <a:gd name="adj" fmla="val 22000"/>
            </a:avLst>
          </a:prstGeom>
          <a:solidFill>
            <a:srgbClr val="3B4CCA"/>
          </a:solidFill>
          <a:ln/>
          <a:effectLst>
            <a:outerShdw sx="100000" sy="100000" kx="0" ky="0" algn="bl" rotWithShape="0" blurRad="114300" dist="38100" dir="8100000">
              <a:srgbClr val="1F2430">
                <a:alpha val="12000"/>
              </a:srgbClr>
            </a:outerShdw>
          </a:effectLst>
        </p:spPr>
      </p:sp>
      <p:sp>
        <p:nvSpPr>
          <p:cNvPr id="5" name="Text 3"/>
          <p:cNvSpPr/>
          <p:nvPr/>
        </p:nvSpPr>
        <p:spPr>
          <a:xfrm>
            <a:off x="777240" y="1234440"/>
            <a:ext cx="914400" cy="914400"/>
          </a:xfrm>
          <a:prstGeom prst="rect">
            <a:avLst/>
          </a:prstGeom>
          <a:noFill/>
          <a:ln/>
        </p:spPr>
        <p:txBody>
          <a:bodyPr wrap="square"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MG</a:t>
            </a:r>
            <a:endParaRPr lang="en-US" sz="2600" dirty="0"/>
          </a:p>
        </p:txBody>
      </p:sp>
      <p:sp>
        <p:nvSpPr>
          <p:cNvPr id="6" name="Text 4"/>
          <p:cNvSpPr/>
          <p:nvPr/>
        </p:nvSpPr>
        <p:spPr>
          <a:xfrm>
            <a:off x="1874520" y="1325880"/>
            <a:ext cx="7315200" cy="777240"/>
          </a:xfrm>
          <a:prstGeom prst="rect">
            <a:avLst/>
          </a:prstGeom>
          <a:noFill/>
          <a:ln/>
        </p:spPr>
        <p:txBody>
          <a:bodyPr wrap="square" rtlCol="0" anchor="ctr"/>
          <a:lstStyle/>
          <a:p>
            <a:pPr indent="0" marL="0">
              <a:buNone/>
            </a:pPr>
            <a:r>
              <a:rPr lang="en-US" sz="3000" b="1" dirty="0">
                <a:solidFill>
                  <a:srgbClr val="FFFFFF"/>
                </a:solidFill>
                <a:latin typeface="Meiryo" pitchFamily="34" charset="0"/>
                <a:ea typeface="Meiryo" pitchFamily="34" charset="-122"/>
                <a:cs typeface="Meiryo" pitchFamily="34" charset="-120"/>
              </a:rPr>
              <a:t>MasterGame</a:t>
            </a:r>
            <a:endParaRPr lang="en-US" sz="3000" dirty="0"/>
          </a:p>
        </p:txBody>
      </p:sp>
      <p:sp>
        <p:nvSpPr>
          <p:cNvPr id="7" name="Text 5"/>
          <p:cNvSpPr/>
          <p:nvPr/>
        </p:nvSpPr>
        <p:spPr>
          <a:xfrm>
            <a:off x="1901952" y="2029968"/>
            <a:ext cx="7315200" cy="365760"/>
          </a:xfrm>
          <a:prstGeom prst="rect">
            <a:avLst/>
          </a:prstGeom>
          <a:noFill/>
          <a:ln/>
        </p:spPr>
        <p:txBody>
          <a:bodyPr wrap="square" rtlCol="0" anchor="ctr"/>
          <a:lstStyle/>
          <a:p>
            <a:pPr indent="0" marL="0">
              <a:buNone/>
            </a:pPr>
            <a:r>
              <a:rPr lang="en-US" sz="1300" dirty="0">
                <a:solidFill>
                  <a:srgbClr val="C8CBE6"/>
                </a:solidFill>
                <a:latin typeface="Meiryo" pitchFamily="34" charset="0"/>
                <a:ea typeface="Meiryo" pitchFamily="34" charset="-122"/>
                <a:cs typeface="Meiryo" pitchFamily="34" charset="-120"/>
              </a:rPr>
              <a:t>ゲームを、もっと得する遊びに。</a:t>
            </a:r>
            <a:endParaRPr lang="en-US" sz="1300" dirty="0"/>
          </a:p>
        </p:txBody>
      </p:sp>
      <p:sp>
        <p:nvSpPr>
          <p:cNvPr id="8" name="Text 6"/>
          <p:cNvSpPr/>
          <p:nvPr/>
        </p:nvSpPr>
        <p:spPr>
          <a:xfrm>
            <a:off x="777240" y="3246120"/>
            <a:ext cx="10058400" cy="822960"/>
          </a:xfrm>
          <a:prstGeom prst="rect">
            <a:avLst/>
          </a:prstGeom>
          <a:noFill/>
          <a:ln/>
        </p:spPr>
        <p:txBody>
          <a:bodyPr wrap="square"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仕様提案書 ＋ MVP分割</a:t>
            </a:r>
            <a:endParaRPr lang="en-US" sz="4000" dirty="0"/>
          </a:p>
        </p:txBody>
      </p:sp>
      <p:sp>
        <p:nvSpPr>
          <p:cNvPr id="9" name="Text 7"/>
          <p:cNvSpPr/>
          <p:nvPr/>
        </p:nvSpPr>
        <p:spPr>
          <a:xfrm>
            <a:off x="822960" y="4160520"/>
            <a:ext cx="10058400" cy="457200"/>
          </a:xfrm>
          <a:prstGeom prst="rect">
            <a:avLst/>
          </a:prstGeom>
          <a:noFill/>
          <a:ln/>
        </p:spPr>
        <p:txBody>
          <a:bodyPr wrap="square" rtlCol="0" anchor="ctr"/>
          <a:lstStyle/>
          <a:p>
            <a:pPr indent="0" marL="0">
              <a:buNone/>
            </a:pPr>
            <a:r>
              <a:rPr lang="en-US" sz="1500" dirty="0">
                <a:solidFill>
                  <a:srgbClr val="AEB3D8"/>
                </a:solidFill>
                <a:latin typeface="Meiryo" pitchFamily="34" charset="0"/>
                <a:ea typeface="Meiryo" pitchFamily="34" charset="-122"/>
                <a:cs typeface="Meiryo" pitchFamily="34" charset="-120"/>
              </a:rPr>
              <a:t>ポイ活 × ゲームコミュニティ プラットフォーム</a:t>
            </a:r>
            <a:endParaRPr lang="en-US" sz="1500" dirty="0"/>
          </a:p>
        </p:txBody>
      </p:sp>
      <p:sp>
        <p:nvSpPr>
          <p:cNvPr id="10" name="Shape 8"/>
          <p:cNvSpPr/>
          <p:nvPr/>
        </p:nvSpPr>
        <p:spPr>
          <a:xfrm>
            <a:off x="822960" y="4892040"/>
            <a:ext cx="3840480" cy="0"/>
          </a:xfrm>
          <a:prstGeom prst="line">
            <a:avLst/>
          </a:prstGeom>
          <a:noFill/>
          <a:ln w="25400">
            <a:solidFill>
              <a:srgbClr val="C79A3A"/>
            </a:solidFill>
            <a:prstDash val="solid"/>
          </a:ln>
        </p:spPr>
      </p:sp>
      <p:sp>
        <p:nvSpPr>
          <p:cNvPr id="11" name="Text 9"/>
          <p:cNvSpPr/>
          <p:nvPr/>
        </p:nvSpPr>
        <p:spPr>
          <a:xfrm>
            <a:off x="822960" y="5074920"/>
            <a:ext cx="10058400" cy="365760"/>
          </a:xfrm>
          <a:prstGeom prst="rect">
            <a:avLst/>
          </a:prstGeom>
          <a:noFill/>
          <a:ln/>
        </p:spPr>
        <p:txBody>
          <a:bodyPr wrap="square" rtlCol="0" anchor="ctr"/>
          <a:lstStyle/>
          <a:p>
            <a:pPr indent="0" marL="0">
              <a:buNone/>
            </a:pPr>
            <a:r>
              <a:rPr lang="en-US" sz="1200" b="1" dirty="0">
                <a:solidFill>
                  <a:srgbClr val="AEB3D8"/>
                </a:solidFill>
                <a:latin typeface="Meiryo" pitchFamily="34" charset="0"/>
                <a:ea typeface="Meiryo" pitchFamily="34" charset="-122"/>
                <a:cs typeface="Meiryo" pitchFamily="34" charset="-120"/>
              </a:rPr>
              <a:t>対象範囲：</a:t>
            </a:r>
            <a:pPr indent="0" marL="0">
              <a:buNone/>
            </a:pPr>
            <a:r>
              <a:rPr lang="en-US" sz="1200" dirty="0">
                <a:solidFill>
                  <a:srgbClr val="E7E8F2"/>
                </a:solidFill>
                <a:latin typeface="Meiryo" pitchFamily="34" charset="0"/>
                <a:ea typeface="Meiryo" pitchFamily="34" charset="-122"/>
                <a:cs typeface="Meiryo" pitchFamily="34" charset="-120"/>
              </a:rPr>
              <a:t>Phase1 / コアフロー（ログイン→ホーム→ミッション→ポイント交換）</a:t>
            </a:r>
            <a:endParaRPr lang="en-US" sz="1200" dirty="0"/>
          </a:p>
        </p:txBody>
      </p:sp>
      <p:sp>
        <p:nvSpPr>
          <p:cNvPr id="12" name="Text 10"/>
          <p:cNvSpPr/>
          <p:nvPr/>
        </p:nvSpPr>
        <p:spPr>
          <a:xfrm>
            <a:off x="822960" y="5943600"/>
            <a:ext cx="10515600" cy="365760"/>
          </a:xfrm>
          <a:prstGeom prst="rect">
            <a:avLst/>
          </a:prstGeom>
          <a:noFill/>
          <a:ln/>
        </p:spPr>
        <p:txBody>
          <a:bodyPr wrap="square" rtlCol="0" anchor="ctr"/>
          <a:lstStyle/>
          <a:p>
            <a:pPr indent="0" marL="0">
              <a:buNone/>
            </a:pPr>
            <a:r>
              <a:rPr lang="en-US" sz="1050" dirty="0">
                <a:solidFill>
                  <a:srgbClr val="8A90B0"/>
                </a:solidFill>
                <a:latin typeface="Meiryo" pitchFamily="34" charset="0"/>
                <a:ea typeface="Meiryo" pitchFamily="34" charset="-122"/>
                <a:cs typeface="Meiryo" pitchFamily="34" charset="-120"/>
              </a:rPr>
              <a:t>株式会社クリティカルヒット ｜ 2026.05 ｜ 既存3資料（構想・サービス紹介・開発要件）に基づく</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OVERVIEW</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本提案の位置づけ</a:t>
            </a:r>
            <a:endParaRPr lang="en-US" sz="2500" dirty="0"/>
          </a:p>
        </p:txBody>
      </p:sp>
      <p:sp>
        <p:nvSpPr>
          <p:cNvPr id="4" name="Text 2"/>
          <p:cNvSpPr/>
          <p:nvPr/>
        </p:nvSpPr>
        <p:spPr>
          <a:xfrm>
            <a:off x="548640" y="1417320"/>
            <a:ext cx="10972800" cy="365760"/>
          </a:xfrm>
          <a:prstGeom prst="rect">
            <a:avLst/>
          </a:prstGeom>
          <a:noFill/>
          <a:ln/>
        </p:spPr>
        <p:txBody>
          <a:bodyPr wrap="square" rtlCol="0" anchor="ctr"/>
          <a:lstStyle/>
          <a:p>
            <a:pPr indent="0" marL="0">
              <a:buNone/>
            </a:pPr>
            <a:r>
              <a:rPr lang="en-US" sz="1300" dirty="0">
                <a:solidFill>
                  <a:srgbClr val="6B7280"/>
                </a:solidFill>
                <a:latin typeface="Meiryo" pitchFamily="34" charset="0"/>
                <a:ea typeface="Meiryo" pitchFamily="34" charset="-122"/>
                <a:cs typeface="Meiryo" pitchFamily="34" charset="-120"/>
              </a:rPr>
              <a:t>既存3資料を統合し、開発に着手できる粒度へ「仕様提案 → MVP分割 → ワイヤーフレーム」を具体化しました。</a:t>
            </a:r>
            <a:endParaRPr lang="en-US" sz="1300" dirty="0"/>
          </a:p>
        </p:txBody>
      </p:sp>
      <p:sp>
        <p:nvSpPr>
          <p:cNvPr id="5" name="Shape 3"/>
          <p:cNvSpPr/>
          <p:nvPr/>
        </p:nvSpPr>
        <p:spPr>
          <a:xfrm>
            <a:off x="548640" y="2011680"/>
            <a:ext cx="3474720" cy="1371600"/>
          </a:xfrm>
          <a:prstGeom prst="roundRect">
            <a:avLst>
              <a:gd name="adj" fmla="val 5333"/>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Shape 4"/>
          <p:cNvSpPr/>
          <p:nvPr/>
        </p:nvSpPr>
        <p:spPr>
          <a:xfrm>
            <a:off x="548640" y="2011680"/>
            <a:ext cx="82296" cy="1371600"/>
          </a:xfrm>
          <a:prstGeom prst="rect">
            <a:avLst/>
          </a:prstGeom>
          <a:solidFill>
            <a:srgbClr val="3B4CCA"/>
          </a:solidFill>
          <a:ln/>
        </p:spPr>
      </p:sp>
      <p:sp>
        <p:nvSpPr>
          <p:cNvPr id="7" name="Text 5"/>
          <p:cNvSpPr/>
          <p:nvPr/>
        </p:nvSpPr>
        <p:spPr>
          <a:xfrm>
            <a:off x="822960" y="2212848"/>
            <a:ext cx="3017520" cy="365760"/>
          </a:xfrm>
          <a:prstGeom prst="rect">
            <a:avLst/>
          </a:prstGeom>
          <a:noFill/>
          <a:ln/>
        </p:spPr>
        <p:txBody>
          <a:bodyPr wrap="square" rtlCol="0" anchor="ctr"/>
          <a:lstStyle/>
          <a:p>
            <a:pPr indent="0" marL="0">
              <a:buNone/>
            </a:pPr>
            <a:r>
              <a:rPr lang="en-US" sz="1400" b="1" dirty="0">
                <a:solidFill>
                  <a:srgbClr val="1F2430"/>
                </a:solidFill>
                <a:latin typeface="Meiryo" pitchFamily="34" charset="0"/>
                <a:ea typeface="Meiryo" pitchFamily="34" charset="-122"/>
                <a:cs typeface="Meiryo" pitchFamily="34" charset="-120"/>
              </a:rPr>
              <a:t>構想.pptx</a:t>
            </a:r>
            <a:endParaRPr lang="en-US" sz="1400" dirty="0"/>
          </a:p>
        </p:txBody>
      </p:sp>
      <p:sp>
        <p:nvSpPr>
          <p:cNvPr id="8" name="Text 6"/>
          <p:cNvSpPr/>
          <p:nvPr/>
        </p:nvSpPr>
        <p:spPr>
          <a:xfrm>
            <a:off x="822960" y="2615184"/>
            <a:ext cx="3017520" cy="640080"/>
          </a:xfrm>
          <a:prstGeom prst="rect">
            <a:avLst/>
          </a:prstGeom>
          <a:noFill/>
          <a:ln/>
        </p:spPr>
        <p:txBody>
          <a:bodyPr wrap="square" rtlCol="0" anchor="ctr"/>
          <a:lstStyle/>
          <a:p>
            <a:pPr indent="0" marL="0">
              <a:buNone/>
            </a:pPr>
            <a:r>
              <a:rPr lang="en-US" sz="1100" dirty="0">
                <a:solidFill>
                  <a:srgbClr val="6B7280"/>
                </a:solidFill>
                <a:latin typeface="Meiryo" pitchFamily="34" charset="0"/>
                <a:ea typeface="Meiryo" pitchFamily="34" charset="-122"/>
                <a:cs typeface="Meiryo" pitchFamily="34" charset="-120"/>
              </a:rPr>
              <a:t>事業の最終形と Phase1–4 ロードマップ</a:t>
            </a:r>
            <a:endParaRPr lang="en-US" sz="1100" dirty="0"/>
          </a:p>
        </p:txBody>
      </p:sp>
      <p:sp>
        <p:nvSpPr>
          <p:cNvPr id="9" name="Shape 7"/>
          <p:cNvSpPr/>
          <p:nvPr/>
        </p:nvSpPr>
        <p:spPr>
          <a:xfrm>
            <a:off x="4270248" y="2011680"/>
            <a:ext cx="3474720" cy="1371600"/>
          </a:xfrm>
          <a:prstGeom prst="roundRect">
            <a:avLst>
              <a:gd name="adj" fmla="val 5333"/>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0" name="Shape 8"/>
          <p:cNvSpPr/>
          <p:nvPr/>
        </p:nvSpPr>
        <p:spPr>
          <a:xfrm>
            <a:off x="4270248" y="2011680"/>
            <a:ext cx="82296" cy="1371600"/>
          </a:xfrm>
          <a:prstGeom prst="rect">
            <a:avLst/>
          </a:prstGeom>
          <a:solidFill>
            <a:srgbClr val="7A4FD0"/>
          </a:solidFill>
          <a:ln/>
        </p:spPr>
      </p:sp>
      <p:sp>
        <p:nvSpPr>
          <p:cNvPr id="11" name="Text 9"/>
          <p:cNvSpPr/>
          <p:nvPr/>
        </p:nvSpPr>
        <p:spPr>
          <a:xfrm>
            <a:off x="4544568" y="2212848"/>
            <a:ext cx="3017520" cy="365760"/>
          </a:xfrm>
          <a:prstGeom prst="rect">
            <a:avLst/>
          </a:prstGeom>
          <a:noFill/>
          <a:ln/>
        </p:spPr>
        <p:txBody>
          <a:bodyPr wrap="square" rtlCol="0" anchor="ctr"/>
          <a:lstStyle/>
          <a:p>
            <a:pPr indent="0" marL="0">
              <a:buNone/>
            </a:pPr>
            <a:r>
              <a:rPr lang="en-US" sz="1400" b="1" dirty="0">
                <a:solidFill>
                  <a:srgbClr val="1F2430"/>
                </a:solidFill>
                <a:latin typeface="Meiryo" pitchFamily="34" charset="0"/>
                <a:ea typeface="Meiryo" pitchFamily="34" charset="-122"/>
                <a:cs typeface="Meiryo" pitchFamily="34" charset="-120"/>
              </a:rPr>
              <a:t>サービス紹介.pptx</a:t>
            </a:r>
            <a:endParaRPr lang="en-US" sz="1400" dirty="0"/>
          </a:p>
        </p:txBody>
      </p:sp>
      <p:sp>
        <p:nvSpPr>
          <p:cNvPr id="12" name="Text 10"/>
          <p:cNvSpPr/>
          <p:nvPr/>
        </p:nvSpPr>
        <p:spPr>
          <a:xfrm>
            <a:off x="4544568" y="2615184"/>
            <a:ext cx="3017520" cy="640080"/>
          </a:xfrm>
          <a:prstGeom prst="rect">
            <a:avLst/>
          </a:prstGeom>
          <a:noFill/>
          <a:ln/>
        </p:spPr>
        <p:txBody>
          <a:bodyPr wrap="square" rtlCol="0" anchor="ctr"/>
          <a:lstStyle/>
          <a:p>
            <a:pPr indent="0" marL="0">
              <a:buNone/>
            </a:pPr>
            <a:r>
              <a:rPr lang="en-US" sz="1100" dirty="0">
                <a:solidFill>
                  <a:srgbClr val="6B7280"/>
                </a:solidFill>
                <a:latin typeface="Meiryo" pitchFamily="34" charset="0"/>
                <a:ea typeface="Meiryo" pitchFamily="34" charset="-122"/>
                <a:cs typeface="Meiryo" pitchFamily="34" charset="-120"/>
              </a:rPr>
              <a:t>提供価値・ビジネスモデル・導入フロー</a:t>
            </a:r>
            <a:endParaRPr lang="en-US" sz="1100" dirty="0"/>
          </a:p>
        </p:txBody>
      </p:sp>
      <p:sp>
        <p:nvSpPr>
          <p:cNvPr id="13" name="Shape 11"/>
          <p:cNvSpPr/>
          <p:nvPr/>
        </p:nvSpPr>
        <p:spPr>
          <a:xfrm>
            <a:off x="7991856" y="2011680"/>
            <a:ext cx="3474720" cy="1371600"/>
          </a:xfrm>
          <a:prstGeom prst="roundRect">
            <a:avLst>
              <a:gd name="adj" fmla="val 5333"/>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4" name="Shape 12"/>
          <p:cNvSpPr/>
          <p:nvPr/>
        </p:nvSpPr>
        <p:spPr>
          <a:xfrm>
            <a:off x="7991856" y="2011680"/>
            <a:ext cx="82296" cy="1371600"/>
          </a:xfrm>
          <a:prstGeom prst="rect">
            <a:avLst/>
          </a:prstGeom>
          <a:solidFill>
            <a:srgbClr val="C79A3A"/>
          </a:solidFill>
          <a:ln/>
        </p:spPr>
      </p:sp>
      <p:sp>
        <p:nvSpPr>
          <p:cNvPr id="15" name="Text 13"/>
          <p:cNvSpPr/>
          <p:nvPr/>
        </p:nvSpPr>
        <p:spPr>
          <a:xfrm>
            <a:off x="8266176" y="2212848"/>
            <a:ext cx="3017520" cy="365760"/>
          </a:xfrm>
          <a:prstGeom prst="rect">
            <a:avLst/>
          </a:prstGeom>
          <a:noFill/>
          <a:ln/>
        </p:spPr>
        <p:txBody>
          <a:bodyPr wrap="square" rtlCol="0" anchor="ctr"/>
          <a:lstStyle/>
          <a:p>
            <a:pPr indent="0" marL="0">
              <a:buNone/>
            </a:pPr>
            <a:r>
              <a:rPr lang="en-US" sz="1400" b="1" dirty="0">
                <a:solidFill>
                  <a:srgbClr val="1F2430"/>
                </a:solidFill>
                <a:latin typeface="Meiryo" pitchFamily="34" charset="0"/>
                <a:ea typeface="Meiryo" pitchFamily="34" charset="-122"/>
                <a:cs typeface="Meiryo" pitchFamily="34" charset="-120"/>
              </a:rPr>
              <a:t>開発要件.xlsx</a:t>
            </a:r>
            <a:endParaRPr lang="en-US" sz="1400" dirty="0"/>
          </a:p>
        </p:txBody>
      </p:sp>
      <p:sp>
        <p:nvSpPr>
          <p:cNvPr id="16" name="Text 14"/>
          <p:cNvSpPr/>
          <p:nvPr/>
        </p:nvSpPr>
        <p:spPr>
          <a:xfrm>
            <a:off x="8266176" y="2615184"/>
            <a:ext cx="3017520" cy="640080"/>
          </a:xfrm>
          <a:prstGeom prst="rect">
            <a:avLst/>
          </a:prstGeom>
          <a:noFill/>
          <a:ln/>
        </p:spPr>
        <p:txBody>
          <a:bodyPr wrap="square" rtlCol="0" anchor="ctr"/>
          <a:lstStyle/>
          <a:p>
            <a:pPr indent="0" marL="0">
              <a:buNone/>
            </a:pPr>
            <a:r>
              <a:rPr lang="en-US" sz="1100" dirty="0">
                <a:solidFill>
                  <a:srgbClr val="6B7280"/>
                </a:solidFill>
                <a:latin typeface="Meiryo" pitchFamily="34" charset="0"/>
                <a:ea typeface="Meiryo" pitchFamily="34" charset="-122"/>
                <a:cs typeface="Meiryo" pitchFamily="34" charset="-120"/>
              </a:rPr>
              <a:t>フェーズ詳細・画面リスト・機能リスト</a:t>
            </a:r>
            <a:endParaRPr lang="en-US" sz="1100" dirty="0"/>
          </a:p>
        </p:txBody>
      </p:sp>
      <p:sp>
        <p:nvSpPr>
          <p:cNvPr id="17" name="Shape 15"/>
          <p:cNvSpPr/>
          <p:nvPr/>
        </p:nvSpPr>
        <p:spPr>
          <a:xfrm>
            <a:off x="548640" y="3749040"/>
            <a:ext cx="11064240" cy="2286000"/>
          </a:xfrm>
          <a:prstGeom prst="roundRect">
            <a:avLst>
              <a:gd name="adj" fmla="val 320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8" name="Text 16"/>
          <p:cNvSpPr/>
          <p:nvPr/>
        </p:nvSpPr>
        <p:spPr>
          <a:xfrm>
            <a:off x="868680" y="3950208"/>
            <a:ext cx="10058400" cy="365760"/>
          </a:xfrm>
          <a:prstGeom prst="rect">
            <a:avLst/>
          </a:prstGeom>
          <a:noFill/>
          <a:ln/>
        </p:spPr>
        <p:txBody>
          <a:bodyPr wrap="square" rtlCol="0" anchor="ctr"/>
          <a:lstStyle/>
          <a:p>
            <a:pPr indent="0" marL="0">
              <a:buNone/>
            </a:pPr>
            <a:r>
              <a:rPr lang="en-US" sz="1400" b="1" dirty="0">
                <a:solidFill>
                  <a:srgbClr val="1F2430"/>
                </a:solidFill>
                <a:latin typeface="Meiryo" pitchFamily="34" charset="0"/>
                <a:ea typeface="Meiryo" pitchFamily="34" charset="-122"/>
                <a:cs typeface="Meiryo" pitchFamily="34" charset="-120"/>
              </a:rPr>
              <a:t>本提案に含む成果物</a:t>
            </a:r>
            <a:endParaRPr lang="en-US" sz="1400" dirty="0"/>
          </a:p>
        </p:txBody>
      </p:sp>
      <p:sp>
        <p:nvSpPr>
          <p:cNvPr id="19" name="Text 17"/>
          <p:cNvSpPr/>
          <p:nvPr/>
        </p:nvSpPr>
        <p:spPr>
          <a:xfrm>
            <a:off x="868680" y="4370832"/>
            <a:ext cx="2468880" cy="411480"/>
          </a:xfrm>
          <a:prstGeom prst="rect">
            <a:avLst/>
          </a:prstGeom>
          <a:noFill/>
          <a:ln/>
        </p:spPr>
        <p:txBody>
          <a:bodyPr wrap="square" rtlCol="0" anchor="ctr"/>
          <a:lstStyle/>
          <a:p>
            <a:pPr indent="0" marL="0">
              <a:buNone/>
            </a:pPr>
            <a:r>
              <a:rPr lang="en-US" sz="1200" b="1" dirty="0">
                <a:solidFill>
                  <a:srgbClr val="3B4CCA"/>
                </a:solidFill>
                <a:latin typeface="Meiryo" pitchFamily="34" charset="0"/>
                <a:ea typeface="Meiryo" pitchFamily="34" charset="-122"/>
                <a:cs typeface="Meiryo" pitchFamily="34" charset="-120"/>
              </a:rPr>
              <a:t>① 仕様提案</a:t>
            </a:r>
            <a:endParaRPr lang="en-US" sz="1200" dirty="0"/>
          </a:p>
        </p:txBody>
      </p:sp>
      <p:sp>
        <p:nvSpPr>
          <p:cNvPr id="20" name="Text 18"/>
          <p:cNvSpPr/>
          <p:nvPr/>
        </p:nvSpPr>
        <p:spPr>
          <a:xfrm>
            <a:off x="3383280" y="4370832"/>
            <a:ext cx="7955280" cy="411480"/>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サービス価値・ビジネスモデル・Phase1スコープ・技術スタックの整理</a:t>
            </a:r>
            <a:endParaRPr lang="en-US" sz="1150" dirty="0"/>
          </a:p>
        </p:txBody>
      </p:sp>
      <p:sp>
        <p:nvSpPr>
          <p:cNvPr id="21" name="Shape 19"/>
          <p:cNvSpPr/>
          <p:nvPr/>
        </p:nvSpPr>
        <p:spPr>
          <a:xfrm>
            <a:off x="868680" y="4828032"/>
            <a:ext cx="10424160" cy="0"/>
          </a:xfrm>
          <a:prstGeom prst="line">
            <a:avLst/>
          </a:prstGeom>
          <a:noFill/>
          <a:ln w="9525">
            <a:solidFill>
              <a:srgbClr val="E2E5EC"/>
            </a:solidFill>
            <a:prstDash val="solid"/>
          </a:ln>
        </p:spPr>
      </p:sp>
      <p:sp>
        <p:nvSpPr>
          <p:cNvPr id="22" name="Text 20"/>
          <p:cNvSpPr/>
          <p:nvPr/>
        </p:nvSpPr>
        <p:spPr>
          <a:xfrm>
            <a:off x="868680" y="4901184"/>
            <a:ext cx="2468880" cy="411480"/>
          </a:xfrm>
          <a:prstGeom prst="rect">
            <a:avLst/>
          </a:prstGeom>
          <a:noFill/>
          <a:ln/>
        </p:spPr>
        <p:txBody>
          <a:bodyPr wrap="square" rtlCol="0" anchor="ctr"/>
          <a:lstStyle/>
          <a:p>
            <a:pPr indent="0" marL="0">
              <a:buNone/>
            </a:pPr>
            <a:r>
              <a:rPr lang="en-US" sz="1200" b="1" dirty="0">
                <a:solidFill>
                  <a:srgbClr val="3B4CCA"/>
                </a:solidFill>
                <a:latin typeface="Meiryo" pitchFamily="34" charset="0"/>
                <a:ea typeface="Meiryo" pitchFamily="34" charset="-122"/>
                <a:cs typeface="Meiryo" pitchFamily="34" charset="-120"/>
              </a:rPr>
              <a:t>② MVP分割</a:t>
            </a:r>
            <a:endParaRPr lang="en-US" sz="1200" dirty="0"/>
          </a:p>
        </p:txBody>
      </p:sp>
      <p:sp>
        <p:nvSpPr>
          <p:cNvPr id="23" name="Text 21"/>
          <p:cNvSpPr/>
          <p:nvPr/>
        </p:nvSpPr>
        <p:spPr>
          <a:xfrm>
            <a:off x="3383280" y="4901184"/>
            <a:ext cx="7955280" cy="411480"/>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Phase1を MVP0→1→2→3 に分割し、各ゴール・受け入れ基準を定義</a:t>
            </a:r>
            <a:endParaRPr lang="en-US" sz="1150" dirty="0"/>
          </a:p>
        </p:txBody>
      </p:sp>
      <p:sp>
        <p:nvSpPr>
          <p:cNvPr id="24" name="Shape 22"/>
          <p:cNvSpPr/>
          <p:nvPr/>
        </p:nvSpPr>
        <p:spPr>
          <a:xfrm>
            <a:off x="868680" y="5358384"/>
            <a:ext cx="10424160" cy="0"/>
          </a:xfrm>
          <a:prstGeom prst="line">
            <a:avLst/>
          </a:prstGeom>
          <a:noFill/>
          <a:ln w="9525">
            <a:solidFill>
              <a:srgbClr val="E2E5EC"/>
            </a:solidFill>
            <a:prstDash val="solid"/>
          </a:ln>
        </p:spPr>
      </p:sp>
      <p:sp>
        <p:nvSpPr>
          <p:cNvPr id="25" name="Text 23"/>
          <p:cNvSpPr/>
          <p:nvPr/>
        </p:nvSpPr>
        <p:spPr>
          <a:xfrm>
            <a:off x="868680" y="5431536"/>
            <a:ext cx="2468880" cy="411480"/>
          </a:xfrm>
          <a:prstGeom prst="rect">
            <a:avLst/>
          </a:prstGeom>
          <a:noFill/>
          <a:ln/>
        </p:spPr>
        <p:txBody>
          <a:bodyPr wrap="square" rtlCol="0" anchor="ctr"/>
          <a:lstStyle/>
          <a:p>
            <a:pPr indent="0" marL="0">
              <a:buNone/>
            </a:pPr>
            <a:r>
              <a:rPr lang="en-US" sz="1200" b="1" dirty="0">
                <a:solidFill>
                  <a:srgbClr val="3B4CCA"/>
                </a:solidFill>
                <a:latin typeface="Meiryo" pitchFamily="34" charset="0"/>
                <a:ea typeface="Meiryo" pitchFamily="34" charset="-122"/>
                <a:cs typeface="Meiryo" pitchFamily="34" charset="-120"/>
              </a:rPr>
              <a:t>③ ワイヤーフレーム</a:t>
            </a:r>
            <a:endParaRPr lang="en-US" sz="1200" dirty="0"/>
          </a:p>
        </p:txBody>
      </p:sp>
      <p:sp>
        <p:nvSpPr>
          <p:cNvPr id="26" name="Text 24"/>
          <p:cNvSpPr/>
          <p:nvPr/>
        </p:nvSpPr>
        <p:spPr>
          <a:xfrm>
            <a:off x="3383280" y="5431536"/>
            <a:ext cx="7955280" cy="411480"/>
          </a:xfrm>
          <a:prstGeom prst="rect">
            <a:avLst/>
          </a:prstGeom>
          <a:noFill/>
          <a:ln/>
        </p:spPr>
        <p:txBody>
          <a:bodyPr wrap="square" rtlCol="0" anchor="ctr"/>
          <a:lstStyle/>
          <a:p>
            <a:pPr indent="0" marL="0">
              <a:buNone/>
            </a:pPr>
            <a:r>
              <a:rPr lang="en-US" sz="1150" dirty="0">
                <a:solidFill>
                  <a:srgbClr val="1F2430"/>
                </a:solidFill>
                <a:latin typeface="Meiryo" pitchFamily="34" charset="0"/>
                <a:ea typeface="Meiryo" pitchFamily="34" charset="-122"/>
                <a:cs typeface="Meiryo" pitchFamily="34" charset="-120"/>
              </a:rPr>
              <a:t>MVP1コアフローの操作可能HTMLモック（別ファイル）</a:t>
            </a:r>
            <a:endParaRPr lang="en-US" sz="1150" dirty="0"/>
          </a:p>
        </p:txBody>
      </p:sp>
      <p:sp>
        <p:nvSpPr>
          <p:cNvPr id="27" name="Text 25"/>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8" name="Text 26"/>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9" name="Text 27"/>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WHAT IS MASTERGAME</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サービス概要：価値の循環</a:t>
            </a:r>
            <a:endParaRPr lang="en-US" sz="2500" dirty="0"/>
          </a:p>
        </p:txBody>
      </p:sp>
      <p:sp>
        <p:nvSpPr>
          <p:cNvPr id="4" name="Text 2"/>
          <p:cNvSpPr/>
          <p:nvPr/>
        </p:nvSpPr>
        <p:spPr>
          <a:xfrm>
            <a:off x="548640" y="1417320"/>
            <a:ext cx="10972800" cy="365760"/>
          </a:xfrm>
          <a:prstGeom prst="rect">
            <a:avLst/>
          </a:prstGeom>
          <a:noFill/>
          <a:ln/>
        </p:spPr>
        <p:txBody>
          <a:bodyPr wrap="square" rtlCol="0" anchor="ctr"/>
          <a:lstStyle/>
          <a:p>
            <a:pPr indent="0" marL="0">
              <a:buNone/>
            </a:pPr>
            <a:r>
              <a:rPr lang="en-US" sz="1300" dirty="0">
                <a:solidFill>
                  <a:srgbClr val="6B7280"/>
                </a:solidFill>
                <a:latin typeface="Meiryo" pitchFamily="34" charset="0"/>
                <a:ea typeface="Meiryo" pitchFamily="34" charset="-122"/>
                <a:cs typeface="Meiryo" pitchFamily="34" charset="-120"/>
              </a:rPr>
              <a:t>ユーザーは「ミッション」でポイントを貯め、提携ゲームのアイテムや実物報酬と交換できる。</a:t>
            </a:r>
            <a:endParaRPr lang="en-US" sz="1300" dirty="0"/>
          </a:p>
        </p:txBody>
      </p:sp>
      <p:sp>
        <p:nvSpPr>
          <p:cNvPr id="5" name="Shape 3"/>
          <p:cNvSpPr/>
          <p:nvPr/>
        </p:nvSpPr>
        <p:spPr>
          <a:xfrm>
            <a:off x="1005840" y="2240280"/>
            <a:ext cx="2743200" cy="2011680"/>
          </a:xfrm>
          <a:prstGeom prst="roundRect">
            <a:avLst>
              <a:gd name="adj" fmla="val 4545"/>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Shape 4"/>
          <p:cNvSpPr/>
          <p:nvPr/>
        </p:nvSpPr>
        <p:spPr>
          <a:xfrm>
            <a:off x="2057400" y="2468880"/>
            <a:ext cx="640080" cy="640080"/>
          </a:xfrm>
          <a:prstGeom prst="ellipse">
            <a:avLst/>
          </a:prstGeom>
          <a:solidFill>
            <a:srgbClr val="E7E9FB"/>
          </a:solidFill>
          <a:ln/>
        </p:spPr>
      </p:sp>
      <p:sp>
        <p:nvSpPr>
          <p:cNvPr id="7" name="Text 5"/>
          <p:cNvSpPr/>
          <p:nvPr/>
        </p:nvSpPr>
        <p:spPr>
          <a:xfrm>
            <a:off x="2057400" y="2468880"/>
            <a:ext cx="640080" cy="640080"/>
          </a:xfrm>
          <a:prstGeom prst="rect">
            <a:avLst/>
          </a:prstGeom>
          <a:noFill/>
          <a:ln/>
        </p:spPr>
        <p:txBody>
          <a:bodyPr wrap="square"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8" name="Text 6"/>
          <p:cNvSpPr/>
          <p:nvPr/>
        </p:nvSpPr>
        <p:spPr>
          <a:xfrm>
            <a:off x="1005840" y="3200400"/>
            <a:ext cx="2743200" cy="365760"/>
          </a:xfrm>
          <a:prstGeom prst="rect">
            <a:avLst/>
          </a:prstGeom>
          <a:noFill/>
          <a:ln/>
        </p:spPr>
        <p:txBody>
          <a:bodyPr wrap="square" rtlCol="0" anchor="ctr"/>
          <a:lstStyle/>
          <a:p>
            <a:pPr algn="ctr" indent="0" marL="0">
              <a:buNone/>
            </a:pPr>
            <a:r>
              <a:rPr lang="en-US" sz="1500" b="1" dirty="0">
                <a:solidFill>
                  <a:srgbClr val="1F2430"/>
                </a:solidFill>
                <a:latin typeface="Meiryo" pitchFamily="34" charset="0"/>
                <a:ea typeface="Meiryo" pitchFamily="34" charset="-122"/>
                <a:cs typeface="Meiryo" pitchFamily="34" charset="-120"/>
              </a:rPr>
              <a:t>ミッション</a:t>
            </a:r>
            <a:endParaRPr lang="en-US" sz="1500" dirty="0"/>
          </a:p>
        </p:txBody>
      </p:sp>
      <p:sp>
        <p:nvSpPr>
          <p:cNvPr id="9" name="Text 7"/>
          <p:cNvSpPr/>
          <p:nvPr/>
        </p:nvSpPr>
        <p:spPr>
          <a:xfrm>
            <a:off x="1143000" y="3584448"/>
            <a:ext cx="2468880" cy="640080"/>
          </a:xfrm>
          <a:prstGeom prst="rect">
            <a:avLst/>
          </a:prstGeom>
          <a:noFill/>
          <a:ln/>
        </p:spPr>
        <p:txBody>
          <a:bodyPr wrap="square" rtlCol="0" anchor="ctr"/>
          <a:lstStyle/>
          <a:p>
            <a:pPr algn="ctr" indent="0" marL="0">
              <a:buNone/>
            </a:pPr>
            <a:r>
              <a:rPr lang="en-US" sz="1050" dirty="0">
                <a:solidFill>
                  <a:srgbClr val="6B7280"/>
                </a:solidFill>
                <a:latin typeface="Meiryo" pitchFamily="34" charset="0"/>
                <a:ea typeface="Meiryo" pitchFamily="34" charset="-122"/>
                <a:cs typeface="Meiryo" pitchFamily="34" charset="-120"/>
              </a:rPr>
              <a:t>記事を読む / Xを見る</a:t>
            </a:r>
            <a:endParaRPr lang="en-US" sz="1050" dirty="0"/>
          </a:p>
          <a:p>
            <a:pPr algn="ctr" indent="0" marL="0">
              <a:buNone/>
            </a:pPr>
            <a:r>
              <a:rPr lang="en-US" sz="1050" dirty="0">
                <a:solidFill>
                  <a:srgbClr val="6B7280"/>
                </a:solidFill>
                <a:latin typeface="Meiryo" pitchFamily="34" charset="0"/>
                <a:ea typeface="Meiryo" pitchFamily="34" charset="-122"/>
                <a:cs typeface="Meiryo" pitchFamily="34" charset="-120"/>
              </a:rPr>
              <a:t>ゲーム関連アクション</a:t>
            </a:r>
            <a:endParaRPr lang="en-US" sz="1050" dirty="0"/>
          </a:p>
        </p:txBody>
      </p:sp>
      <p:sp>
        <p:nvSpPr>
          <p:cNvPr id="10" name="Text 8"/>
          <p:cNvSpPr/>
          <p:nvPr/>
        </p:nvSpPr>
        <p:spPr>
          <a:xfrm>
            <a:off x="3749040" y="2240280"/>
            <a:ext cx="914400" cy="2011680"/>
          </a:xfrm>
          <a:prstGeom prst="rect">
            <a:avLst/>
          </a:prstGeom>
          <a:noFill/>
          <a:ln/>
        </p:spPr>
        <p:txBody>
          <a:bodyPr wrap="square" rtlCol="0" anchor="ctr"/>
          <a:lstStyle/>
          <a:p>
            <a:pPr algn="ctr" indent="0" marL="0">
              <a:buNone/>
            </a:pPr>
            <a:r>
              <a:rPr lang="en-US" sz="2600" dirty="0">
                <a:solidFill>
                  <a:srgbClr val="9AA0AC"/>
                </a:solidFill>
                <a:latin typeface="Meiryo" pitchFamily="34" charset="0"/>
                <a:ea typeface="Meiryo" pitchFamily="34" charset="-122"/>
                <a:cs typeface="Meiryo" pitchFamily="34" charset="-120"/>
              </a:rPr>
              <a:t>➜</a:t>
            </a:r>
            <a:endParaRPr lang="en-US" sz="2600" dirty="0"/>
          </a:p>
        </p:txBody>
      </p:sp>
      <p:sp>
        <p:nvSpPr>
          <p:cNvPr id="11" name="Shape 9"/>
          <p:cNvSpPr/>
          <p:nvPr/>
        </p:nvSpPr>
        <p:spPr>
          <a:xfrm>
            <a:off x="4663440" y="2240280"/>
            <a:ext cx="2743200" cy="2011680"/>
          </a:xfrm>
          <a:prstGeom prst="roundRect">
            <a:avLst>
              <a:gd name="adj" fmla="val 4545"/>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2" name="Shape 10"/>
          <p:cNvSpPr/>
          <p:nvPr/>
        </p:nvSpPr>
        <p:spPr>
          <a:xfrm>
            <a:off x="5715000" y="2468880"/>
            <a:ext cx="640080" cy="640080"/>
          </a:xfrm>
          <a:prstGeom prst="ellipse">
            <a:avLst/>
          </a:prstGeom>
          <a:solidFill>
            <a:srgbClr val="F6EFDA"/>
          </a:solidFill>
          <a:ln/>
        </p:spPr>
      </p:sp>
      <p:sp>
        <p:nvSpPr>
          <p:cNvPr id="13" name="Text 11"/>
          <p:cNvSpPr/>
          <p:nvPr/>
        </p:nvSpPr>
        <p:spPr>
          <a:xfrm>
            <a:off x="5715000" y="2468880"/>
            <a:ext cx="640080" cy="640080"/>
          </a:xfrm>
          <a:prstGeom prst="rect">
            <a:avLst/>
          </a:prstGeom>
          <a:noFill/>
          <a:ln/>
        </p:spPr>
        <p:txBody>
          <a:bodyPr wrap="square"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14" name="Text 12"/>
          <p:cNvSpPr/>
          <p:nvPr/>
        </p:nvSpPr>
        <p:spPr>
          <a:xfrm>
            <a:off x="4663440" y="3200400"/>
            <a:ext cx="2743200" cy="365760"/>
          </a:xfrm>
          <a:prstGeom prst="rect">
            <a:avLst/>
          </a:prstGeom>
          <a:noFill/>
          <a:ln/>
        </p:spPr>
        <p:txBody>
          <a:bodyPr wrap="square" rtlCol="0" anchor="ctr"/>
          <a:lstStyle/>
          <a:p>
            <a:pPr algn="ctr" indent="0" marL="0">
              <a:buNone/>
            </a:pPr>
            <a:r>
              <a:rPr lang="en-US" sz="1500" b="1" dirty="0">
                <a:solidFill>
                  <a:srgbClr val="1F2430"/>
                </a:solidFill>
                <a:latin typeface="Meiryo" pitchFamily="34" charset="0"/>
                <a:ea typeface="Meiryo" pitchFamily="34" charset="-122"/>
                <a:cs typeface="Meiryo" pitchFamily="34" charset="-120"/>
              </a:rPr>
              <a:t>ポイント獲得</a:t>
            </a:r>
            <a:endParaRPr lang="en-US" sz="1500" dirty="0"/>
          </a:p>
        </p:txBody>
      </p:sp>
      <p:sp>
        <p:nvSpPr>
          <p:cNvPr id="15" name="Text 13"/>
          <p:cNvSpPr/>
          <p:nvPr/>
        </p:nvSpPr>
        <p:spPr>
          <a:xfrm>
            <a:off x="4800600" y="3584448"/>
            <a:ext cx="2468880" cy="640080"/>
          </a:xfrm>
          <a:prstGeom prst="rect">
            <a:avLst/>
          </a:prstGeom>
          <a:noFill/>
          <a:ln/>
        </p:spPr>
        <p:txBody>
          <a:bodyPr wrap="square" rtlCol="0" anchor="ctr"/>
          <a:lstStyle/>
          <a:p>
            <a:pPr algn="ctr" indent="0" marL="0">
              <a:buNone/>
            </a:pPr>
            <a:r>
              <a:rPr lang="en-US" sz="1050" dirty="0">
                <a:solidFill>
                  <a:srgbClr val="6B7280"/>
                </a:solidFill>
                <a:latin typeface="Meiryo" pitchFamily="34" charset="0"/>
                <a:ea typeface="Meiryo" pitchFamily="34" charset="-122"/>
                <a:cs typeface="Meiryo" pitchFamily="34" charset="-120"/>
              </a:rPr>
              <a:t>活動が評価され</a:t>
            </a:r>
            <a:endParaRPr lang="en-US" sz="1050" dirty="0"/>
          </a:p>
          <a:p>
            <a:pPr algn="ctr" indent="0" marL="0">
              <a:buNone/>
            </a:pPr>
            <a:r>
              <a:rPr lang="en-US" sz="1050" dirty="0">
                <a:solidFill>
                  <a:srgbClr val="6B7280"/>
                </a:solidFill>
                <a:latin typeface="Meiryo" pitchFamily="34" charset="0"/>
                <a:ea typeface="Meiryo" pitchFamily="34" charset="-122"/>
                <a:cs typeface="Meiryo" pitchFamily="34" charset="-120"/>
              </a:rPr>
              <a:t>ポイントとして蓄積</a:t>
            </a:r>
            <a:endParaRPr lang="en-US" sz="1050" dirty="0"/>
          </a:p>
        </p:txBody>
      </p:sp>
      <p:sp>
        <p:nvSpPr>
          <p:cNvPr id="16" name="Text 14"/>
          <p:cNvSpPr/>
          <p:nvPr/>
        </p:nvSpPr>
        <p:spPr>
          <a:xfrm>
            <a:off x="7406640" y="2240280"/>
            <a:ext cx="914400" cy="2011680"/>
          </a:xfrm>
          <a:prstGeom prst="rect">
            <a:avLst/>
          </a:prstGeom>
          <a:noFill/>
          <a:ln/>
        </p:spPr>
        <p:txBody>
          <a:bodyPr wrap="square" rtlCol="0" anchor="ctr"/>
          <a:lstStyle/>
          <a:p>
            <a:pPr algn="ctr" indent="0" marL="0">
              <a:buNone/>
            </a:pPr>
            <a:r>
              <a:rPr lang="en-US" sz="2600" dirty="0">
                <a:solidFill>
                  <a:srgbClr val="9AA0AC"/>
                </a:solidFill>
                <a:latin typeface="Meiryo" pitchFamily="34" charset="0"/>
                <a:ea typeface="Meiryo" pitchFamily="34" charset="-122"/>
                <a:cs typeface="Meiryo" pitchFamily="34" charset="-120"/>
              </a:rPr>
              <a:t>➜</a:t>
            </a:r>
            <a:endParaRPr lang="en-US" sz="2600" dirty="0"/>
          </a:p>
        </p:txBody>
      </p:sp>
      <p:sp>
        <p:nvSpPr>
          <p:cNvPr id="17" name="Shape 15"/>
          <p:cNvSpPr/>
          <p:nvPr/>
        </p:nvSpPr>
        <p:spPr>
          <a:xfrm>
            <a:off x="8321040" y="2240280"/>
            <a:ext cx="2743200" cy="2011680"/>
          </a:xfrm>
          <a:prstGeom prst="roundRect">
            <a:avLst>
              <a:gd name="adj" fmla="val 4545"/>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8" name="Shape 16"/>
          <p:cNvSpPr/>
          <p:nvPr/>
        </p:nvSpPr>
        <p:spPr>
          <a:xfrm>
            <a:off x="9372600" y="2468880"/>
            <a:ext cx="640080" cy="640080"/>
          </a:xfrm>
          <a:prstGeom prst="ellipse">
            <a:avLst/>
          </a:prstGeom>
          <a:solidFill>
            <a:srgbClr val="EFE7FB"/>
          </a:solidFill>
          <a:ln/>
        </p:spPr>
      </p:sp>
      <p:sp>
        <p:nvSpPr>
          <p:cNvPr id="19" name="Text 17"/>
          <p:cNvSpPr/>
          <p:nvPr/>
        </p:nvSpPr>
        <p:spPr>
          <a:xfrm>
            <a:off x="9372600" y="2468880"/>
            <a:ext cx="640080" cy="640080"/>
          </a:xfrm>
          <a:prstGeom prst="rect">
            <a:avLst/>
          </a:prstGeom>
          <a:noFill/>
          <a:ln/>
        </p:spPr>
        <p:txBody>
          <a:bodyPr wrap="square" rtlCol="0" anchor="ctr"/>
          <a:lstStyle/>
          <a:p>
            <a:pPr algn="ctr" indent="0" marL="0">
              <a:buNone/>
            </a:pPr>
            <a:r>
              <a:rPr lang="en-US" sz="2400" dirty="0">
                <a:solidFill>
                  <a:srgbClr val="000000"/>
                </a:solidFill>
                <a:latin typeface="Meiryo" pitchFamily="34" charset="0"/>
                <a:ea typeface="Meiryo" pitchFamily="34" charset="-122"/>
                <a:cs typeface="Meiryo" pitchFamily="34" charset="-120"/>
              </a:rPr>
              <a:t>🎁</a:t>
            </a:r>
            <a:endParaRPr lang="en-US" sz="2400" dirty="0"/>
          </a:p>
        </p:txBody>
      </p:sp>
      <p:sp>
        <p:nvSpPr>
          <p:cNvPr id="20" name="Text 18"/>
          <p:cNvSpPr/>
          <p:nvPr/>
        </p:nvSpPr>
        <p:spPr>
          <a:xfrm>
            <a:off x="8321040" y="3200400"/>
            <a:ext cx="2743200" cy="365760"/>
          </a:xfrm>
          <a:prstGeom prst="rect">
            <a:avLst/>
          </a:prstGeom>
          <a:noFill/>
          <a:ln/>
        </p:spPr>
        <p:txBody>
          <a:bodyPr wrap="square" rtlCol="0" anchor="ctr"/>
          <a:lstStyle/>
          <a:p>
            <a:pPr algn="ctr" indent="0" marL="0">
              <a:buNone/>
            </a:pPr>
            <a:r>
              <a:rPr lang="en-US" sz="1500" b="1" dirty="0">
                <a:solidFill>
                  <a:srgbClr val="1F2430"/>
                </a:solidFill>
                <a:latin typeface="Meiryo" pitchFamily="34" charset="0"/>
                <a:ea typeface="Meiryo" pitchFamily="34" charset="-122"/>
                <a:cs typeface="Meiryo" pitchFamily="34" charset="-120"/>
              </a:rPr>
              <a:t>アイテム交換</a:t>
            </a:r>
            <a:endParaRPr lang="en-US" sz="1500" dirty="0"/>
          </a:p>
        </p:txBody>
      </p:sp>
      <p:sp>
        <p:nvSpPr>
          <p:cNvPr id="21" name="Text 19"/>
          <p:cNvSpPr/>
          <p:nvPr/>
        </p:nvSpPr>
        <p:spPr>
          <a:xfrm>
            <a:off x="8458200" y="3584448"/>
            <a:ext cx="2468880" cy="640080"/>
          </a:xfrm>
          <a:prstGeom prst="rect">
            <a:avLst/>
          </a:prstGeom>
          <a:noFill/>
          <a:ln/>
        </p:spPr>
        <p:txBody>
          <a:bodyPr wrap="square" rtlCol="0" anchor="ctr"/>
          <a:lstStyle/>
          <a:p>
            <a:pPr algn="ctr" indent="0" marL="0">
              <a:buNone/>
            </a:pPr>
            <a:r>
              <a:rPr lang="en-US" sz="1050" dirty="0">
                <a:solidFill>
                  <a:srgbClr val="6B7280"/>
                </a:solidFill>
                <a:latin typeface="Meiryo" pitchFamily="34" charset="0"/>
                <a:ea typeface="Meiryo" pitchFamily="34" charset="-122"/>
                <a:cs typeface="Meiryo" pitchFamily="34" charset="-120"/>
              </a:rPr>
              <a:t>ゲーム内アイテム</a:t>
            </a:r>
            <a:endParaRPr lang="en-US" sz="1050" dirty="0"/>
          </a:p>
          <a:p>
            <a:pPr algn="ctr" indent="0" marL="0">
              <a:buNone/>
            </a:pPr>
            <a:r>
              <a:rPr lang="en-US" sz="1050" dirty="0">
                <a:solidFill>
                  <a:srgbClr val="6B7280"/>
                </a:solidFill>
                <a:latin typeface="Meiryo" pitchFamily="34" charset="0"/>
                <a:ea typeface="Meiryo" pitchFamily="34" charset="-122"/>
                <a:cs typeface="Meiryo" pitchFamily="34" charset="-120"/>
              </a:rPr>
              <a:t>・実物報酬と交換</a:t>
            </a:r>
            <a:endParaRPr lang="en-US" sz="1050" dirty="0"/>
          </a:p>
        </p:txBody>
      </p:sp>
      <p:sp>
        <p:nvSpPr>
          <p:cNvPr id="22" name="Shape 20"/>
          <p:cNvSpPr/>
          <p:nvPr/>
        </p:nvSpPr>
        <p:spPr>
          <a:xfrm>
            <a:off x="548640" y="4709160"/>
            <a:ext cx="11064240" cy="1371600"/>
          </a:xfrm>
          <a:prstGeom prst="roundRect">
            <a:avLst>
              <a:gd name="adj" fmla="val 6667"/>
            </a:avLst>
          </a:prstGeom>
          <a:solidFill>
            <a:srgbClr val="1F2430"/>
          </a:solidFill>
          <a:ln/>
        </p:spPr>
      </p:sp>
      <p:sp>
        <p:nvSpPr>
          <p:cNvPr id="23" name="Text 21"/>
          <p:cNvSpPr/>
          <p:nvPr/>
        </p:nvSpPr>
        <p:spPr>
          <a:xfrm>
            <a:off x="868680" y="4864608"/>
            <a:ext cx="10058400" cy="365760"/>
          </a:xfrm>
          <a:prstGeom prst="rect">
            <a:avLst/>
          </a:prstGeom>
          <a:noFill/>
          <a:ln/>
        </p:spPr>
        <p:txBody>
          <a:bodyPr wrap="square" rtlCol="0" anchor="ctr"/>
          <a:lstStyle/>
          <a:p>
            <a:pPr indent="0" marL="0">
              <a:buNone/>
            </a:pPr>
            <a:r>
              <a:rPr lang="en-US" sz="1200" b="1" dirty="0">
                <a:solidFill>
                  <a:srgbClr val="C79A3A"/>
                </a:solidFill>
                <a:latin typeface="Meiryo" pitchFamily="34" charset="0"/>
                <a:ea typeface="Meiryo" pitchFamily="34" charset="-122"/>
                <a:cs typeface="Meiryo" pitchFamily="34" charset="-120"/>
              </a:rPr>
              <a:t>コミュニティ＝RPGのギルド：</a:t>
            </a:r>
            <a:endParaRPr lang="en-US" sz="1200" dirty="0"/>
          </a:p>
        </p:txBody>
      </p:sp>
      <p:sp>
        <p:nvSpPr>
          <p:cNvPr id="24" name="Text 22"/>
          <p:cNvSpPr/>
          <p:nvPr/>
        </p:nvSpPr>
        <p:spPr>
          <a:xfrm>
            <a:off x="868680" y="5257800"/>
            <a:ext cx="10424160" cy="731520"/>
          </a:xfrm>
          <a:prstGeom prst="rect">
            <a:avLst/>
          </a:prstGeom>
          <a:noFill/>
          <a:ln/>
        </p:spPr>
        <p:txBody>
          <a:bodyPr wrap="square"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フォーラム</a:t>
            </a:r>
            <a:pPr indent="0" marL="0">
              <a:buNone/>
            </a:pPr>
            <a:r>
              <a:rPr lang="en-US" sz="1200" dirty="0">
                <a:solidFill>
                  <a:srgbClr val="C8CBD8"/>
                </a:solidFill>
                <a:latin typeface="Meiryo" pitchFamily="34" charset="0"/>
                <a:ea typeface="Meiryo" pitchFamily="34" charset="-122"/>
                <a:cs typeface="Meiryo" pitchFamily="34" charset="-120"/>
              </a:rPr>
              <a:t>（箱）　</a:t>
            </a:r>
            <a:pPr indent="0" marL="0">
              <a:buNone/>
            </a:pPr>
            <a:r>
              <a:rPr lang="en-US" sz="1200" b="1" dirty="0">
                <a:solidFill>
                  <a:srgbClr val="FFFFFF"/>
                </a:solidFill>
                <a:latin typeface="Meiryo" pitchFamily="34" charset="0"/>
                <a:ea typeface="Meiryo" pitchFamily="34" charset="-122"/>
                <a:cs typeface="Meiryo" pitchFamily="34" charset="-120"/>
              </a:rPr>
              <a:t>チャット</a:t>
            </a:r>
            <a:pPr indent="0" marL="0">
              <a:buNone/>
            </a:pPr>
            <a:r>
              <a:rPr lang="en-US" sz="1200" dirty="0">
                <a:solidFill>
                  <a:srgbClr val="C8CBD8"/>
                </a:solidFill>
                <a:latin typeface="Meiryo" pitchFamily="34" charset="0"/>
                <a:ea typeface="Meiryo" pitchFamily="34" charset="-122"/>
                <a:cs typeface="Meiryo" pitchFamily="34" charset="-120"/>
              </a:rPr>
              <a:t>（会話）　</a:t>
            </a:r>
            <a:pPr indent="0" marL="0">
              <a:buNone/>
            </a:pPr>
            <a:r>
              <a:rPr lang="en-US" sz="1200" b="1" dirty="0">
                <a:solidFill>
                  <a:srgbClr val="FFFFFF"/>
                </a:solidFill>
                <a:latin typeface="Meiryo" pitchFamily="34" charset="0"/>
                <a:ea typeface="Meiryo" pitchFamily="34" charset="-122"/>
                <a:cs typeface="Meiryo" pitchFamily="34" charset="-120"/>
              </a:rPr>
              <a:t>トピック</a:t>
            </a:r>
            <a:pPr indent="0" marL="0">
              <a:buNone/>
            </a:pPr>
            <a:r>
              <a:rPr lang="en-US" sz="1200" dirty="0">
                <a:solidFill>
                  <a:srgbClr val="C8CBD8"/>
                </a:solidFill>
                <a:latin typeface="Meiryo" pitchFamily="34" charset="0"/>
                <a:ea typeface="Meiryo" pitchFamily="34" charset="-122"/>
                <a:cs typeface="Meiryo" pitchFamily="34" charset="-120"/>
              </a:rPr>
              <a:t>（依頼）　— ゲーム特化のYahoo知恵袋型で相互互助×報酬を実現</a:t>
            </a:r>
            <a:endParaRPr lang="en-US" sz="1200" dirty="0"/>
          </a:p>
        </p:txBody>
      </p:sp>
      <p:sp>
        <p:nvSpPr>
          <p:cNvPr id="25" name="Text 23"/>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6" name="Text 24"/>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7" name="Text 25"/>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VALUE</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提供価値：ユーザー × ゲーム会社</a:t>
            </a:r>
            <a:endParaRPr lang="en-US" sz="2500" dirty="0"/>
          </a:p>
        </p:txBody>
      </p:sp>
      <p:sp>
        <p:nvSpPr>
          <p:cNvPr id="4" name="Shape 2"/>
          <p:cNvSpPr/>
          <p:nvPr/>
        </p:nvSpPr>
        <p:spPr>
          <a:xfrm>
            <a:off x="548640" y="1554480"/>
            <a:ext cx="5349240" cy="4480560"/>
          </a:xfrm>
          <a:prstGeom prst="roundRect">
            <a:avLst>
              <a:gd name="adj" fmla="val 1633"/>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5" name="Shape 3"/>
          <p:cNvSpPr/>
          <p:nvPr/>
        </p:nvSpPr>
        <p:spPr>
          <a:xfrm>
            <a:off x="868680" y="1828800"/>
            <a:ext cx="4709160" cy="502920"/>
          </a:xfrm>
          <a:prstGeom prst="roundRect">
            <a:avLst>
              <a:gd name="adj" fmla="val 18182"/>
            </a:avLst>
          </a:prstGeom>
          <a:solidFill>
            <a:srgbClr val="E7E9FB"/>
          </a:solidFill>
          <a:ln/>
        </p:spPr>
      </p:sp>
      <p:sp>
        <p:nvSpPr>
          <p:cNvPr id="6" name="Text 4"/>
          <p:cNvSpPr/>
          <p:nvPr/>
        </p:nvSpPr>
        <p:spPr>
          <a:xfrm>
            <a:off x="868680" y="1828800"/>
            <a:ext cx="4709160" cy="502920"/>
          </a:xfrm>
          <a:prstGeom prst="rect">
            <a:avLst/>
          </a:prstGeom>
          <a:noFill/>
          <a:ln/>
        </p:spPr>
        <p:txBody>
          <a:bodyPr wrap="square" rtlCol="0" anchor="ctr"/>
          <a:lstStyle/>
          <a:p>
            <a:pPr algn="ctr" indent="0" marL="0">
              <a:buNone/>
            </a:pPr>
            <a:r>
              <a:rPr lang="en-US" sz="1400" b="1" dirty="0">
                <a:solidFill>
                  <a:srgbClr val="3B4CCA"/>
                </a:solidFill>
                <a:latin typeface="Meiryo" pitchFamily="34" charset="0"/>
                <a:ea typeface="Meiryo" pitchFamily="34" charset="-122"/>
                <a:cs typeface="Meiryo" pitchFamily="34" charset="-120"/>
              </a:rPr>
              <a:t>ユーザーへの価値</a:t>
            </a:r>
            <a:endParaRPr lang="en-US" sz="1400" dirty="0"/>
          </a:p>
        </p:txBody>
      </p:sp>
      <p:sp>
        <p:nvSpPr>
          <p:cNvPr id="7" name="Shape 5"/>
          <p:cNvSpPr/>
          <p:nvPr/>
        </p:nvSpPr>
        <p:spPr>
          <a:xfrm>
            <a:off x="914400" y="2633472"/>
            <a:ext cx="310896" cy="310896"/>
          </a:xfrm>
          <a:prstGeom prst="ellipse">
            <a:avLst/>
          </a:prstGeom>
          <a:solidFill>
            <a:srgbClr val="3B4CCA"/>
          </a:solidFill>
          <a:ln/>
        </p:spPr>
      </p:sp>
      <p:sp>
        <p:nvSpPr>
          <p:cNvPr id="8" name="Text 6"/>
          <p:cNvSpPr/>
          <p:nvPr/>
        </p:nvSpPr>
        <p:spPr>
          <a:xfrm>
            <a:off x="914400" y="2633472"/>
            <a:ext cx="310896" cy="310896"/>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9" name="Text 7"/>
          <p:cNvSpPr/>
          <p:nvPr/>
        </p:nvSpPr>
        <p:spPr>
          <a:xfrm>
            <a:off x="1417320" y="2606040"/>
            <a:ext cx="4206240" cy="36576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無料で得する</a:t>
            </a:r>
            <a:endParaRPr lang="en-US" sz="1300" dirty="0"/>
          </a:p>
        </p:txBody>
      </p:sp>
      <p:sp>
        <p:nvSpPr>
          <p:cNvPr id="10" name="Text 8"/>
          <p:cNvSpPr/>
          <p:nvPr/>
        </p:nvSpPr>
        <p:spPr>
          <a:xfrm>
            <a:off x="1417320" y="2971800"/>
            <a:ext cx="4206240" cy="502920"/>
          </a:xfrm>
          <a:prstGeom prst="rect">
            <a:avLst/>
          </a:prstGeom>
          <a:noFill/>
          <a:ln/>
        </p:spPr>
        <p:txBody>
          <a:bodyPr wrap="square" rtlCol="0" anchor="ctr"/>
          <a:lstStyle/>
          <a:p>
            <a:pPr indent="0" marL="0">
              <a:buNone/>
            </a:pPr>
            <a:r>
              <a:rPr lang="en-US" sz="1050" dirty="0">
                <a:solidFill>
                  <a:srgbClr val="6B7280"/>
                </a:solidFill>
                <a:latin typeface="Meiryo" pitchFamily="34" charset="0"/>
                <a:ea typeface="Meiryo" pitchFamily="34" charset="-122"/>
                <a:cs typeface="Meiryo" pitchFamily="34" charset="-120"/>
              </a:rPr>
              <a:t>課金しなくてもミッションでアイテムが手に入る</a:t>
            </a:r>
            <a:endParaRPr lang="en-US" sz="1050" dirty="0"/>
          </a:p>
        </p:txBody>
      </p:sp>
      <p:sp>
        <p:nvSpPr>
          <p:cNvPr id="11" name="Shape 9"/>
          <p:cNvSpPr/>
          <p:nvPr/>
        </p:nvSpPr>
        <p:spPr>
          <a:xfrm>
            <a:off x="914400" y="3694176"/>
            <a:ext cx="310896" cy="310896"/>
          </a:xfrm>
          <a:prstGeom prst="ellipse">
            <a:avLst/>
          </a:prstGeom>
          <a:solidFill>
            <a:srgbClr val="3B4CCA"/>
          </a:solidFill>
          <a:ln/>
        </p:spPr>
      </p:sp>
      <p:sp>
        <p:nvSpPr>
          <p:cNvPr id="12" name="Text 10"/>
          <p:cNvSpPr/>
          <p:nvPr/>
        </p:nvSpPr>
        <p:spPr>
          <a:xfrm>
            <a:off x="914400" y="3694176"/>
            <a:ext cx="310896" cy="310896"/>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3" name="Text 11"/>
          <p:cNvSpPr/>
          <p:nvPr/>
        </p:nvSpPr>
        <p:spPr>
          <a:xfrm>
            <a:off x="1417320" y="3666744"/>
            <a:ext cx="4206240" cy="36576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時間が報われる</a:t>
            </a:r>
            <a:endParaRPr lang="en-US" sz="1300" dirty="0"/>
          </a:p>
        </p:txBody>
      </p:sp>
      <p:sp>
        <p:nvSpPr>
          <p:cNvPr id="14" name="Text 12"/>
          <p:cNvSpPr/>
          <p:nvPr/>
        </p:nvSpPr>
        <p:spPr>
          <a:xfrm>
            <a:off x="1417320" y="4032504"/>
            <a:ext cx="4206240" cy="502920"/>
          </a:xfrm>
          <a:prstGeom prst="rect">
            <a:avLst/>
          </a:prstGeom>
          <a:noFill/>
          <a:ln/>
        </p:spPr>
        <p:txBody>
          <a:bodyPr wrap="square" rtlCol="0" anchor="ctr"/>
          <a:lstStyle/>
          <a:p>
            <a:pPr indent="0" marL="0">
              <a:buNone/>
            </a:pPr>
            <a:r>
              <a:rPr lang="en-US" sz="1050" dirty="0">
                <a:solidFill>
                  <a:srgbClr val="6B7280"/>
                </a:solidFill>
                <a:latin typeface="Meiryo" pitchFamily="34" charset="0"/>
                <a:ea typeface="Meiryo" pitchFamily="34" charset="-122"/>
                <a:cs typeface="Meiryo" pitchFamily="34" charset="-120"/>
              </a:rPr>
              <a:t>プレイ・活動・交流が報酬につながる</a:t>
            </a:r>
            <a:endParaRPr lang="en-US" sz="1050" dirty="0"/>
          </a:p>
        </p:txBody>
      </p:sp>
      <p:sp>
        <p:nvSpPr>
          <p:cNvPr id="15" name="Shape 13"/>
          <p:cNvSpPr/>
          <p:nvPr/>
        </p:nvSpPr>
        <p:spPr>
          <a:xfrm>
            <a:off x="914400" y="4754880"/>
            <a:ext cx="310896" cy="310896"/>
          </a:xfrm>
          <a:prstGeom prst="ellipse">
            <a:avLst/>
          </a:prstGeom>
          <a:solidFill>
            <a:srgbClr val="3B4CCA"/>
          </a:solidFill>
          <a:ln/>
        </p:spPr>
      </p:sp>
      <p:sp>
        <p:nvSpPr>
          <p:cNvPr id="16" name="Text 14"/>
          <p:cNvSpPr/>
          <p:nvPr/>
        </p:nvSpPr>
        <p:spPr>
          <a:xfrm>
            <a:off x="914400" y="4754880"/>
            <a:ext cx="310896" cy="310896"/>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7" name="Text 15"/>
          <p:cNvSpPr/>
          <p:nvPr/>
        </p:nvSpPr>
        <p:spPr>
          <a:xfrm>
            <a:off x="1417320" y="4727448"/>
            <a:ext cx="4206240" cy="36576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コミュニティ</a:t>
            </a:r>
            <a:endParaRPr lang="en-US" sz="1300" dirty="0"/>
          </a:p>
        </p:txBody>
      </p:sp>
      <p:sp>
        <p:nvSpPr>
          <p:cNvPr id="18" name="Text 16"/>
          <p:cNvSpPr/>
          <p:nvPr/>
        </p:nvSpPr>
        <p:spPr>
          <a:xfrm>
            <a:off x="1417320" y="5093208"/>
            <a:ext cx="4206240" cy="502920"/>
          </a:xfrm>
          <a:prstGeom prst="rect">
            <a:avLst/>
          </a:prstGeom>
          <a:noFill/>
          <a:ln/>
        </p:spPr>
        <p:txBody>
          <a:bodyPr wrap="square" rtlCol="0" anchor="ctr"/>
          <a:lstStyle/>
          <a:p>
            <a:pPr indent="0" marL="0">
              <a:buNone/>
            </a:pPr>
            <a:r>
              <a:rPr lang="en-US" sz="1050" dirty="0">
                <a:solidFill>
                  <a:srgbClr val="6B7280"/>
                </a:solidFill>
                <a:latin typeface="Meiryo" pitchFamily="34" charset="0"/>
                <a:ea typeface="Meiryo" pitchFamily="34" charset="-122"/>
                <a:cs typeface="Meiryo" pitchFamily="34" charset="-120"/>
              </a:rPr>
              <a:t>相互互助とポイント賭け質問で困りごとを解決</a:t>
            </a:r>
            <a:endParaRPr lang="en-US" sz="1050" dirty="0"/>
          </a:p>
        </p:txBody>
      </p:sp>
      <p:sp>
        <p:nvSpPr>
          <p:cNvPr id="19" name="Shape 17"/>
          <p:cNvSpPr/>
          <p:nvPr/>
        </p:nvSpPr>
        <p:spPr>
          <a:xfrm>
            <a:off x="6263640" y="1554480"/>
            <a:ext cx="5349240" cy="4480560"/>
          </a:xfrm>
          <a:prstGeom prst="roundRect">
            <a:avLst>
              <a:gd name="adj" fmla="val 1633"/>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0" name="Shape 18"/>
          <p:cNvSpPr/>
          <p:nvPr/>
        </p:nvSpPr>
        <p:spPr>
          <a:xfrm>
            <a:off x="6583680" y="1828800"/>
            <a:ext cx="4709160" cy="502920"/>
          </a:xfrm>
          <a:prstGeom prst="roundRect">
            <a:avLst>
              <a:gd name="adj" fmla="val 18182"/>
            </a:avLst>
          </a:prstGeom>
          <a:solidFill>
            <a:srgbClr val="EFE7FB"/>
          </a:solidFill>
          <a:ln/>
        </p:spPr>
      </p:sp>
      <p:sp>
        <p:nvSpPr>
          <p:cNvPr id="21" name="Text 19"/>
          <p:cNvSpPr/>
          <p:nvPr/>
        </p:nvSpPr>
        <p:spPr>
          <a:xfrm>
            <a:off x="6583680" y="1828800"/>
            <a:ext cx="4709160" cy="502920"/>
          </a:xfrm>
          <a:prstGeom prst="rect">
            <a:avLst/>
          </a:prstGeom>
          <a:noFill/>
          <a:ln/>
        </p:spPr>
        <p:txBody>
          <a:bodyPr wrap="square" rtlCol="0" anchor="ctr"/>
          <a:lstStyle/>
          <a:p>
            <a:pPr algn="ctr" indent="0" marL="0">
              <a:buNone/>
            </a:pPr>
            <a:r>
              <a:rPr lang="en-US" sz="1400" b="1" dirty="0">
                <a:solidFill>
                  <a:srgbClr val="7A4FD0"/>
                </a:solidFill>
                <a:latin typeface="Meiryo" pitchFamily="34" charset="0"/>
                <a:ea typeface="Meiryo" pitchFamily="34" charset="-122"/>
                <a:cs typeface="Meiryo" pitchFamily="34" charset="-120"/>
              </a:rPr>
              <a:t>ゲーム会社への価値（KPI）</a:t>
            </a:r>
            <a:endParaRPr lang="en-US" sz="1400" dirty="0"/>
          </a:p>
        </p:txBody>
      </p:sp>
      <p:sp>
        <p:nvSpPr>
          <p:cNvPr id="22" name="Shape 20"/>
          <p:cNvSpPr/>
          <p:nvPr/>
        </p:nvSpPr>
        <p:spPr>
          <a:xfrm>
            <a:off x="6629400" y="2633472"/>
            <a:ext cx="310896" cy="310896"/>
          </a:xfrm>
          <a:prstGeom prst="ellipse">
            <a:avLst/>
          </a:prstGeom>
          <a:solidFill>
            <a:srgbClr val="7A4FD0"/>
          </a:solidFill>
          <a:ln/>
        </p:spPr>
      </p:sp>
      <p:sp>
        <p:nvSpPr>
          <p:cNvPr id="23" name="Text 21"/>
          <p:cNvSpPr/>
          <p:nvPr/>
        </p:nvSpPr>
        <p:spPr>
          <a:xfrm>
            <a:off x="6629400" y="2633472"/>
            <a:ext cx="310896" cy="310896"/>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24" name="Text 22"/>
          <p:cNvSpPr/>
          <p:nvPr/>
        </p:nvSpPr>
        <p:spPr>
          <a:xfrm>
            <a:off x="7132320" y="2606040"/>
            <a:ext cx="4206240" cy="36576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非課金ユーザーのマネタイズ</a:t>
            </a:r>
            <a:endParaRPr lang="en-US" sz="1300" dirty="0"/>
          </a:p>
        </p:txBody>
      </p:sp>
      <p:sp>
        <p:nvSpPr>
          <p:cNvPr id="25" name="Text 23"/>
          <p:cNvSpPr/>
          <p:nvPr/>
        </p:nvSpPr>
        <p:spPr>
          <a:xfrm>
            <a:off x="7132320" y="2971800"/>
            <a:ext cx="4206240" cy="502920"/>
          </a:xfrm>
          <a:prstGeom prst="rect">
            <a:avLst/>
          </a:prstGeom>
          <a:noFill/>
          <a:ln/>
        </p:spPr>
        <p:txBody>
          <a:bodyPr wrap="square" rtlCol="0" anchor="ctr"/>
          <a:lstStyle/>
          <a:p>
            <a:pPr indent="0" marL="0">
              <a:buNone/>
            </a:pPr>
            <a:r>
              <a:rPr lang="en-US" sz="1050" dirty="0">
                <a:solidFill>
                  <a:srgbClr val="6B7280"/>
                </a:solidFill>
                <a:latin typeface="Meiryo" pitchFamily="34" charset="0"/>
                <a:ea typeface="Meiryo" pitchFamily="34" charset="-122"/>
                <a:cs typeface="Meiryo" pitchFamily="34" charset="-120"/>
              </a:rPr>
              <a:t>交換アイテムに応じて運営へ支払い</a:t>
            </a:r>
            <a:endParaRPr lang="en-US" sz="1050" dirty="0"/>
          </a:p>
        </p:txBody>
      </p:sp>
      <p:sp>
        <p:nvSpPr>
          <p:cNvPr id="26" name="Shape 24"/>
          <p:cNvSpPr/>
          <p:nvPr/>
        </p:nvSpPr>
        <p:spPr>
          <a:xfrm>
            <a:off x="6629400" y="3694176"/>
            <a:ext cx="310896" cy="310896"/>
          </a:xfrm>
          <a:prstGeom prst="ellipse">
            <a:avLst/>
          </a:prstGeom>
          <a:solidFill>
            <a:srgbClr val="7A4FD0"/>
          </a:solidFill>
          <a:ln/>
        </p:spPr>
      </p:sp>
      <p:sp>
        <p:nvSpPr>
          <p:cNvPr id="27" name="Text 25"/>
          <p:cNvSpPr/>
          <p:nvPr/>
        </p:nvSpPr>
        <p:spPr>
          <a:xfrm>
            <a:off x="6629400" y="3694176"/>
            <a:ext cx="310896" cy="310896"/>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28" name="Text 26"/>
          <p:cNvSpPr/>
          <p:nvPr/>
        </p:nvSpPr>
        <p:spPr>
          <a:xfrm>
            <a:off x="7132320" y="3666744"/>
            <a:ext cx="4206240" cy="36576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ユーザー獲得</a:t>
            </a:r>
            <a:endParaRPr lang="en-US" sz="1300" dirty="0"/>
          </a:p>
        </p:txBody>
      </p:sp>
      <p:sp>
        <p:nvSpPr>
          <p:cNvPr id="29" name="Text 27"/>
          <p:cNvSpPr/>
          <p:nvPr/>
        </p:nvSpPr>
        <p:spPr>
          <a:xfrm>
            <a:off x="7132320" y="4032504"/>
            <a:ext cx="4206240" cy="502920"/>
          </a:xfrm>
          <a:prstGeom prst="rect">
            <a:avLst/>
          </a:prstGeom>
          <a:noFill/>
          <a:ln/>
        </p:spPr>
        <p:txBody>
          <a:bodyPr wrap="square" rtlCol="0" anchor="ctr"/>
          <a:lstStyle/>
          <a:p>
            <a:pPr indent="0" marL="0">
              <a:buNone/>
            </a:pPr>
            <a:r>
              <a:rPr lang="en-US" sz="1050" dirty="0">
                <a:solidFill>
                  <a:srgbClr val="6B7280"/>
                </a:solidFill>
                <a:latin typeface="Meiryo" pitchFamily="34" charset="0"/>
                <a:ea typeface="Meiryo" pitchFamily="34" charset="-122"/>
                <a:cs typeface="Meiryo" pitchFamily="34" charset="-120"/>
              </a:rPr>
              <a:t>無償の誘導枠で送客（掲載頻度は規定あり）</a:t>
            </a:r>
            <a:endParaRPr lang="en-US" sz="1050" dirty="0"/>
          </a:p>
        </p:txBody>
      </p:sp>
      <p:sp>
        <p:nvSpPr>
          <p:cNvPr id="30" name="Shape 28"/>
          <p:cNvSpPr/>
          <p:nvPr/>
        </p:nvSpPr>
        <p:spPr>
          <a:xfrm>
            <a:off x="6629400" y="4754880"/>
            <a:ext cx="310896" cy="310896"/>
          </a:xfrm>
          <a:prstGeom prst="ellipse">
            <a:avLst/>
          </a:prstGeom>
          <a:solidFill>
            <a:srgbClr val="7A4FD0"/>
          </a:solidFill>
          <a:ln/>
        </p:spPr>
      </p:sp>
      <p:sp>
        <p:nvSpPr>
          <p:cNvPr id="31" name="Text 29"/>
          <p:cNvSpPr/>
          <p:nvPr/>
        </p:nvSpPr>
        <p:spPr>
          <a:xfrm>
            <a:off x="6629400" y="4754880"/>
            <a:ext cx="310896" cy="310896"/>
          </a:xfrm>
          <a:prstGeom prst="rect">
            <a:avLst/>
          </a:prstGeom>
          <a:noFill/>
          <a:ln/>
        </p:spPr>
        <p:txBody>
          <a:bodyPr wrap="square"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32" name="Text 30"/>
          <p:cNvSpPr/>
          <p:nvPr/>
        </p:nvSpPr>
        <p:spPr>
          <a:xfrm>
            <a:off x="7132320" y="4727448"/>
            <a:ext cx="4206240" cy="36576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継続率の向上</a:t>
            </a:r>
            <a:endParaRPr lang="en-US" sz="1300" dirty="0"/>
          </a:p>
        </p:txBody>
      </p:sp>
      <p:sp>
        <p:nvSpPr>
          <p:cNvPr id="33" name="Text 31"/>
          <p:cNvSpPr/>
          <p:nvPr/>
        </p:nvSpPr>
        <p:spPr>
          <a:xfrm>
            <a:off x="7132320" y="5093208"/>
            <a:ext cx="4206240" cy="502920"/>
          </a:xfrm>
          <a:prstGeom prst="rect">
            <a:avLst/>
          </a:prstGeom>
          <a:noFill/>
          <a:ln/>
        </p:spPr>
        <p:txBody>
          <a:bodyPr wrap="square" rtlCol="0" anchor="ctr"/>
          <a:lstStyle/>
          <a:p>
            <a:pPr indent="0" marL="0">
              <a:buNone/>
            </a:pPr>
            <a:r>
              <a:rPr lang="en-US" sz="1050" dirty="0">
                <a:solidFill>
                  <a:srgbClr val="6B7280"/>
                </a:solidFill>
                <a:latin typeface="Meiryo" pitchFamily="34" charset="0"/>
                <a:ea typeface="Meiryo" pitchFamily="34" charset="-122"/>
                <a:cs typeface="Meiryo" pitchFamily="34" charset="-120"/>
              </a:rPr>
              <a:t>楽しさ設計＋公式コミュニティで定着</a:t>
            </a:r>
            <a:endParaRPr lang="en-US" sz="1050" dirty="0"/>
          </a:p>
        </p:txBody>
      </p:sp>
      <p:sp>
        <p:nvSpPr>
          <p:cNvPr id="34" name="Text 32"/>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35" name="Text 33"/>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36" name="Text 34"/>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BUSINESS MODEL</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ビジネスモデル：アフィリエイト型（初期）</a:t>
            </a:r>
            <a:endParaRPr lang="en-US" sz="2500" dirty="0"/>
          </a:p>
        </p:txBody>
      </p:sp>
      <p:sp>
        <p:nvSpPr>
          <p:cNvPr id="4" name="Text 2"/>
          <p:cNvSpPr/>
          <p:nvPr/>
        </p:nvSpPr>
        <p:spPr>
          <a:xfrm>
            <a:off x="548640" y="1417320"/>
            <a:ext cx="11247120" cy="365760"/>
          </a:xfrm>
          <a:prstGeom prst="rect">
            <a:avLst/>
          </a:prstGeom>
          <a:noFill/>
          <a:ln/>
        </p:spPr>
        <p:txBody>
          <a:bodyPr wrap="square" rtlCol="0" anchor="ctr"/>
          <a:lstStyle/>
          <a:p>
            <a:pPr indent="0" marL="0">
              <a:buNone/>
            </a:pPr>
            <a:r>
              <a:rPr lang="en-US" sz="1250" dirty="0">
                <a:solidFill>
                  <a:srgbClr val="6B7280"/>
                </a:solidFill>
                <a:latin typeface="Meiryo" pitchFamily="34" charset="0"/>
                <a:ea typeface="Meiryo" pitchFamily="34" charset="-122"/>
                <a:cs typeface="Meiryo" pitchFamily="34" charset="-120"/>
              </a:rPr>
              <a:t>ゲーム会社からアイテムを仕入れ、広告費の一部をユーザーにポイント還元。鍵は「ここでしか手に入らない」限定アイテム。</a:t>
            </a:r>
            <a:endParaRPr lang="en-US" sz="1250" dirty="0"/>
          </a:p>
        </p:txBody>
      </p:sp>
      <p:sp>
        <p:nvSpPr>
          <p:cNvPr id="5" name="Shape 3"/>
          <p:cNvSpPr/>
          <p:nvPr/>
        </p:nvSpPr>
        <p:spPr>
          <a:xfrm>
            <a:off x="640080" y="2103120"/>
            <a:ext cx="3200400" cy="914400"/>
          </a:xfrm>
          <a:prstGeom prst="roundRect">
            <a:avLst>
              <a:gd name="adj" fmla="val 10000"/>
            </a:avLst>
          </a:prstGeom>
          <a:solidFill>
            <a:srgbClr val="1F2430"/>
          </a:solidFill>
          <a:ln/>
          <a:effectLst>
            <a:outerShdw sx="100000" sy="100000" kx="0" ky="0" algn="bl" rotWithShape="0" blurRad="114300" dist="38100" dir="8100000">
              <a:srgbClr val="1F2430">
                <a:alpha val="12000"/>
              </a:srgbClr>
            </a:outerShdw>
          </a:effectLst>
        </p:spPr>
      </p:sp>
      <p:sp>
        <p:nvSpPr>
          <p:cNvPr id="6" name="Text 4"/>
          <p:cNvSpPr/>
          <p:nvPr/>
        </p:nvSpPr>
        <p:spPr>
          <a:xfrm>
            <a:off x="640080" y="2103120"/>
            <a:ext cx="3200400" cy="914400"/>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企業（広告主）</a:t>
            </a:r>
            <a:endParaRPr lang="en-US" sz="1400" dirty="0"/>
          </a:p>
        </p:txBody>
      </p:sp>
      <p:sp>
        <p:nvSpPr>
          <p:cNvPr id="7" name="Shape 5"/>
          <p:cNvSpPr/>
          <p:nvPr/>
        </p:nvSpPr>
        <p:spPr>
          <a:xfrm>
            <a:off x="4480560" y="2103120"/>
            <a:ext cx="3200400" cy="914400"/>
          </a:xfrm>
          <a:prstGeom prst="roundRect">
            <a:avLst>
              <a:gd name="adj" fmla="val 10000"/>
            </a:avLst>
          </a:prstGeom>
          <a:solidFill>
            <a:srgbClr val="3B4CCA"/>
          </a:solidFill>
          <a:ln/>
          <a:effectLst>
            <a:outerShdw sx="100000" sy="100000" kx="0" ky="0" algn="bl" rotWithShape="0" blurRad="114300" dist="38100" dir="8100000">
              <a:srgbClr val="1F2430">
                <a:alpha val="12000"/>
              </a:srgbClr>
            </a:outerShdw>
          </a:effectLst>
        </p:spPr>
      </p:sp>
      <p:sp>
        <p:nvSpPr>
          <p:cNvPr id="8" name="Text 6"/>
          <p:cNvSpPr/>
          <p:nvPr/>
        </p:nvSpPr>
        <p:spPr>
          <a:xfrm>
            <a:off x="4480560" y="2103120"/>
            <a:ext cx="3200400" cy="914400"/>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MasterGame</a:t>
            </a:r>
            <a:endParaRPr lang="en-US" sz="1400" dirty="0"/>
          </a:p>
        </p:txBody>
      </p:sp>
      <p:sp>
        <p:nvSpPr>
          <p:cNvPr id="9" name="Shape 7"/>
          <p:cNvSpPr/>
          <p:nvPr/>
        </p:nvSpPr>
        <p:spPr>
          <a:xfrm>
            <a:off x="8321040" y="2103120"/>
            <a:ext cx="3200400" cy="914400"/>
          </a:xfrm>
          <a:prstGeom prst="roundRect">
            <a:avLst>
              <a:gd name="adj" fmla="val 10000"/>
            </a:avLst>
          </a:prstGeom>
          <a:solidFill>
            <a:srgbClr val="7A4FD0"/>
          </a:solidFill>
          <a:ln/>
          <a:effectLst>
            <a:outerShdw sx="100000" sy="100000" kx="0" ky="0" algn="bl" rotWithShape="0" blurRad="114300" dist="38100" dir="8100000">
              <a:srgbClr val="1F2430">
                <a:alpha val="12000"/>
              </a:srgbClr>
            </a:outerShdw>
          </a:effectLst>
        </p:spPr>
      </p:sp>
      <p:sp>
        <p:nvSpPr>
          <p:cNvPr id="10" name="Text 8"/>
          <p:cNvSpPr/>
          <p:nvPr/>
        </p:nvSpPr>
        <p:spPr>
          <a:xfrm>
            <a:off x="8321040" y="2103120"/>
            <a:ext cx="3200400" cy="91440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ゲーマー（ユーザー）</a:t>
            </a:r>
            <a:endParaRPr lang="en-US" sz="1300" dirty="0"/>
          </a:p>
        </p:txBody>
      </p:sp>
      <p:sp>
        <p:nvSpPr>
          <p:cNvPr id="11" name="Shape 9"/>
          <p:cNvSpPr/>
          <p:nvPr/>
        </p:nvSpPr>
        <p:spPr>
          <a:xfrm>
            <a:off x="4480560" y="4937760"/>
            <a:ext cx="3200400" cy="914400"/>
          </a:xfrm>
          <a:prstGeom prst="roundRect">
            <a:avLst>
              <a:gd name="adj" fmla="val 10000"/>
            </a:avLst>
          </a:prstGeom>
          <a:solidFill>
            <a:srgbClr val="C79A3A"/>
          </a:solidFill>
          <a:ln/>
          <a:effectLst>
            <a:outerShdw sx="100000" sy="100000" kx="0" ky="0" algn="bl" rotWithShape="0" blurRad="114300" dist="38100" dir="8100000">
              <a:srgbClr val="1F2430">
                <a:alpha val="12000"/>
              </a:srgbClr>
            </a:outerShdw>
          </a:effectLst>
        </p:spPr>
      </p:sp>
      <p:sp>
        <p:nvSpPr>
          <p:cNvPr id="12" name="Text 10"/>
          <p:cNvSpPr/>
          <p:nvPr/>
        </p:nvSpPr>
        <p:spPr>
          <a:xfrm>
            <a:off x="4480560" y="4937760"/>
            <a:ext cx="3200400" cy="914400"/>
          </a:xfrm>
          <a:prstGeom prst="rect">
            <a:avLst/>
          </a:prstGeom>
          <a:noFill/>
          <a:ln/>
        </p:spPr>
        <p:txBody>
          <a:bodyPr wrap="square"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ゲーム会社（提携先）</a:t>
            </a:r>
            <a:endParaRPr lang="en-US" sz="1250" dirty="0"/>
          </a:p>
        </p:txBody>
      </p:sp>
      <p:sp>
        <p:nvSpPr>
          <p:cNvPr id="13" name="Shape 11"/>
          <p:cNvSpPr/>
          <p:nvPr/>
        </p:nvSpPr>
        <p:spPr>
          <a:xfrm>
            <a:off x="3840480" y="2377440"/>
            <a:ext cx="640080" cy="0"/>
          </a:xfrm>
          <a:prstGeom prst="line">
            <a:avLst/>
          </a:prstGeom>
          <a:noFill/>
          <a:ln w="19050">
            <a:solidFill>
              <a:srgbClr val="9AA0AC"/>
            </a:solidFill>
            <a:prstDash val="solid"/>
            <a:tailEnd type="triangle"/>
          </a:ln>
        </p:spPr>
      </p:sp>
      <p:sp>
        <p:nvSpPr>
          <p:cNvPr id="14" name="Text 12"/>
          <p:cNvSpPr/>
          <p:nvPr/>
        </p:nvSpPr>
        <p:spPr>
          <a:xfrm>
            <a:off x="3383280" y="1828800"/>
            <a:ext cx="1554480" cy="320040"/>
          </a:xfrm>
          <a:prstGeom prst="rect">
            <a:avLst/>
          </a:prstGeom>
          <a:noFill/>
          <a:ln/>
        </p:spPr>
        <p:txBody>
          <a:bodyPr wrap="square" rtlCol="0" anchor="ctr"/>
          <a:lstStyle/>
          <a:p>
            <a:pPr algn="ctr" indent="0" marL="0">
              <a:buNone/>
            </a:pPr>
            <a:r>
              <a:rPr lang="en-US" sz="1050" b="1" dirty="0">
                <a:solidFill>
                  <a:srgbClr val="1F2430"/>
                </a:solidFill>
                <a:latin typeface="Meiryo" pitchFamily="34" charset="0"/>
                <a:ea typeface="Meiryo" pitchFamily="34" charset="-122"/>
                <a:cs typeface="Meiryo" pitchFamily="34" charset="-120"/>
              </a:rPr>
              <a:t>③ 広告費 ¥</a:t>
            </a:r>
            <a:endParaRPr lang="en-US" sz="1050" dirty="0"/>
          </a:p>
        </p:txBody>
      </p:sp>
      <p:sp>
        <p:nvSpPr>
          <p:cNvPr id="15" name="Shape 13"/>
          <p:cNvSpPr/>
          <p:nvPr/>
        </p:nvSpPr>
        <p:spPr>
          <a:xfrm>
            <a:off x="7680960" y="2377440"/>
            <a:ext cx="640080" cy="0"/>
          </a:xfrm>
          <a:prstGeom prst="line">
            <a:avLst/>
          </a:prstGeom>
          <a:noFill/>
          <a:ln w="19050">
            <a:solidFill>
              <a:srgbClr val="9AA0AC"/>
            </a:solidFill>
            <a:prstDash val="solid"/>
            <a:tailEnd type="triangle"/>
          </a:ln>
        </p:spPr>
      </p:sp>
      <p:sp>
        <p:nvSpPr>
          <p:cNvPr id="16" name="Text 14"/>
          <p:cNvSpPr/>
          <p:nvPr/>
        </p:nvSpPr>
        <p:spPr>
          <a:xfrm>
            <a:off x="7223760" y="1828800"/>
            <a:ext cx="1554480" cy="320040"/>
          </a:xfrm>
          <a:prstGeom prst="rect">
            <a:avLst/>
          </a:prstGeom>
          <a:noFill/>
          <a:ln/>
        </p:spPr>
        <p:txBody>
          <a:bodyPr wrap="square" rtlCol="0" anchor="ctr"/>
          <a:lstStyle/>
          <a:p>
            <a:pPr algn="ctr" indent="0" marL="0">
              <a:buNone/>
            </a:pPr>
            <a:r>
              <a:rPr lang="en-US" sz="1050" b="1" dirty="0">
                <a:solidFill>
                  <a:srgbClr val="3B4CCA"/>
                </a:solidFill>
                <a:latin typeface="Meiryo" pitchFamily="34" charset="0"/>
                <a:ea typeface="Meiryo" pitchFamily="34" charset="-122"/>
                <a:cs typeface="Meiryo" pitchFamily="34" charset="-120"/>
              </a:rPr>
              <a:t>④ ポイント還元 P</a:t>
            </a:r>
            <a:endParaRPr lang="en-US" sz="1050" dirty="0"/>
          </a:p>
        </p:txBody>
      </p:sp>
      <p:sp>
        <p:nvSpPr>
          <p:cNvPr id="17" name="Shape 15"/>
          <p:cNvSpPr/>
          <p:nvPr/>
        </p:nvSpPr>
        <p:spPr>
          <a:xfrm>
            <a:off x="9921240" y="3017520"/>
            <a:ext cx="0" cy="1280160"/>
          </a:xfrm>
          <a:prstGeom prst="line">
            <a:avLst/>
          </a:prstGeom>
          <a:noFill/>
          <a:ln w="19050">
            <a:solidFill>
              <a:srgbClr val="9AA0AC"/>
            </a:solidFill>
            <a:prstDash val="solid"/>
            <a:tailEnd type="triangle"/>
          </a:ln>
        </p:spPr>
      </p:sp>
      <p:sp>
        <p:nvSpPr>
          <p:cNvPr id="18" name="Text 16"/>
          <p:cNvSpPr/>
          <p:nvPr/>
        </p:nvSpPr>
        <p:spPr>
          <a:xfrm>
            <a:off x="8778240" y="3520440"/>
            <a:ext cx="2377440" cy="320040"/>
          </a:xfrm>
          <a:prstGeom prst="rect">
            <a:avLst/>
          </a:prstGeom>
          <a:noFill/>
          <a:ln/>
        </p:spPr>
        <p:txBody>
          <a:bodyPr wrap="square" rtlCol="0" anchor="ctr"/>
          <a:lstStyle/>
          <a:p>
            <a:pPr algn="ctr" indent="0" marL="0">
              <a:buNone/>
            </a:pPr>
            <a:r>
              <a:rPr lang="en-US" sz="1050" b="1" dirty="0">
                <a:solidFill>
                  <a:srgbClr val="7A4FD0"/>
                </a:solidFill>
                <a:latin typeface="Meiryo" pitchFamily="34" charset="0"/>
                <a:ea typeface="Meiryo" pitchFamily="34" charset="-122"/>
                <a:cs typeface="Meiryo" pitchFamily="34" charset="-120"/>
              </a:rPr>
              <a:t>⑤ 貯めたPで交換申請</a:t>
            </a:r>
            <a:endParaRPr lang="en-US" sz="1050" dirty="0"/>
          </a:p>
        </p:txBody>
      </p:sp>
      <p:sp>
        <p:nvSpPr>
          <p:cNvPr id="19" name="Shape 17"/>
          <p:cNvSpPr/>
          <p:nvPr/>
        </p:nvSpPr>
        <p:spPr>
          <a:xfrm>
            <a:off x="6080760" y="3931920"/>
            <a:ext cx="0" cy="1005840"/>
          </a:xfrm>
          <a:prstGeom prst="line">
            <a:avLst/>
          </a:prstGeom>
          <a:noFill/>
          <a:ln w="19050">
            <a:solidFill>
              <a:srgbClr val="9AA0AC"/>
            </a:solidFill>
            <a:prstDash val="solid"/>
            <a:headEnd type="triangle"/>
          </a:ln>
        </p:spPr>
      </p:sp>
      <p:sp>
        <p:nvSpPr>
          <p:cNvPr id="20" name="Text 18"/>
          <p:cNvSpPr/>
          <p:nvPr/>
        </p:nvSpPr>
        <p:spPr>
          <a:xfrm>
            <a:off x="6172200" y="4206240"/>
            <a:ext cx="2743200" cy="320040"/>
          </a:xfrm>
          <a:prstGeom prst="rect">
            <a:avLst/>
          </a:prstGeom>
          <a:noFill/>
          <a:ln/>
        </p:spPr>
        <p:txBody>
          <a:bodyPr wrap="square" rtlCol="0" anchor="ctr"/>
          <a:lstStyle/>
          <a:p>
            <a:pPr algn="ctr" indent="0" marL="0">
              <a:buNone/>
            </a:pPr>
            <a:r>
              <a:rPr lang="en-US" sz="1050" b="1" dirty="0">
                <a:solidFill>
                  <a:srgbClr val="C79A3A"/>
                </a:solidFill>
                <a:latin typeface="Meiryo" pitchFamily="34" charset="0"/>
                <a:ea typeface="Meiryo" pitchFamily="34" charset="-122"/>
                <a:cs typeface="Meiryo" pitchFamily="34" charset="-120"/>
              </a:rPr>
              <a:t>⑥ アイテム付与 ／ ⑦ コード精算 ¥</a:t>
            </a:r>
            <a:endParaRPr lang="en-US" sz="1050" dirty="0"/>
          </a:p>
        </p:txBody>
      </p:sp>
      <p:sp>
        <p:nvSpPr>
          <p:cNvPr id="21" name="Shape 19"/>
          <p:cNvSpPr/>
          <p:nvPr/>
        </p:nvSpPr>
        <p:spPr>
          <a:xfrm>
            <a:off x="3566160" y="5394960"/>
            <a:ext cx="914400" cy="0"/>
          </a:xfrm>
          <a:prstGeom prst="line">
            <a:avLst/>
          </a:prstGeom>
          <a:noFill/>
          <a:ln w="19050">
            <a:solidFill>
              <a:srgbClr val="9AA0AC"/>
            </a:solidFill>
            <a:prstDash val="solid"/>
            <a:headEnd type="triangle"/>
          </a:ln>
        </p:spPr>
      </p:sp>
      <p:sp>
        <p:nvSpPr>
          <p:cNvPr id="22" name="Text 20"/>
          <p:cNvSpPr/>
          <p:nvPr/>
        </p:nvSpPr>
        <p:spPr>
          <a:xfrm>
            <a:off x="1188720" y="5074920"/>
            <a:ext cx="2926080" cy="320040"/>
          </a:xfrm>
          <a:prstGeom prst="rect">
            <a:avLst/>
          </a:prstGeom>
          <a:noFill/>
          <a:ln/>
        </p:spPr>
        <p:txBody>
          <a:bodyPr wrap="square" rtlCol="0" anchor="ctr"/>
          <a:lstStyle/>
          <a:p>
            <a:pPr algn="ctr" indent="0" marL="0">
              <a:buNone/>
            </a:pPr>
            <a:r>
              <a:rPr lang="en-US" sz="1050" b="1" dirty="0">
                <a:solidFill>
                  <a:srgbClr val="C79A3A"/>
                </a:solidFill>
                <a:latin typeface="Meiryo" pitchFamily="34" charset="0"/>
                <a:ea typeface="Meiryo" pitchFamily="34" charset="-122"/>
                <a:cs typeface="Meiryo" pitchFamily="34" charset="-120"/>
              </a:rPr>
              <a:t>① アイテム納品</a:t>
            </a:r>
            <a:endParaRPr lang="en-US" sz="1050" dirty="0"/>
          </a:p>
        </p:txBody>
      </p:sp>
      <p:sp>
        <p:nvSpPr>
          <p:cNvPr id="23" name="Shape 21"/>
          <p:cNvSpPr/>
          <p:nvPr/>
        </p:nvSpPr>
        <p:spPr>
          <a:xfrm>
            <a:off x="640080" y="5989320"/>
            <a:ext cx="10881360" cy="0"/>
          </a:xfrm>
          <a:prstGeom prst="roundRect">
            <a:avLst/>
          </a:prstGeom>
          <a:solidFill>
            <a:srgbClr val="FFFFFF"/>
          </a:solidFill>
          <a:ln/>
        </p:spPr>
      </p:sp>
      <p:sp>
        <p:nvSpPr>
          <p:cNvPr id="24" name="Text 22"/>
          <p:cNvSpPr/>
          <p:nvPr/>
        </p:nvSpPr>
        <p:spPr>
          <a:xfrm>
            <a:off x="640080" y="5989320"/>
            <a:ext cx="10881360" cy="365760"/>
          </a:xfrm>
          <a:prstGeom prst="rect">
            <a:avLst/>
          </a:prstGeom>
          <a:noFill/>
          <a:ln/>
        </p:spPr>
        <p:txBody>
          <a:bodyPr wrap="square" rtlCol="0" anchor="ctr"/>
          <a:lstStyle/>
          <a:p>
            <a:pPr indent="0" marL="0">
              <a:buNone/>
            </a:pPr>
            <a:r>
              <a:rPr lang="en-US" sz="1100" b="1" dirty="0">
                <a:solidFill>
                  <a:srgbClr val="1F2430"/>
                </a:solidFill>
                <a:latin typeface="Meiryo" pitchFamily="34" charset="0"/>
                <a:ea typeface="Meiryo" pitchFamily="34" charset="-122"/>
                <a:cs typeface="Meiryo" pitchFamily="34" charset="-120"/>
              </a:rPr>
              <a:t>導入条件：</a:t>
            </a:r>
            <a:pPr indent="0" marL="0">
              <a:buNone/>
            </a:pPr>
            <a:r>
              <a:rPr lang="en-US" sz="1100" dirty="0">
                <a:solidFill>
                  <a:srgbClr val="6B7280"/>
                </a:solidFill>
                <a:latin typeface="Meiryo" pitchFamily="34" charset="0"/>
                <a:ea typeface="Meiryo" pitchFamily="34" charset="-122"/>
                <a:cs typeface="Meiryo" pitchFamily="34" charset="-120"/>
              </a:rPr>
              <a:t>初期・月額費用 無料／システム連携 原則なし（API利用時のみ）。納品は CSV式・コード式・API式（開発中）。報酬は </a:t>
            </a:r>
            <a:pPr indent="0" marL="0">
              <a:buNone/>
            </a:pPr>
            <a:r>
              <a:rPr lang="en-US" sz="1100" b="1" dirty="0">
                <a:solidFill>
                  <a:srgbClr val="3B4CCA"/>
                </a:solidFill>
                <a:latin typeface="Meiryo" pitchFamily="34" charset="0"/>
                <a:ea typeface="Meiryo" pitchFamily="34" charset="-122"/>
                <a:cs typeface="Meiryo" pitchFamily="34" charset="-120"/>
              </a:rPr>
              <a:t>翌々月末</a:t>
            </a:r>
            <a:pPr indent="0" marL="0">
              <a:buNone/>
            </a:pPr>
            <a:r>
              <a:rPr lang="en-US" sz="1100" dirty="0">
                <a:solidFill>
                  <a:srgbClr val="6B7280"/>
                </a:solidFill>
                <a:latin typeface="Meiryo" pitchFamily="34" charset="0"/>
                <a:ea typeface="Meiryo" pitchFamily="34" charset="-122"/>
                <a:cs typeface="Meiryo" pitchFamily="34" charset="-120"/>
              </a:rPr>
              <a:t> 精算。</a:t>
            </a:r>
            <a:endParaRPr lang="en-US" sz="1100" dirty="0"/>
          </a:p>
        </p:txBody>
      </p:sp>
      <p:sp>
        <p:nvSpPr>
          <p:cNvPr id="25" name="Text 23"/>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6" name="Text 24"/>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7" name="Text 25"/>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ROADMAP</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フェーズ・ロードマップ</a:t>
            </a:r>
            <a:endParaRPr lang="en-US" sz="2500" dirty="0"/>
          </a:p>
        </p:txBody>
      </p:sp>
      <p:sp>
        <p:nvSpPr>
          <p:cNvPr id="4" name="Shape 2"/>
          <p:cNvSpPr/>
          <p:nvPr/>
        </p:nvSpPr>
        <p:spPr>
          <a:xfrm>
            <a:off x="731520" y="4480560"/>
            <a:ext cx="10972800" cy="0"/>
          </a:xfrm>
          <a:prstGeom prst="line">
            <a:avLst/>
          </a:prstGeom>
          <a:noFill/>
          <a:ln w="25400">
            <a:solidFill>
              <a:srgbClr val="E2E5EC"/>
            </a:solidFill>
            <a:prstDash val="solid"/>
          </a:ln>
        </p:spPr>
      </p:sp>
      <p:sp>
        <p:nvSpPr>
          <p:cNvPr id="5" name="Shape 3"/>
          <p:cNvSpPr/>
          <p:nvPr/>
        </p:nvSpPr>
        <p:spPr>
          <a:xfrm>
            <a:off x="548640" y="2011680"/>
            <a:ext cx="2121408" cy="2194560"/>
          </a:xfrm>
          <a:prstGeom prst="roundRect">
            <a:avLst>
              <a:gd name="adj" fmla="val 3448"/>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Shape 4"/>
          <p:cNvSpPr/>
          <p:nvPr/>
        </p:nvSpPr>
        <p:spPr>
          <a:xfrm>
            <a:off x="548640" y="2011680"/>
            <a:ext cx="2121408" cy="457200"/>
          </a:xfrm>
          <a:prstGeom prst="rect">
            <a:avLst/>
          </a:prstGeom>
          <a:solidFill>
            <a:srgbClr val="3B4CCA"/>
          </a:solidFill>
          <a:ln/>
        </p:spPr>
      </p:sp>
      <p:sp>
        <p:nvSpPr>
          <p:cNvPr id="7" name="Text 5"/>
          <p:cNvSpPr/>
          <p:nvPr/>
        </p:nvSpPr>
        <p:spPr>
          <a:xfrm>
            <a:off x="548640" y="2011680"/>
            <a:ext cx="2121408" cy="45720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Phase 1</a:t>
            </a:r>
            <a:endParaRPr lang="en-US" sz="1300" dirty="0"/>
          </a:p>
        </p:txBody>
      </p:sp>
      <p:sp>
        <p:nvSpPr>
          <p:cNvPr id="8" name="Shape 6"/>
          <p:cNvSpPr/>
          <p:nvPr/>
        </p:nvSpPr>
        <p:spPr>
          <a:xfrm>
            <a:off x="1106424" y="2606040"/>
            <a:ext cx="1005840" cy="310896"/>
          </a:xfrm>
          <a:prstGeom prst="roundRect">
            <a:avLst>
              <a:gd name="adj" fmla="val 50000"/>
            </a:avLst>
          </a:prstGeom>
          <a:solidFill>
            <a:srgbClr val="F4F5F8"/>
          </a:solidFill>
          <a:ln/>
        </p:spPr>
      </p:sp>
      <p:sp>
        <p:nvSpPr>
          <p:cNvPr id="9" name="Text 7"/>
          <p:cNvSpPr/>
          <p:nvPr/>
        </p:nvSpPr>
        <p:spPr>
          <a:xfrm>
            <a:off x="1106424" y="2606040"/>
            <a:ext cx="1005840" cy="310896"/>
          </a:xfrm>
          <a:prstGeom prst="rect">
            <a:avLst/>
          </a:prstGeom>
          <a:noFill/>
          <a:ln/>
        </p:spPr>
        <p:txBody>
          <a:bodyPr wrap="square" rtlCol="0" anchor="ctr"/>
          <a:lstStyle/>
          <a:p>
            <a:pPr algn="ctr" indent="0" marL="0">
              <a:buNone/>
            </a:pPr>
            <a:r>
              <a:rPr lang="en-US" sz="950" b="1" dirty="0">
                <a:solidFill>
                  <a:srgbClr val="3B4CCA"/>
                </a:solidFill>
                <a:latin typeface="Meiryo" pitchFamily="34" charset="0"/>
                <a:ea typeface="Meiryo" pitchFamily="34" charset="-122"/>
                <a:cs typeface="Meiryo" pitchFamily="34" charset="-120"/>
              </a:rPr>
              <a:t>MVP</a:t>
            </a:r>
            <a:endParaRPr lang="en-US" sz="950" dirty="0"/>
          </a:p>
        </p:txBody>
      </p:sp>
      <p:sp>
        <p:nvSpPr>
          <p:cNvPr id="10" name="Text 8"/>
          <p:cNvSpPr/>
          <p:nvPr/>
        </p:nvSpPr>
        <p:spPr>
          <a:xfrm>
            <a:off x="685800" y="3035808"/>
            <a:ext cx="1847088" cy="868680"/>
          </a:xfrm>
          <a:prstGeom prst="rect">
            <a:avLst/>
          </a:prstGeom>
          <a:noFill/>
          <a:ln/>
        </p:spPr>
        <p:txBody>
          <a:bodyPr wrap="square" rtlCol="0" anchor="t"/>
          <a:lstStyle/>
          <a:p>
            <a:pPr algn="ctr" indent="0" marL="0">
              <a:buNone/>
            </a:pPr>
            <a:r>
              <a:rPr lang="en-US" sz="1000" dirty="0">
                <a:solidFill>
                  <a:srgbClr val="1F2430"/>
                </a:solidFill>
                <a:latin typeface="Meiryo" pitchFamily="34" charset="0"/>
                <a:ea typeface="Meiryo" pitchFamily="34" charset="-122"/>
                <a:cs typeface="Meiryo" pitchFamily="34" charset="-120"/>
              </a:rPr>
              <a:t>ポイ活×ゲームコミュニティの確立</a:t>
            </a:r>
            <a:endParaRPr lang="en-US" sz="1000" dirty="0"/>
          </a:p>
        </p:txBody>
      </p:sp>
      <p:sp>
        <p:nvSpPr>
          <p:cNvPr id="11" name="Shape 9"/>
          <p:cNvSpPr/>
          <p:nvPr/>
        </p:nvSpPr>
        <p:spPr>
          <a:xfrm>
            <a:off x="1517904" y="4389120"/>
            <a:ext cx="182880" cy="182880"/>
          </a:xfrm>
          <a:prstGeom prst="ellipse">
            <a:avLst/>
          </a:prstGeom>
          <a:solidFill>
            <a:srgbClr val="3B4CCA"/>
          </a:solidFill>
          <a:ln w="25400">
            <a:solidFill>
              <a:srgbClr val="FFFFFF"/>
            </a:solidFill>
            <a:prstDash val="solid"/>
          </a:ln>
        </p:spPr>
      </p:sp>
      <p:sp>
        <p:nvSpPr>
          <p:cNvPr id="12" name="Text 10"/>
          <p:cNvSpPr/>
          <p:nvPr/>
        </p:nvSpPr>
        <p:spPr>
          <a:xfrm>
            <a:off x="457200" y="4663440"/>
            <a:ext cx="2304288" cy="320040"/>
          </a:xfrm>
          <a:prstGeom prst="rect">
            <a:avLst/>
          </a:prstGeom>
          <a:noFill/>
          <a:ln/>
        </p:spPr>
        <p:txBody>
          <a:bodyPr wrap="square" rtlCol="0" anchor="ctr"/>
          <a:lstStyle/>
          <a:p>
            <a:pPr algn="ctr" indent="0" marL="0">
              <a:buNone/>
            </a:pPr>
            <a:r>
              <a:rPr lang="en-US" sz="1050" b="1" dirty="0">
                <a:solidFill>
                  <a:srgbClr val="3B4CCA"/>
                </a:solidFill>
                <a:latin typeface="Meiryo" pitchFamily="34" charset="0"/>
                <a:ea typeface="Meiryo" pitchFamily="34" charset="-122"/>
                <a:cs typeface="Meiryo" pitchFamily="34" charset="-120"/>
              </a:rPr>
              <a:t>2025/6–7</a:t>
            </a:r>
            <a:endParaRPr lang="en-US" sz="1050" dirty="0"/>
          </a:p>
        </p:txBody>
      </p:sp>
      <p:sp>
        <p:nvSpPr>
          <p:cNvPr id="13" name="Shape 11"/>
          <p:cNvSpPr/>
          <p:nvPr/>
        </p:nvSpPr>
        <p:spPr>
          <a:xfrm>
            <a:off x="2834640" y="2011680"/>
            <a:ext cx="2121408" cy="2194560"/>
          </a:xfrm>
          <a:prstGeom prst="roundRect">
            <a:avLst>
              <a:gd name="adj" fmla="val 3448"/>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4" name="Shape 12"/>
          <p:cNvSpPr/>
          <p:nvPr/>
        </p:nvSpPr>
        <p:spPr>
          <a:xfrm>
            <a:off x="2834640" y="2011680"/>
            <a:ext cx="2121408" cy="457200"/>
          </a:xfrm>
          <a:prstGeom prst="rect">
            <a:avLst/>
          </a:prstGeom>
          <a:solidFill>
            <a:srgbClr val="7A4FD0"/>
          </a:solidFill>
          <a:ln/>
        </p:spPr>
      </p:sp>
      <p:sp>
        <p:nvSpPr>
          <p:cNvPr id="15" name="Text 13"/>
          <p:cNvSpPr/>
          <p:nvPr/>
        </p:nvSpPr>
        <p:spPr>
          <a:xfrm>
            <a:off x="2834640" y="2011680"/>
            <a:ext cx="2121408" cy="45720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Phase 1.5</a:t>
            </a:r>
            <a:endParaRPr lang="en-US" sz="1300" dirty="0"/>
          </a:p>
        </p:txBody>
      </p:sp>
      <p:sp>
        <p:nvSpPr>
          <p:cNvPr id="16" name="Shape 14"/>
          <p:cNvSpPr/>
          <p:nvPr/>
        </p:nvSpPr>
        <p:spPr>
          <a:xfrm>
            <a:off x="3392424" y="2606040"/>
            <a:ext cx="1005840" cy="310896"/>
          </a:xfrm>
          <a:prstGeom prst="roundRect">
            <a:avLst>
              <a:gd name="adj" fmla="val 50000"/>
            </a:avLst>
          </a:prstGeom>
          <a:solidFill>
            <a:srgbClr val="F4F5F8"/>
          </a:solidFill>
          <a:ln/>
        </p:spPr>
      </p:sp>
      <p:sp>
        <p:nvSpPr>
          <p:cNvPr id="17" name="Text 15"/>
          <p:cNvSpPr/>
          <p:nvPr/>
        </p:nvSpPr>
        <p:spPr>
          <a:xfrm>
            <a:off x="3392424" y="2606040"/>
            <a:ext cx="1005840" cy="310896"/>
          </a:xfrm>
          <a:prstGeom prst="rect">
            <a:avLst/>
          </a:prstGeom>
          <a:noFill/>
          <a:ln/>
        </p:spPr>
        <p:txBody>
          <a:bodyPr wrap="square" rtlCol="0" anchor="ctr"/>
          <a:lstStyle/>
          <a:p>
            <a:pPr algn="ctr" indent="0" marL="0">
              <a:buNone/>
            </a:pPr>
            <a:r>
              <a:rPr lang="en-US" sz="950" b="1" dirty="0">
                <a:solidFill>
                  <a:srgbClr val="7A4FD0"/>
                </a:solidFill>
                <a:latin typeface="Meiryo" pitchFamily="34" charset="0"/>
                <a:ea typeface="Meiryo" pitchFamily="34" charset="-122"/>
                <a:cs typeface="Meiryo" pitchFamily="34" charset="-120"/>
              </a:rPr>
              <a:t>拡充</a:t>
            </a:r>
            <a:endParaRPr lang="en-US" sz="950" dirty="0"/>
          </a:p>
        </p:txBody>
      </p:sp>
      <p:sp>
        <p:nvSpPr>
          <p:cNvPr id="18" name="Text 16"/>
          <p:cNvSpPr/>
          <p:nvPr/>
        </p:nvSpPr>
        <p:spPr>
          <a:xfrm>
            <a:off x="2971800" y="3035808"/>
            <a:ext cx="1847088" cy="868680"/>
          </a:xfrm>
          <a:prstGeom prst="rect">
            <a:avLst/>
          </a:prstGeom>
          <a:noFill/>
          <a:ln/>
        </p:spPr>
        <p:txBody>
          <a:bodyPr wrap="square" rtlCol="0" anchor="t"/>
          <a:lstStyle/>
          <a:p>
            <a:pPr algn="ctr" indent="0" marL="0">
              <a:buNone/>
            </a:pPr>
            <a:r>
              <a:rPr lang="en-US" sz="1000" dirty="0">
                <a:solidFill>
                  <a:srgbClr val="1F2430"/>
                </a:solidFill>
                <a:latin typeface="Meiryo" pitchFamily="34" charset="0"/>
                <a:ea typeface="Meiryo" pitchFamily="34" charset="-122"/>
                <a:cs typeface="Meiryo" pitchFamily="34" charset="-120"/>
              </a:rPr>
              <a:t>継続・BtoBメリット強化（MAU最大化）</a:t>
            </a:r>
            <a:endParaRPr lang="en-US" sz="1000" dirty="0"/>
          </a:p>
        </p:txBody>
      </p:sp>
      <p:sp>
        <p:nvSpPr>
          <p:cNvPr id="19" name="Shape 17"/>
          <p:cNvSpPr/>
          <p:nvPr/>
        </p:nvSpPr>
        <p:spPr>
          <a:xfrm>
            <a:off x="3803904" y="4389120"/>
            <a:ext cx="182880" cy="182880"/>
          </a:xfrm>
          <a:prstGeom prst="ellipse">
            <a:avLst/>
          </a:prstGeom>
          <a:solidFill>
            <a:srgbClr val="7A4FD0"/>
          </a:solidFill>
          <a:ln w="25400">
            <a:solidFill>
              <a:srgbClr val="FFFFFF"/>
            </a:solidFill>
            <a:prstDash val="solid"/>
          </a:ln>
        </p:spPr>
      </p:sp>
      <p:sp>
        <p:nvSpPr>
          <p:cNvPr id="20" name="Text 18"/>
          <p:cNvSpPr/>
          <p:nvPr/>
        </p:nvSpPr>
        <p:spPr>
          <a:xfrm>
            <a:off x="2743200" y="4663440"/>
            <a:ext cx="2304288" cy="320040"/>
          </a:xfrm>
          <a:prstGeom prst="rect">
            <a:avLst/>
          </a:prstGeom>
          <a:noFill/>
          <a:ln/>
        </p:spPr>
        <p:txBody>
          <a:bodyPr wrap="square" rtlCol="0" anchor="ctr"/>
          <a:lstStyle/>
          <a:p>
            <a:pPr algn="ctr" indent="0" marL="0">
              <a:buNone/>
            </a:pPr>
            <a:r>
              <a:rPr lang="en-US" sz="1050" b="1" dirty="0">
                <a:solidFill>
                  <a:srgbClr val="7A4FD0"/>
                </a:solidFill>
                <a:latin typeface="Meiryo" pitchFamily="34" charset="0"/>
                <a:ea typeface="Meiryo" pitchFamily="34" charset="-122"/>
                <a:cs typeface="Meiryo" pitchFamily="34" charset="-120"/>
              </a:rPr>
              <a:t>2025/8–10</a:t>
            </a:r>
            <a:endParaRPr lang="en-US" sz="1050" dirty="0"/>
          </a:p>
        </p:txBody>
      </p:sp>
      <p:sp>
        <p:nvSpPr>
          <p:cNvPr id="21" name="Shape 19"/>
          <p:cNvSpPr/>
          <p:nvPr/>
        </p:nvSpPr>
        <p:spPr>
          <a:xfrm>
            <a:off x="5120640" y="2011680"/>
            <a:ext cx="2121408" cy="2194560"/>
          </a:xfrm>
          <a:prstGeom prst="roundRect">
            <a:avLst>
              <a:gd name="adj" fmla="val 3448"/>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2" name="Shape 20"/>
          <p:cNvSpPr/>
          <p:nvPr/>
        </p:nvSpPr>
        <p:spPr>
          <a:xfrm>
            <a:off x="5120640" y="2011680"/>
            <a:ext cx="2121408" cy="457200"/>
          </a:xfrm>
          <a:prstGeom prst="rect">
            <a:avLst/>
          </a:prstGeom>
          <a:solidFill>
            <a:srgbClr val="1F2430"/>
          </a:solidFill>
          <a:ln/>
        </p:spPr>
      </p:sp>
      <p:sp>
        <p:nvSpPr>
          <p:cNvPr id="23" name="Text 21"/>
          <p:cNvSpPr/>
          <p:nvPr/>
        </p:nvSpPr>
        <p:spPr>
          <a:xfrm>
            <a:off x="5120640" y="2011680"/>
            <a:ext cx="2121408" cy="45720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Phase 2</a:t>
            </a:r>
            <a:endParaRPr lang="en-US" sz="1300" dirty="0"/>
          </a:p>
        </p:txBody>
      </p:sp>
      <p:sp>
        <p:nvSpPr>
          <p:cNvPr id="24" name="Shape 22"/>
          <p:cNvSpPr/>
          <p:nvPr/>
        </p:nvSpPr>
        <p:spPr>
          <a:xfrm>
            <a:off x="5678424" y="2606040"/>
            <a:ext cx="1005840" cy="310896"/>
          </a:xfrm>
          <a:prstGeom prst="roundRect">
            <a:avLst>
              <a:gd name="adj" fmla="val 50000"/>
            </a:avLst>
          </a:prstGeom>
          <a:solidFill>
            <a:srgbClr val="F4F5F8"/>
          </a:solidFill>
          <a:ln/>
        </p:spPr>
      </p:sp>
      <p:sp>
        <p:nvSpPr>
          <p:cNvPr id="25" name="Text 23"/>
          <p:cNvSpPr/>
          <p:nvPr/>
        </p:nvSpPr>
        <p:spPr>
          <a:xfrm>
            <a:off x="5678424" y="2606040"/>
            <a:ext cx="1005840" cy="310896"/>
          </a:xfrm>
          <a:prstGeom prst="rect">
            <a:avLst/>
          </a:prstGeom>
          <a:noFill/>
          <a:ln/>
        </p:spPr>
        <p:txBody>
          <a:bodyPr wrap="square" rtlCol="0" anchor="ctr"/>
          <a:lstStyle/>
          <a:p>
            <a:pPr algn="ctr" indent="0" marL="0">
              <a:buNone/>
            </a:pPr>
            <a:r>
              <a:rPr lang="en-US" sz="950" b="1" dirty="0">
                <a:solidFill>
                  <a:srgbClr val="1F2430"/>
                </a:solidFill>
                <a:latin typeface="Meiryo" pitchFamily="34" charset="0"/>
                <a:ea typeface="Meiryo" pitchFamily="34" charset="-122"/>
                <a:cs typeface="Meiryo" pitchFamily="34" charset="-120"/>
              </a:rPr>
              <a:t>基盤化</a:t>
            </a:r>
            <a:endParaRPr lang="en-US" sz="950" dirty="0"/>
          </a:p>
        </p:txBody>
      </p:sp>
      <p:sp>
        <p:nvSpPr>
          <p:cNvPr id="26" name="Text 24"/>
          <p:cNvSpPr/>
          <p:nvPr/>
        </p:nvSpPr>
        <p:spPr>
          <a:xfrm>
            <a:off x="5257800" y="3035808"/>
            <a:ext cx="1847088" cy="868680"/>
          </a:xfrm>
          <a:prstGeom prst="rect">
            <a:avLst/>
          </a:prstGeom>
          <a:noFill/>
          <a:ln/>
        </p:spPr>
        <p:txBody>
          <a:bodyPr wrap="square" rtlCol="0" anchor="t"/>
          <a:lstStyle/>
          <a:p>
            <a:pPr algn="ctr" indent="0" marL="0">
              <a:buNone/>
            </a:pPr>
            <a:r>
              <a:rPr lang="en-US" sz="1000" dirty="0">
                <a:solidFill>
                  <a:srgbClr val="1F2430"/>
                </a:solidFill>
                <a:latin typeface="Meiryo" pitchFamily="34" charset="0"/>
                <a:ea typeface="Meiryo" pitchFamily="34" charset="-122"/>
                <a:cs typeface="Meiryo" pitchFamily="34" charset="-120"/>
              </a:rPr>
              <a:t>独自PF化・エンゲージ・API提供</a:t>
            </a:r>
            <a:endParaRPr lang="en-US" sz="1000" dirty="0"/>
          </a:p>
        </p:txBody>
      </p:sp>
      <p:sp>
        <p:nvSpPr>
          <p:cNvPr id="27" name="Shape 25"/>
          <p:cNvSpPr/>
          <p:nvPr/>
        </p:nvSpPr>
        <p:spPr>
          <a:xfrm>
            <a:off x="6089904" y="4389120"/>
            <a:ext cx="182880" cy="182880"/>
          </a:xfrm>
          <a:prstGeom prst="ellipse">
            <a:avLst/>
          </a:prstGeom>
          <a:solidFill>
            <a:srgbClr val="1F2430"/>
          </a:solidFill>
          <a:ln w="25400">
            <a:solidFill>
              <a:srgbClr val="FFFFFF"/>
            </a:solidFill>
            <a:prstDash val="solid"/>
          </a:ln>
        </p:spPr>
      </p:sp>
      <p:sp>
        <p:nvSpPr>
          <p:cNvPr id="28" name="Text 26"/>
          <p:cNvSpPr/>
          <p:nvPr/>
        </p:nvSpPr>
        <p:spPr>
          <a:xfrm>
            <a:off x="5029200" y="4663440"/>
            <a:ext cx="2304288" cy="320040"/>
          </a:xfrm>
          <a:prstGeom prst="rect">
            <a:avLst/>
          </a:prstGeom>
          <a:noFill/>
          <a:ln/>
        </p:spPr>
        <p:txBody>
          <a:bodyPr wrap="square" rtlCol="0" anchor="ctr"/>
          <a:lstStyle/>
          <a:p>
            <a:pPr algn="ctr" indent="0" marL="0">
              <a:buNone/>
            </a:pPr>
            <a:r>
              <a:rPr lang="en-US" sz="1050" b="1" dirty="0">
                <a:solidFill>
                  <a:srgbClr val="1F2430"/>
                </a:solidFill>
                <a:latin typeface="Meiryo" pitchFamily="34" charset="0"/>
                <a:ea typeface="Meiryo" pitchFamily="34" charset="-122"/>
                <a:cs typeface="Meiryo" pitchFamily="34" charset="-120"/>
              </a:rPr>
              <a:t>2025/11</a:t>
            </a:r>
            <a:endParaRPr lang="en-US" sz="1050" dirty="0"/>
          </a:p>
        </p:txBody>
      </p:sp>
      <p:sp>
        <p:nvSpPr>
          <p:cNvPr id="29" name="Shape 27"/>
          <p:cNvSpPr/>
          <p:nvPr/>
        </p:nvSpPr>
        <p:spPr>
          <a:xfrm>
            <a:off x="7406640" y="2011680"/>
            <a:ext cx="2121408" cy="2194560"/>
          </a:xfrm>
          <a:prstGeom prst="roundRect">
            <a:avLst>
              <a:gd name="adj" fmla="val 3448"/>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30" name="Shape 28"/>
          <p:cNvSpPr/>
          <p:nvPr/>
        </p:nvSpPr>
        <p:spPr>
          <a:xfrm>
            <a:off x="7406640" y="2011680"/>
            <a:ext cx="2121408" cy="457200"/>
          </a:xfrm>
          <a:prstGeom prst="rect">
            <a:avLst/>
          </a:prstGeom>
          <a:solidFill>
            <a:srgbClr val="C79A3A"/>
          </a:solidFill>
          <a:ln/>
        </p:spPr>
      </p:sp>
      <p:sp>
        <p:nvSpPr>
          <p:cNvPr id="31" name="Text 29"/>
          <p:cNvSpPr/>
          <p:nvPr/>
        </p:nvSpPr>
        <p:spPr>
          <a:xfrm>
            <a:off x="7406640" y="2011680"/>
            <a:ext cx="2121408" cy="45720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Phase 3</a:t>
            </a:r>
            <a:endParaRPr lang="en-US" sz="1300" dirty="0"/>
          </a:p>
        </p:txBody>
      </p:sp>
      <p:sp>
        <p:nvSpPr>
          <p:cNvPr id="32" name="Shape 30"/>
          <p:cNvSpPr/>
          <p:nvPr/>
        </p:nvSpPr>
        <p:spPr>
          <a:xfrm>
            <a:off x="7964424" y="2606040"/>
            <a:ext cx="1005840" cy="310896"/>
          </a:xfrm>
          <a:prstGeom prst="roundRect">
            <a:avLst>
              <a:gd name="adj" fmla="val 50000"/>
            </a:avLst>
          </a:prstGeom>
          <a:solidFill>
            <a:srgbClr val="F4F5F8"/>
          </a:solidFill>
          <a:ln/>
        </p:spPr>
      </p:sp>
      <p:sp>
        <p:nvSpPr>
          <p:cNvPr id="33" name="Text 31"/>
          <p:cNvSpPr/>
          <p:nvPr/>
        </p:nvSpPr>
        <p:spPr>
          <a:xfrm>
            <a:off x="7964424" y="2606040"/>
            <a:ext cx="1005840" cy="310896"/>
          </a:xfrm>
          <a:prstGeom prst="rect">
            <a:avLst/>
          </a:prstGeom>
          <a:noFill/>
          <a:ln/>
        </p:spPr>
        <p:txBody>
          <a:bodyPr wrap="square" rtlCol="0" anchor="ctr"/>
          <a:lstStyle/>
          <a:p>
            <a:pPr algn="ctr" indent="0" marL="0">
              <a:buNone/>
            </a:pPr>
            <a:r>
              <a:rPr lang="en-US" sz="950" b="1" dirty="0">
                <a:solidFill>
                  <a:srgbClr val="C79A3A"/>
                </a:solidFill>
                <a:latin typeface="Meiryo" pitchFamily="34" charset="0"/>
                <a:ea typeface="Meiryo" pitchFamily="34" charset="-122"/>
                <a:cs typeface="Meiryo" pitchFamily="34" charset="-120"/>
              </a:rPr>
              <a:t>連携</a:t>
            </a:r>
            <a:endParaRPr lang="en-US" sz="950" dirty="0"/>
          </a:p>
        </p:txBody>
      </p:sp>
      <p:sp>
        <p:nvSpPr>
          <p:cNvPr id="34" name="Text 32"/>
          <p:cNvSpPr/>
          <p:nvPr/>
        </p:nvSpPr>
        <p:spPr>
          <a:xfrm>
            <a:off x="7543800" y="3035808"/>
            <a:ext cx="1847088" cy="868680"/>
          </a:xfrm>
          <a:prstGeom prst="rect">
            <a:avLst/>
          </a:prstGeom>
          <a:noFill/>
          <a:ln/>
        </p:spPr>
        <p:txBody>
          <a:bodyPr wrap="square" rtlCol="0" anchor="t"/>
          <a:lstStyle/>
          <a:p>
            <a:pPr algn="ctr" indent="0" marL="0">
              <a:buNone/>
            </a:pPr>
            <a:r>
              <a:rPr lang="en-US" sz="1000" dirty="0">
                <a:solidFill>
                  <a:srgbClr val="1F2430"/>
                </a:solidFill>
                <a:latin typeface="Meiryo" pitchFamily="34" charset="0"/>
                <a:ea typeface="Meiryo" pitchFamily="34" charset="-122"/>
                <a:cs typeface="Meiryo" pitchFamily="34" charset="-120"/>
              </a:rPr>
              <a:t>ゲーム連携自動化・外部課金・KPI</a:t>
            </a:r>
            <a:endParaRPr lang="en-US" sz="1000" dirty="0"/>
          </a:p>
        </p:txBody>
      </p:sp>
      <p:sp>
        <p:nvSpPr>
          <p:cNvPr id="35" name="Shape 33"/>
          <p:cNvSpPr/>
          <p:nvPr/>
        </p:nvSpPr>
        <p:spPr>
          <a:xfrm>
            <a:off x="8375904" y="4389120"/>
            <a:ext cx="182880" cy="182880"/>
          </a:xfrm>
          <a:prstGeom prst="ellipse">
            <a:avLst/>
          </a:prstGeom>
          <a:solidFill>
            <a:srgbClr val="C79A3A"/>
          </a:solidFill>
          <a:ln w="25400">
            <a:solidFill>
              <a:srgbClr val="FFFFFF"/>
            </a:solidFill>
            <a:prstDash val="solid"/>
          </a:ln>
        </p:spPr>
      </p:sp>
      <p:sp>
        <p:nvSpPr>
          <p:cNvPr id="36" name="Text 34"/>
          <p:cNvSpPr/>
          <p:nvPr/>
        </p:nvSpPr>
        <p:spPr>
          <a:xfrm>
            <a:off x="7315200" y="4663440"/>
            <a:ext cx="2304288" cy="320040"/>
          </a:xfrm>
          <a:prstGeom prst="rect">
            <a:avLst/>
          </a:prstGeom>
          <a:noFill/>
          <a:ln/>
        </p:spPr>
        <p:txBody>
          <a:bodyPr wrap="square" rtlCol="0" anchor="ctr"/>
          <a:lstStyle/>
          <a:p>
            <a:pPr algn="ctr" indent="0" marL="0">
              <a:buNone/>
            </a:pPr>
            <a:r>
              <a:rPr lang="en-US" sz="1050" b="1" dirty="0">
                <a:solidFill>
                  <a:srgbClr val="C79A3A"/>
                </a:solidFill>
                <a:latin typeface="Meiryo" pitchFamily="34" charset="0"/>
                <a:ea typeface="Meiryo" pitchFamily="34" charset="-122"/>
                <a:cs typeface="Meiryo" pitchFamily="34" charset="-120"/>
              </a:rPr>
              <a:t>2026/3</a:t>
            </a:r>
            <a:endParaRPr lang="en-US" sz="1050" dirty="0"/>
          </a:p>
        </p:txBody>
      </p:sp>
      <p:sp>
        <p:nvSpPr>
          <p:cNvPr id="37" name="Shape 35"/>
          <p:cNvSpPr/>
          <p:nvPr/>
        </p:nvSpPr>
        <p:spPr>
          <a:xfrm>
            <a:off x="9692640" y="2011680"/>
            <a:ext cx="2121408" cy="2194560"/>
          </a:xfrm>
          <a:prstGeom prst="roundRect">
            <a:avLst>
              <a:gd name="adj" fmla="val 3448"/>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38" name="Shape 36"/>
          <p:cNvSpPr/>
          <p:nvPr/>
        </p:nvSpPr>
        <p:spPr>
          <a:xfrm>
            <a:off x="9692640" y="2011680"/>
            <a:ext cx="2121408" cy="457200"/>
          </a:xfrm>
          <a:prstGeom prst="rect">
            <a:avLst/>
          </a:prstGeom>
          <a:solidFill>
            <a:srgbClr val="5A6072"/>
          </a:solidFill>
          <a:ln/>
        </p:spPr>
      </p:sp>
      <p:sp>
        <p:nvSpPr>
          <p:cNvPr id="39" name="Text 37"/>
          <p:cNvSpPr/>
          <p:nvPr/>
        </p:nvSpPr>
        <p:spPr>
          <a:xfrm>
            <a:off x="9692640" y="2011680"/>
            <a:ext cx="2121408" cy="45720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Phase 4+</a:t>
            </a:r>
            <a:endParaRPr lang="en-US" sz="1300" dirty="0"/>
          </a:p>
        </p:txBody>
      </p:sp>
      <p:sp>
        <p:nvSpPr>
          <p:cNvPr id="40" name="Shape 38"/>
          <p:cNvSpPr/>
          <p:nvPr/>
        </p:nvSpPr>
        <p:spPr>
          <a:xfrm>
            <a:off x="10250424" y="2606040"/>
            <a:ext cx="1005840" cy="310896"/>
          </a:xfrm>
          <a:prstGeom prst="roundRect">
            <a:avLst>
              <a:gd name="adj" fmla="val 50000"/>
            </a:avLst>
          </a:prstGeom>
          <a:solidFill>
            <a:srgbClr val="F4F5F8"/>
          </a:solidFill>
          <a:ln/>
        </p:spPr>
      </p:sp>
      <p:sp>
        <p:nvSpPr>
          <p:cNvPr id="41" name="Text 39"/>
          <p:cNvSpPr/>
          <p:nvPr/>
        </p:nvSpPr>
        <p:spPr>
          <a:xfrm>
            <a:off x="10250424" y="2606040"/>
            <a:ext cx="1005840" cy="310896"/>
          </a:xfrm>
          <a:prstGeom prst="rect">
            <a:avLst/>
          </a:prstGeom>
          <a:noFill/>
          <a:ln/>
        </p:spPr>
        <p:txBody>
          <a:bodyPr wrap="square" rtlCol="0" anchor="ctr"/>
          <a:lstStyle/>
          <a:p>
            <a:pPr algn="ctr" indent="0" marL="0">
              <a:buNone/>
            </a:pPr>
            <a:r>
              <a:rPr lang="en-US" sz="950" b="1" dirty="0">
                <a:solidFill>
                  <a:srgbClr val="5A6072"/>
                </a:solidFill>
                <a:latin typeface="Meiryo" pitchFamily="34" charset="0"/>
                <a:ea typeface="Meiryo" pitchFamily="34" charset="-122"/>
                <a:cs typeface="Meiryo" pitchFamily="34" charset="-120"/>
              </a:rPr>
              <a:t>Web3</a:t>
            </a:r>
            <a:endParaRPr lang="en-US" sz="950" dirty="0"/>
          </a:p>
        </p:txBody>
      </p:sp>
      <p:sp>
        <p:nvSpPr>
          <p:cNvPr id="42" name="Text 40"/>
          <p:cNvSpPr/>
          <p:nvPr/>
        </p:nvSpPr>
        <p:spPr>
          <a:xfrm>
            <a:off x="9829800" y="3035808"/>
            <a:ext cx="1847088" cy="868680"/>
          </a:xfrm>
          <a:prstGeom prst="rect">
            <a:avLst/>
          </a:prstGeom>
          <a:noFill/>
          <a:ln/>
        </p:spPr>
        <p:txBody>
          <a:bodyPr wrap="square" rtlCol="0" anchor="t"/>
          <a:lstStyle/>
          <a:p>
            <a:pPr algn="ctr" indent="0" marL="0">
              <a:buNone/>
            </a:pPr>
            <a:r>
              <a:rPr lang="en-US" sz="1000" dirty="0">
                <a:solidFill>
                  <a:srgbClr val="1F2430"/>
                </a:solidFill>
                <a:latin typeface="Meiryo" pitchFamily="34" charset="0"/>
                <a:ea typeface="Meiryo" pitchFamily="34" charset="-122"/>
                <a:cs typeface="Meiryo" pitchFamily="34" charset="-120"/>
              </a:rPr>
              <a:t>NFT/仮想通貨化・自社スタジオ</a:t>
            </a:r>
            <a:endParaRPr lang="en-US" sz="1000" dirty="0"/>
          </a:p>
        </p:txBody>
      </p:sp>
      <p:sp>
        <p:nvSpPr>
          <p:cNvPr id="43" name="Shape 41"/>
          <p:cNvSpPr/>
          <p:nvPr/>
        </p:nvSpPr>
        <p:spPr>
          <a:xfrm>
            <a:off x="10661904" y="4389120"/>
            <a:ext cx="182880" cy="182880"/>
          </a:xfrm>
          <a:prstGeom prst="ellipse">
            <a:avLst/>
          </a:prstGeom>
          <a:solidFill>
            <a:srgbClr val="5A6072"/>
          </a:solidFill>
          <a:ln w="25400">
            <a:solidFill>
              <a:srgbClr val="FFFFFF"/>
            </a:solidFill>
            <a:prstDash val="solid"/>
          </a:ln>
        </p:spPr>
      </p:sp>
      <p:sp>
        <p:nvSpPr>
          <p:cNvPr id="44" name="Text 42"/>
          <p:cNvSpPr/>
          <p:nvPr/>
        </p:nvSpPr>
        <p:spPr>
          <a:xfrm>
            <a:off x="9601200" y="4663440"/>
            <a:ext cx="2304288" cy="320040"/>
          </a:xfrm>
          <a:prstGeom prst="rect">
            <a:avLst/>
          </a:prstGeom>
          <a:noFill/>
          <a:ln/>
        </p:spPr>
        <p:txBody>
          <a:bodyPr wrap="square" rtlCol="0" anchor="ctr"/>
          <a:lstStyle/>
          <a:p>
            <a:pPr algn="ctr" indent="0" marL="0">
              <a:buNone/>
            </a:pPr>
            <a:r>
              <a:rPr lang="en-US" sz="1050" b="1" dirty="0">
                <a:solidFill>
                  <a:srgbClr val="5A6072"/>
                </a:solidFill>
                <a:latin typeface="Meiryo" pitchFamily="34" charset="0"/>
                <a:ea typeface="Meiryo" pitchFamily="34" charset="-122"/>
                <a:cs typeface="Meiryo" pitchFamily="34" charset="-120"/>
              </a:rPr>
              <a:t>2027–</a:t>
            </a:r>
            <a:endParaRPr lang="en-US" sz="1050" dirty="0"/>
          </a:p>
        </p:txBody>
      </p:sp>
      <p:sp>
        <p:nvSpPr>
          <p:cNvPr id="45" name="Shape 43"/>
          <p:cNvSpPr/>
          <p:nvPr/>
        </p:nvSpPr>
        <p:spPr>
          <a:xfrm>
            <a:off x="548640" y="5486400"/>
            <a:ext cx="11064240" cy="640080"/>
          </a:xfrm>
          <a:prstGeom prst="roundRect">
            <a:avLst>
              <a:gd name="adj" fmla="val 11429"/>
            </a:avLst>
          </a:prstGeom>
          <a:solidFill>
            <a:srgbClr val="E7E9FB"/>
          </a:solidFill>
          <a:ln/>
        </p:spPr>
      </p:sp>
      <p:sp>
        <p:nvSpPr>
          <p:cNvPr id="46" name="Text 44"/>
          <p:cNvSpPr/>
          <p:nvPr/>
        </p:nvSpPr>
        <p:spPr>
          <a:xfrm>
            <a:off x="822960" y="5486400"/>
            <a:ext cx="10515600" cy="640080"/>
          </a:xfrm>
          <a:prstGeom prst="rect">
            <a:avLst/>
          </a:prstGeom>
          <a:noFill/>
          <a:ln/>
        </p:spPr>
        <p:txBody>
          <a:bodyPr wrap="square" rtlCol="0" anchor="ctr"/>
          <a:lstStyle/>
          <a:p>
            <a:pPr indent="0" marL="0">
              <a:buNone/>
            </a:pPr>
            <a:r>
              <a:rPr lang="en-US" sz="1150" b="1" dirty="0">
                <a:solidFill>
                  <a:srgbClr val="3B4CCA"/>
                </a:solidFill>
                <a:latin typeface="Meiryo" pitchFamily="34" charset="0"/>
                <a:ea typeface="Meiryo" pitchFamily="34" charset="-122"/>
                <a:cs typeface="Meiryo" pitchFamily="34" charset="-120"/>
              </a:rPr>
              <a:t>本提案のスコープ：</a:t>
            </a:r>
            <a:pPr indent="0" marL="0">
              <a:buNone/>
            </a:pPr>
            <a:r>
              <a:rPr lang="en-US" sz="1150" dirty="0">
                <a:solidFill>
                  <a:srgbClr val="1F2430"/>
                </a:solidFill>
                <a:latin typeface="Meiryo" pitchFamily="34" charset="0"/>
                <a:ea typeface="Meiryo" pitchFamily="34" charset="-122"/>
                <a:cs typeface="Meiryo" pitchFamily="34" charset="-120"/>
              </a:rPr>
              <a:t>Phase 1（必要に応じ Phase 1.5 の一部）。以降は将来を阻害しないデータ設計のみ考慮。</a:t>
            </a:r>
            <a:endParaRPr lang="en-US" sz="1150" dirty="0"/>
          </a:p>
        </p:txBody>
      </p:sp>
      <p:sp>
        <p:nvSpPr>
          <p:cNvPr id="47" name="Text 45"/>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48" name="Text 46"/>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49" name="Text 47"/>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PHASE 1 SCOPE</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Phase 1 スコープ全体像</a:t>
            </a:r>
            <a:endParaRPr lang="en-US" sz="2500" dirty="0"/>
          </a:p>
        </p:txBody>
      </p:sp>
      <p:sp>
        <p:nvSpPr>
          <p:cNvPr id="4" name="Shape 2"/>
          <p:cNvSpPr/>
          <p:nvPr/>
        </p:nvSpPr>
        <p:spPr>
          <a:xfrm>
            <a:off x="548640" y="1508760"/>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5" name="Shape 3"/>
          <p:cNvSpPr/>
          <p:nvPr/>
        </p:nvSpPr>
        <p:spPr>
          <a:xfrm>
            <a:off x="548640" y="1508760"/>
            <a:ext cx="2697480" cy="54864"/>
          </a:xfrm>
          <a:prstGeom prst="rect">
            <a:avLst/>
          </a:prstGeom>
          <a:solidFill>
            <a:srgbClr val="3B4CCA"/>
          </a:solidFill>
          <a:ln/>
        </p:spPr>
      </p:sp>
      <p:sp>
        <p:nvSpPr>
          <p:cNvPr id="6" name="Text 4"/>
          <p:cNvSpPr/>
          <p:nvPr/>
        </p:nvSpPr>
        <p:spPr>
          <a:xfrm>
            <a:off x="777240" y="1673352"/>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認証・基盤</a:t>
            </a:r>
            <a:endParaRPr lang="en-US" sz="1300" dirty="0"/>
          </a:p>
        </p:txBody>
      </p:sp>
      <p:sp>
        <p:nvSpPr>
          <p:cNvPr id="7" name="Text 5"/>
          <p:cNvSpPr/>
          <p:nvPr/>
        </p:nvSpPr>
        <p:spPr>
          <a:xfrm>
            <a:off x="804672" y="2112264"/>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アカウント作成/ログイン</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OAuth(Google/Apple/LINE)</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PWリセット</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各種許諾/アクセスロック</a:t>
            </a:r>
            <a:endParaRPr lang="en-US" sz="980" dirty="0"/>
          </a:p>
        </p:txBody>
      </p:sp>
      <p:sp>
        <p:nvSpPr>
          <p:cNvPr id="8" name="Shape 6"/>
          <p:cNvSpPr/>
          <p:nvPr/>
        </p:nvSpPr>
        <p:spPr>
          <a:xfrm>
            <a:off x="3364992" y="1508760"/>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9" name="Shape 7"/>
          <p:cNvSpPr/>
          <p:nvPr/>
        </p:nvSpPr>
        <p:spPr>
          <a:xfrm>
            <a:off x="3364992" y="1508760"/>
            <a:ext cx="2697480" cy="54864"/>
          </a:xfrm>
          <a:prstGeom prst="rect">
            <a:avLst/>
          </a:prstGeom>
          <a:solidFill>
            <a:srgbClr val="3B4CCA"/>
          </a:solidFill>
          <a:ln/>
        </p:spPr>
      </p:sp>
      <p:sp>
        <p:nvSpPr>
          <p:cNvPr id="10" name="Text 8"/>
          <p:cNvSpPr/>
          <p:nvPr/>
        </p:nvSpPr>
        <p:spPr>
          <a:xfrm>
            <a:off x="3593592" y="1673352"/>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マイページ</a:t>
            </a:r>
            <a:endParaRPr lang="en-US" sz="1300" dirty="0"/>
          </a:p>
        </p:txBody>
      </p:sp>
      <p:sp>
        <p:nvSpPr>
          <p:cNvPr id="11" name="Text 9"/>
          <p:cNvSpPr/>
          <p:nvPr/>
        </p:nvSpPr>
        <p:spPr>
          <a:xfrm>
            <a:off x="3621024" y="2112264"/>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プロフィール設定</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ログアウト/退会</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通知/メールボックス</a:t>
            </a:r>
            <a:endParaRPr lang="en-US" sz="980" dirty="0"/>
          </a:p>
        </p:txBody>
      </p:sp>
      <p:sp>
        <p:nvSpPr>
          <p:cNvPr id="12" name="Shape 10"/>
          <p:cNvSpPr/>
          <p:nvPr/>
        </p:nvSpPr>
        <p:spPr>
          <a:xfrm>
            <a:off x="6181344" y="1508760"/>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3" name="Shape 11"/>
          <p:cNvSpPr/>
          <p:nvPr/>
        </p:nvSpPr>
        <p:spPr>
          <a:xfrm>
            <a:off x="6181344" y="1508760"/>
            <a:ext cx="2697480" cy="54864"/>
          </a:xfrm>
          <a:prstGeom prst="rect">
            <a:avLst/>
          </a:prstGeom>
          <a:solidFill>
            <a:srgbClr val="3B4CCA"/>
          </a:solidFill>
          <a:ln/>
        </p:spPr>
      </p:sp>
      <p:sp>
        <p:nvSpPr>
          <p:cNvPr id="14" name="Text 12"/>
          <p:cNvSpPr/>
          <p:nvPr/>
        </p:nvSpPr>
        <p:spPr>
          <a:xfrm>
            <a:off x="6409944" y="1673352"/>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ホーム</a:t>
            </a:r>
            <a:endParaRPr lang="en-US" sz="1300" dirty="0"/>
          </a:p>
        </p:txBody>
      </p:sp>
      <p:sp>
        <p:nvSpPr>
          <p:cNvPr id="15" name="Text 13"/>
          <p:cNvSpPr/>
          <p:nvPr/>
        </p:nvSpPr>
        <p:spPr>
          <a:xfrm>
            <a:off x="6437376" y="2112264"/>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ニュースフィード</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広告バナー枠</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お知らせ記事作成</a:t>
            </a:r>
            <a:endParaRPr lang="en-US" sz="980" dirty="0"/>
          </a:p>
        </p:txBody>
      </p:sp>
      <p:sp>
        <p:nvSpPr>
          <p:cNvPr id="16" name="Shape 14"/>
          <p:cNvSpPr/>
          <p:nvPr/>
        </p:nvSpPr>
        <p:spPr>
          <a:xfrm>
            <a:off x="8997696" y="1508760"/>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7" name="Shape 15"/>
          <p:cNvSpPr/>
          <p:nvPr/>
        </p:nvSpPr>
        <p:spPr>
          <a:xfrm>
            <a:off x="8997696" y="1508760"/>
            <a:ext cx="2697480" cy="54864"/>
          </a:xfrm>
          <a:prstGeom prst="rect">
            <a:avLst/>
          </a:prstGeom>
          <a:solidFill>
            <a:srgbClr val="3B4CCA"/>
          </a:solidFill>
          <a:ln/>
        </p:spPr>
      </p:sp>
      <p:sp>
        <p:nvSpPr>
          <p:cNvPr id="18" name="Text 16"/>
          <p:cNvSpPr/>
          <p:nvPr/>
        </p:nvSpPr>
        <p:spPr>
          <a:xfrm>
            <a:off x="9226296" y="1673352"/>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コミュニケーション</a:t>
            </a:r>
            <a:endParaRPr lang="en-US" sz="1300" dirty="0"/>
          </a:p>
        </p:txBody>
      </p:sp>
      <p:sp>
        <p:nvSpPr>
          <p:cNvPr id="19" name="Text 17"/>
          <p:cNvSpPr/>
          <p:nvPr/>
        </p:nvSpPr>
        <p:spPr>
          <a:xfrm>
            <a:off x="9253728" y="2112264"/>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トピック作成/投稿/返信</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リアクション</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ポイント賭け質問→報酬</a:t>
            </a:r>
            <a:endParaRPr lang="en-US" sz="980" dirty="0"/>
          </a:p>
        </p:txBody>
      </p:sp>
      <p:sp>
        <p:nvSpPr>
          <p:cNvPr id="20" name="Shape 18"/>
          <p:cNvSpPr/>
          <p:nvPr/>
        </p:nvSpPr>
        <p:spPr>
          <a:xfrm>
            <a:off x="548640" y="3648456"/>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1" name="Shape 19"/>
          <p:cNvSpPr/>
          <p:nvPr/>
        </p:nvSpPr>
        <p:spPr>
          <a:xfrm>
            <a:off x="548640" y="3648456"/>
            <a:ext cx="2697480" cy="54864"/>
          </a:xfrm>
          <a:prstGeom prst="rect">
            <a:avLst/>
          </a:prstGeom>
          <a:solidFill>
            <a:srgbClr val="3B4CCA"/>
          </a:solidFill>
          <a:ln/>
        </p:spPr>
      </p:sp>
      <p:sp>
        <p:nvSpPr>
          <p:cNvPr id="22" name="Text 20"/>
          <p:cNvSpPr/>
          <p:nvPr/>
        </p:nvSpPr>
        <p:spPr>
          <a:xfrm>
            <a:off x="777240" y="3813048"/>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ミッション</a:t>
            </a:r>
            <a:endParaRPr lang="en-US" sz="1300" dirty="0"/>
          </a:p>
        </p:txBody>
      </p:sp>
      <p:sp>
        <p:nvSpPr>
          <p:cNvPr id="23" name="Text 21"/>
          <p:cNvSpPr/>
          <p:nvPr/>
        </p:nvSpPr>
        <p:spPr>
          <a:xfrm>
            <a:off x="804672" y="4251960"/>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デイリー/ウィークリー/実績</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期間限定(タイアップ)</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進捗ゲージ/受取演出</a:t>
            </a:r>
            <a:endParaRPr lang="en-US" sz="980" dirty="0"/>
          </a:p>
        </p:txBody>
      </p:sp>
      <p:sp>
        <p:nvSpPr>
          <p:cNvPr id="24" name="Shape 22"/>
          <p:cNvSpPr/>
          <p:nvPr/>
        </p:nvSpPr>
        <p:spPr>
          <a:xfrm>
            <a:off x="3364992" y="3648456"/>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5" name="Shape 23"/>
          <p:cNvSpPr/>
          <p:nvPr/>
        </p:nvSpPr>
        <p:spPr>
          <a:xfrm>
            <a:off x="3364992" y="3648456"/>
            <a:ext cx="2697480" cy="54864"/>
          </a:xfrm>
          <a:prstGeom prst="rect">
            <a:avLst/>
          </a:prstGeom>
          <a:solidFill>
            <a:srgbClr val="3B4CCA"/>
          </a:solidFill>
          <a:ln/>
        </p:spPr>
      </p:sp>
      <p:sp>
        <p:nvSpPr>
          <p:cNvPr id="26" name="Text 24"/>
          <p:cNvSpPr/>
          <p:nvPr/>
        </p:nvSpPr>
        <p:spPr>
          <a:xfrm>
            <a:off x="3593592" y="3813048"/>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ポイント</a:t>
            </a:r>
            <a:endParaRPr lang="en-US" sz="1300" dirty="0"/>
          </a:p>
        </p:txBody>
      </p:sp>
      <p:sp>
        <p:nvSpPr>
          <p:cNvPr id="27" name="Text 25"/>
          <p:cNvSpPr/>
          <p:nvPr/>
        </p:nvSpPr>
        <p:spPr>
          <a:xfrm>
            <a:off x="3621024" y="4251960"/>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獲得</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交換申請</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履歴/月間推移</a:t>
            </a:r>
            <a:endParaRPr lang="en-US" sz="980" dirty="0"/>
          </a:p>
        </p:txBody>
      </p:sp>
      <p:sp>
        <p:nvSpPr>
          <p:cNvPr id="28" name="Shape 26"/>
          <p:cNvSpPr/>
          <p:nvPr/>
        </p:nvSpPr>
        <p:spPr>
          <a:xfrm>
            <a:off x="6181344" y="3648456"/>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9" name="Shape 27"/>
          <p:cNvSpPr/>
          <p:nvPr/>
        </p:nvSpPr>
        <p:spPr>
          <a:xfrm>
            <a:off x="6181344" y="3648456"/>
            <a:ext cx="2697480" cy="54864"/>
          </a:xfrm>
          <a:prstGeom prst="rect">
            <a:avLst/>
          </a:prstGeom>
          <a:solidFill>
            <a:srgbClr val="3B4CCA"/>
          </a:solidFill>
          <a:ln/>
        </p:spPr>
      </p:sp>
      <p:sp>
        <p:nvSpPr>
          <p:cNvPr id="30" name="Text 28"/>
          <p:cNvSpPr/>
          <p:nvPr/>
        </p:nvSpPr>
        <p:spPr>
          <a:xfrm>
            <a:off x="6409944" y="3813048"/>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サポート</a:t>
            </a:r>
            <a:endParaRPr lang="en-US" sz="1300" dirty="0"/>
          </a:p>
        </p:txBody>
      </p:sp>
      <p:sp>
        <p:nvSpPr>
          <p:cNvPr id="31" name="Text 29"/>
          <p:cNvSpPr/>
          <p:nvPr/>
        </p:nvSpPr>
        <p:spPr>
          <a:xfrm>
            <a:off x="6437376" y="4251960"/>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問い合わせフォーム</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ヘルプ/FAQ</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ショートカットメニュー</a:t>
            </a:r>
            <a:endParaRPr lang="en-US" sz="980" dirty="0"/>
          </a:p>
        </p:txBody>
      </p:sp>
      <p:sp>
        <p:nvSpPr>
          <p:cNvPr id="32" name="Shape 30"/>
          <p:cNvSpPr/>
          <p:nvPr/>
        </p:nvSpPr>
        <p:spPr>
          <a:xfrm>
            <a:off x="8997696" y="3648456"/>
            <a:ext cx="2697480" cy="1993392"/>
          </a:xfrm>
          <a:prstGeom prst="roundRect">
            <a:avLst>
              <a:gd name="adj" fmla="val 367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33" name="Shape 31"/>
          <p:cNvSpPr/>
          <p:nvPr/>
        </p:nvSpPr>
        <p:spPr>
          <a:xfrm>
            <a:off x="8997696" y="3648456"/>
            <a:ext cx="2697480" cy="54864"/>
          </a:xfrm>
          <a:prstGeom prst="rect">
            <a:avLst/>
          </a:prstGeom>
          <a:solidFill>
            <a:srgbClr val="3B4CCA"/>
          </a:solidFill>
          <a:ln/>
        </p:spPr>
      </p:sp>
      <p:sp>
        <p:nvSpPr>
          <p:cNvPr id="34" name="Text 32"/>
          <p:cNvSpPr/>
          <p:nvPr/>
        </p:nvSpPr>
        <p:spPr>
          <a:xfrm>
            <a:off x="9226296" y="3813048"/>
            <a:ext cx="233172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運用基盤・管理</a:t>
            </a:r>
            <a:endParaRPr lang="en-US" sz="1300" dirty="0"/>
          </a:p>
        </p:txBody>
      </p:sp>
      <p:sp>
        <p:nvSpPr>
          <p:cNvPr id="35" name="Text 33"/>
          <p:cNvSpPr/>
          <p:nvPr/>
        </p:nvSpPr>
        <p:spPr>
          <a:xfrm>
            <a:off x="9253728" y="4251960"/>
            <a:ext cx="2240280" cy="1261872"/>
          </a:xfrm>
          <a:prstGeom prst="rect">
            <a:avLst/>
          </a:prstGeom>
          <a:noFill/>
          <a:ln/>
        </p:spPr>
        <p:txBody>
          <a:bodyPr wrap="square" rtlCol="0" anchor="t"/>
          <a:lstStyle/>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管理ダッシュボード</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BAN/凍結/マーキング</a:t>
            </a:r>
            <a:endParaRPr lang="en-US" sz="980" dirty="0"/>
          </a:p>
          <a:p>
            <a:pPr marL="127000" indent="-127000">
              <a:spcAft>
                <a:spcPts val="300"/>
              </a:spcAft>
              <a:buSzPct val="100000"/>
              <a:buChar char="•"/>
            </a:pPr>
            <a:r>
              <a:rPr lang="en-US" sz="980" dirty="0">
                <a:solidFill>
                  <a:srgbClr val="1F2430"/>
                </a:solidFill>
                <a:latin typeface="Meiryo" pitchFamily="34" charset="0"/>
                <a:ea typeface="Meiryo" pitchFamily="34" charset="-122"/>
                <a:cs typeface="Meiryo" pitchFamily="34" charset="-120"/>
              </a:rPr>
              <a:t>Push通知/行動分析</a:t>
            </a:r>
            <a:endParaRPr lang="en-US" sz="980" dirty="0"/>
          </a:p>
        </p:txBody>
      </p:sp>
      <p:sp>
        <p:nvSpPr>
          <p:cNvPr id="36" name="Text 34"/>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37" name="Text 35"/>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38" name="Text 36"/>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MVP STRATEGY</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MVP分割の考え方</a:t>
            </a:r>
            <a:endParaRPr lang="en-US" sz="2500" dirty="0"/>
          </a:p>
        </p:txBody>
      </p:sp>
      <p:sp>
        <p:nvSpPr>
          <p:cNvPr id="4" name="Text 2"/>
          <p:cNvSpPr/>
          <p:nvPr/>
        </p:nvSpPr>
        <p:spPr>
          <a:xfrm>
            <a:off x="548640" y="1417320"/>
            <a:ext cx="11247120" cy="457200"/>
          </a:xfrm>
          <a:prstGeom prst="rect">
            <a:avLst/>
          </a:prstGeom>
          <a:noFill/>
          <a:ln/>
        </p:spPr>
        <p:txBody>
          <a:bodyPr wrap="square" rtlCol="0" anchor="ctr"/>
          <a:lstStyle/>
          <a:p>
            <a:pPr indent="0" marL="0">
              <a:buNone/>
            </a:pPr>
            <a:r>
              <a:rPr lang="en-US" sz="1300" dirty="0">
                <a:solidFill>
                  <a:srgbClr val="6B7280"/>
                </a:solidFill>
                <a:latin typeface="Meiryo" pitchFamily="34" charset="0"/>
                <a:ea typeface="Meiryo" pitchFamily="34" charset="-122"/>
                <a:cs typeface="Meiryo" pitchFamily="34" charset="-120"/>
              </a:rPr>
              <a:t>Phase1 を一括ではなく、価値の核から検証可能な4スライスに分割。各MVPは単独でリリース・学習できる状態を目標とする。</a:t>
            </a:r>
            <a:endParaRPr lang="en-US" sz="1300" dirty="0"/>
          </a:p>
        </p:txBody>
      </p:sp>
      <p:sp>
        <p:nvSpPr>
          <p:cNvPr id="5" name="Shape 3"/>
          <p:cNvSpPr/>
          <p:nvPr/>
        </p:nvSpPr>
        <p:spPr>
          <a:xfrm>
            <a:off x="548640" y="2148840"/>
            <a:ext cx="11064240" cy="1051560"/>
          </a:xfrm>
          <a:prstGeom prst="roundRect">
            <a:avLst>
              <a:gd name="adj" fmla="val 695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Shape 4"/>
          <p:cNvSpPr/>
          <p:nvPr/>
        </p:nvSpPr>
        <p:spPr>
          <a:xfrm>
            <a:off x="548640" y="2148840"/>
            <a:ext cx="91440" cy="1051560"/>
          </a:xfrm>
          <a:prstGeom prst="rect">
            <a:avLst/>
          </a:prstGeom>
          <a:solidFill>
            <a:srgbClr val="3B4CCA"/>
          </a:solidFill>
          <a:ln/>
        </p:spPr>
      </p:sp>
      <p:sp>
        <p:nvSpPr>
          <p:cNvPr id="7" name="Text 5"/>
          <p:cNvSpPr/>
          <p:nvPr/>
        </p:nvSpPr>
        <p:spPr>
          <a:xfrm>
            <a:off x="914400" y="2331720"/>
            <a:ext cx="3657600" cy="685800"/>
          </a:xfrm>
          <a:prstGeom prst="rect">
            <a:avLst/>
          </a:prstGeom>
          <a:noFill/>
          <a:ln/>
        </p:spPr>
        <p:txBody>
          <a:bodyPr wrap="square" rtlCol="0" anchor="ctr"/>
          <a:lstStyle/>
          <a:p>
            <a:pPr indent="0" marL="0">
              <a:buNone/>
            </a:pPr>
            <a:r>
              <a:rPr lang="en-US" sz="1500" b="1" dirty="0">
                <a:solidFill>
                  <a:srgbClr val="1F2430"/>
                </a:solidFill>
                <a:latin typeface="Meiryo" pitchFamily="34" charset="0"/>
                <a:ea typeface="Meiryo" pitchFamily="34" charset="-122"/>
                <a:cs typeface="Meiryo" pitchFamily="34" charset="-120"/>
              </a:rPr>
              <a:t>①価値の核を先に固める</a:t>
            </a:r>
            <a:endParaRPr lang="en-US" sz="1500" dirty="0"/>
          </a:p>
        </p:txBody>
      </p:sp>
      <p:sp>
        <p:nvSpPr>
          <p:cNvPr id="8" name="Text 6"/>
          <p:cNvSpPr/>
          <p:nvPr/>
        </p:nvSpPr>
        <p:spPr>
          <a:xfrm>
            <a:off x="4572000" y="2331720"/>
            <a:ext cx="6858000" cy="685800"/>
          </a:xfrm>
          <a:prstGeom prst="rect">
            <a:avLst/>
          </a:prstGeom>
          <a:noFill/>
          <a:ln/>
        </p:spPr>
        <p:txBody>
          <a:bodyPr wrap="square" rtlCol="0" anchor="ctr"/>
          <a:lstStyle/>
          <a:p>
            <a:pPr indent="0" marL="0">
              <a:buNone/>
            </a:pPr>
            <a:r>
              <a:rPr lang="en-US" sz="1150" dirty="0">
                <a:solidFill>
                  <a:srgbClr val="6B7280"/>
                </a:solidFill>
                <a:latin typeface="Meiryo" pitchFamily="34" charset="0"/>
                <a:ea typeface="Meiryo" pitchFamily="34" charset="-122"/>
                <a:cs typeface="Meiryo" pitchFamily="34" charset="-120"/>
              </a:rPr>
              <a:t>「ミッション→ポイント→交換」を最優先で通し、サービスの存在理由を最短で体験可能に（=今回のWF）</a:t>
            </a:r>
            <a:endParaRPr lang="en-US" sz="1150" dirty="0"/>
          </a:p>
        </p:txBody>
      </p:sp>
      <p:sp>
        <p:nvSpPr>
          <p:cNvPr id="9" name="Shape 7"/>
          <p:cNvSpPr/>
          <p:nvPr/>
        </p:nvSpPr>
        <p:spPr>
          <a:xfrm>
            <a:off x="548640" y="3383280"/>
            <a:ext cx="11064240" cy="1051560"/>
          </a:xfrm>
          <a:prstGeom prst="roundRect">
            <a:avLst>
              <a:gd name="adj" fmla="val 695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0" name="Shape 8"/>
          <p:cNvSpPr/>
          <p:nvPr/>
        </p:nvSpPr>
        <p:spPr>
          <a:xfrm>
            <a:off x="548640" y="3383280"/>
            <a:ext cx="91440" cy="1051560"/>
          </a:xfrm>
          <a:prstGeom prst="rect">
            <a:avLst/>
          </a:prstGeom>
          <a:solidFill>
            <a:srgbClr val="7A4FD0"/>
          </a:solidFill>
          <a:ln/>
        </p:spPr>
      </p:sp>
      <p:sp>
        <p:nvSpPr>
          <p:cNvPr id="11" name="Text 9"/>
          <p:cNvSpPr/>
          <p:nvPr/>
        </p:nvSpPr>
        <p:spPr>
          <a:xfrm>
            <a:off x="914400" y="3566160"/>
            <a:ext cx="3657600" cy="685800"/>
          </a:xfrm>
          <a:prstGeom prst="rect">
            <a:avLst/>
          </a:prstGeom>
          <a:noFill/>
          <a:ln/>
        </p:spPr>
        <p:txBody>
          <a:bodyPr wrap="square" rtlCol="0" anchor="ctr"/>
          <a:lstStyle/>
          <a:p>
            <a:pPr indent="0" marL="0">
              <a:buNone/>
            </a:pPr>
            <a:r>
              <a:rPr lang="en-US" sz="1500" b="1" dirty="0">
                <a:solidFill>
                  <a:srgbClr val="1F2430"/>
                </a:solidFill>
                <a:latin typeface="Meiryo" pitchFamily="34" charset="0"/>
                <a:ea typeface="Meiryo" pitchFamily="34" charset="-122"/>
                <a:cs typeface="Meiryo" pitchFamily="34" charset="-120"/>
              </a:rPr>
              <a:t>②縦に薄く通す</a:t>
            </a:r>
            <a:endParaRPr lang="en-US" sz="1500" dirty="0"/>
          </a:p>
        </p:txBody>
      </p:sp>
      <p:sp>
        <p:nvSpPr>
          <p:cNvPr id="12" name="Text 10"/>
          <p:cNvSpPr/>
          <p:nvPr/>
        </p:nvSpPr>
        <p:spPr>
          <a:xfrm>
            <a:off x="4572000" y="3566160"/>
            <a:ext cx="6858000" cy="685800"/>
          </a:xfrm>
          <a:prstGeom prst="rect">
            <a:avLst/>
          </a:prstGeom>
          <a:noFill/>
          <a:ln/>
        </p:spPr>
        <p:txBody>
          <a:bodyPr wrap="square" rtlCol="0" anchor="ctr"/>
          <a:lstStyle/>
          <a:p>
            <a:pPr indent="0" marL="0">
              <a:buNone/>
            </a:pPr>
            <a:r>
              <a:rPr lang="en-US" sz="1150" dirty="0">
                <a:solidFill>
                  <a:srgbClr val="6B7280"/>
                </a:solidFill>
                <a:latin typeface="Meiryo" pitchFamily="34" charset="0"/>
                <a:ea typeface="Meiryo" pitchFamily="34" charset="-122"/>
                <a:cs typeface="Meiryo" pitchFamily="34" charset="-120"/>
              </a:rPr>
              <a:t>各MVPは認証〜DB〜画面まで縦断。横に機能を増やす前に1本動かす</a:t>
            </a:r>
            <a:endParaRPr lang="en-US" sz="1150" dirty="0"/>
          </a:p>
        </p:txBody>
      </p:sp>
      <p:sp>
        <p:nvSpPr>
          <p:cNvPr id="13" name="Shape 11"/>
          <p:cNvSpPr/>
          <p:nvPr/>
        </p:nvSpPr>
        <p:spPr>
          <a:xfrm>
            <a:off x="548640" y="4617720"/>
            <a:ext cx="11064240" cy="1051560"/>
          </a:xfrm>
          <a:prstGeom prst="roundRect">
            <a:avLst>
              <a:gd name="adj" fmla="val 695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4" name="Shape 12"/>
          <p:cNvSpPr/>
          <p:nvPr/>
        </p:nvSpPr>
        <p:spPr>
          <a:xfrm>
            <a:off x="548640" y="4617720"/>
            <a:ext cx="91440" cy="1051560"/>
          </a:xfrm>
          <a:prstGeom prst="rect">
            <a:avLst/>
          </a:prstGeom>
          <a:solidFill>
            <a:srgbClr val="C79A3A"/>
          </a:solidFill>
          <a:ln/>
        </p:spPr>
      </p:sp>
      <p:sp>
        <p:nvSpPr>
          <p:cNvPr id="15" name="Text 13"/>
          <p:cNvSpPr/>
          <p:nvPr/>
        </p:nvSpPr>
        <p:spPr>
          <a:xfrm>
            <a:off x="914400" y="4800600"/>
            <a:ext cx="3657600" cy="685800"/>
          </a:xfrm>
          <a:prstGeom prst="rect">
            <a:avLst/>
          </a:prstGeom>
          <a:noFill/>
          <a:ln/>
        </p:spPr>
        <p:txBody>
          <a:bodyPr wrap="square" rtlCol="0" anchor="ctr"/>
          <a:lstStyle/>
          <a:p>
            <a:pPr indent="0" marL="0">
              <a:buNone/>
            </a:pPr>
            <a:r>
              <a:rPr lang="en-US" sz="1500" b="1" dirty="0">
                <a:solidFill>
                  <a:srgbClr val="1F2430"/>
                </a:solidFill>
                <a:latin typeface="Meiryo" pitchFamily="34" charset="0"/>
                <a:ea typeface="Meiryo" pitchFamily="34" charset="-122"/>
                <a:cs typeface="Meiryo" pitchFamily="34" charset="-120"/>
              </a:rPr>
              <a:t>③学習を組み込む</a:t>
            </a:r>
            <a:endParaRPr lang="en-US" sz="1500" dirty="0"/>
          </a:p>
        </p:txBody>
      </p:sp>
      <p:sp>
        <p:nvSpPr>
          <p:cNvPr id="16" name="Text 14"/>
          <p:cNvSpPr/>
          <p:nvPr/>
        </p:nvSpPr>
        <p:spPr>
          <a:xfrm>
            <a:off x="4572000" y="4800600"/>
            <a:ext cx="6858000" cy="685800"/>
          </a:xfrm>
          <a:prstGeom prst="rect">
            <a:avLst/>
          </a:prstGeom>
          <a:noFill/>
          <a:ln/>
        </p:spPr>
        <p:txBody>
          <a:bodyPr wrap="square" rtlCol="0" anchor="ctr"/>
          <a:lstStyle/>
          <a:p>
            <a:pPr indent="0" marL="0">
              <a:buNone/>
            </a:pPr>
            <a:r>
              <a:rPr lang="en-US" sz="1150" dirty="0">
                <a:solidFill>
                  <a:srgbClr val="6B7280"/>
                </a:solidFill>
                <a:latin typeface="Meiryo" pitchFamily="34" charset="0"/>
                <a:ea typeface="Meiryo" pitchFamily="34" charset="-122"/>
                <a:cs typeface="Meiryo" pitchFamily="34" charset="-120"/>
              </a:rPr>
              <a:t>MVPごとに受け入れ基準とKPIを定義し、次スライスの優先度を更新</a:t>
            </a:r>
            <a:endParaRPr lang="en-US" sz="1150" dirty="0"/>
          </a:p>
        </p:txBody>
      </p:sp>
      <p:sp>
        <p:nvSpPr>
          <p:cNvPr id="17" name="Shape 15"/>
          <p:cNvSpPr/>
          <p:nvPr/>
        </p:nvSpPr>
        <p:spPr>
          <a:xfrm>
            <a:off x="548640" y="5897880"/>
            <a:ext cx="11064240" cy="0"/>
          </a:xfrm>
          <a:prstGeom prst="roundRect">
            <a:avLst/>
          </a:prstGeom>
          <a:solidFill>
            <a:srgbClr val="FFFFFF"/>
          </a:solidFill>
          <a:ln/>
        </p:spPr>
      </p:sp>
      <p:sp>
        <p:nvSpPr>
          <p:cNvPr id="18" name="Text 16"/>
          <p:cNvSpPr/>
          <p:nvPr/>
        </p:nvSpPr>
        <p:spPr>
          <a:xfrm>
            <a:off x="548640" y="5897880"/>
            <a:ext cx="11064240" cy="365760"/>
          </a:xfrm>
          <a:prstGeom prst="rect">
            <a:avLst/>
          </a:prstGeom>
          <a:noFill/>
          <a:ln/>
        </p:spPr>
        <p:txBody>
          <a:bodyPr wrap="square" rtlCol="0" anchor="ctr"/>
          <a:lstStyle/>
          <a:p>
            <a:pPr indent="0" marL="0">
              <a:buNone/>
            </a:pPr>
            <a:r>
              <a:rPr lang="en-US" sz="1100" b="1" dirty="0">
                <a:solidFill>
                  <a:srgbClr val="3B4CCA"/>
                </a:solidFill>
                <a:latin typeface="Meiryo" pitchFamily="34" charset="0"/>
                <a:ea typeface="Meiryo" pitchFamily="34" charset="-122"/>
                <a:cs typeface="Meiryo" pitchFamily="34" charset="-120"/>
              </a:rPr>
              <a:t>対応関係：</a:t>
            </a:r>
            <a:pPr indent="0" marL="0">
              <a:buNone/>
            </a:pPr>
            <a:r>
              <a:rPr lang="en-US" sz="1100" dirty="0">
                <a:solidFill>
                  <a:srgbClr val="1F2430"/>
                </a:solidFill>
                <a:latin typeface="Meiryo" pitchFamily="34" charset="0"/>
                <a:ea typeface="Meiryo" pitchFamily="34" charset="-122"/>
                <a:cs typeface="Meiryo" pitchFamily="34" charset="-120"/>
              </a:rPr>
              <a:t>MVP0–1 ≒ Phase1(MVP) ／ MVP2–3 ≒ Phase1〜1.5。MVP1が本WFの対象範囲。</a:t>
            </a:r>
            <a:endParaRPr lang="en-US" sz="1100" dirty="0"/>
          </a:p>
        </p:txBody>
      </p:sp>
      <p:sp>
        <p:nvSpPr>
          <p:cNvPr id="19" name="Text 17"/>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0" name="Text 18"/>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1" name="Text 19"/>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MVP BREAKDOWN</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MVP分割：マイルストーン</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201400" cy="914400"/>
        </p:xfrm>
        <a:graphic>
          <a:graphicData uri="http://schemas.openxmlformats.org/drawingml/2006/table">
            <a:tbl>
              <a:tblPr/>
              <a:tblGrid>
                <a:gridCol w="1417320"/>
                <a:gridCol w="2148840"/>
                <a:gridCol w="4206240"/>
                <a:gridCol w="2240280"/>
                <a:gridCol w="1188720"/>
              </a:tblGrid>
              <a:tr h="36576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MVP</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ゴール</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主な内容</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受け入れ基準</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時期</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r>
              <a:tr h="914400">
                <a:tc>
                  <a:txBody>
                    <a:bodyPr/>
                    <a:lstStyle/>
                    <a:p>
                      <a:pPr algn="ctr" indent="0" marL="0">
                        <a:buNone/>
                      </a:pPr>
                      <a:r>
                        <a:rPr lang="en-US" sz="950" b="1" dirty="0">
                          <a:solidFill>
                            <a:srgbClr val="3B4CCA"/>
                          </a:solidFill>
                          <a:latin typeface="Meiryo" pitchFamily="34" charset="0"/>
                          <a:ea typeface="Meiryo" pitchFamily="34" charset="-122"/>
                          <a:cs typeface="Meiryo" pitchFamily="34" charset="-120"/>
                        </a:rPr>
                        <a:t>MVP0</a:t>
                      </a:r>
                      <a:endParaRPr lang="en-US" sz="950" dirty="0">
                        <a:latin typeface="Meiryo" charset="0"/>
                        <a:ea typeface="Meiryo" charset="0"/>
                        <a:cs typeface="Meiryo" charset="0"/>
                      </a:endParaRPr>
                    </a:p>
                    <a:p>
                      <a:pPr algn="ctr" indent="0" marL="0">
                        <a:buNone/>
                      </a:pPr>
                      <a:r>
                        <a:rPr lang="en-US" sz="950" b="1" dirty="0">
                          <a:solidFill>
                            <a:srgbClr val="3B4CCA"/>
                          </a:solidFill>
                          <a:latin typeface="Meiryo" pitchFamily="34" charset="0"/>
                          <a:ea typeface="Meiryo" pitchFamily="34" charset="-122"/>
                          <a:cs typeface="Meiryo" pitchFamily="34" charset="-120"/>
                        </a:rPr>
                        <a:t>基盤・認証</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E7E9FB"/>
                    </a:solidFill>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登録→ログインして</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毎日アクセスできる</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スプラッシュ/タイトル、アカウント作成、ログイン、OAuth、PWリセット、マイページ、許諾/アクセスロック、管理者ログイン</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新規登録→ログイン→</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再ログインが通る</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ctr" indent="0" marL="0">
                        <a:buNone/>
                      </a:pPr>
                      <a:r>
                        <a:rPr lang="en-US" sz="950" dirty="0">
                          <a:solidFill>
                            <a:srgbClr val="1F2430"/>
                          </a:solidFill>
                          <a:latin typeface="Meiryo" pitchFamily="34" charset="0"/>
                          <a:ea typeface="Meiryo" pitchFamily="34" charset="-122"/>
                          <a:cs typeface="Meiryo" pitchFamily="34" charset="-120"/>
                        </a:rPr>
                        <a:t>〜2025/6上</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r>
              <a:tr h="1051560">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MVP1 ★</a:t>
                      </a:r>
                      <a:endParaRPr lang="en-US" sz="950" dirty="0">
                        <a:latin typeface="Meiryo" charset="0"/>
                        <a:ea typeface="Meiryo" charset="0"/>
                        <a:cs typeface="Meiryo" charset="0"/>
                      </a:endParaRPr>
                    </a:p>
                    <a:p>
                      <a:pPr algn="ctr" indent="0" marL="0">
                        <a:buNone/>
                      </a:pPr>
                      <a:r>
                        <a:rPr lang="en-US" sz="950" b="1" dirty="0">
                          <a:solidFill>
                            <a:srgbClr val="FFFFFF"/>
                          </a:solidFill>
                          <a:latin typeface="Meiryo" pitchFamily="34" charset="0"/>
                          <a:ea typeface="Meiryo" pitchFamily="34" charset="-122"/>
                          <a:cs typeface="Meiryo" pitchFamily="34" charset="-120"/>
                        </a:rPr>
                        <a:t>コアサイクル</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3B4CCA"/>
                    </a:solidFill>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ミッション→ポイント→</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交換が一気通貫で動く</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E7E9FB"/>
                    </a:solidFill>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ホーム(フィード/残高/導線)、ミッション(4種・進捗・受取演出)、ポイント(残高/履歴)、交換(一覧/申請/履歴)、広告バナー、管理(マスタ/付与)</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E7E9FB"/>
                    </a:solidFill>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ミッション達成→加算→</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交換申請→履歴反映</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E7E9FB"/>
                    </a:solidFill>
                  </a:tcPr>
                </a:tc>
                <a:tc>
                  <a:txBody>
                    <a:bodyPr/>
                    <a:lstStyle/>
                    <a:p>
                      <a:pPr algn="ctr" indent="0" marL="0">
                        <a:buNone/>
                      </a:pPr>
                      <a:r>
                        <a:rPr lang="en-US" sz="950" b="1" dirty="0">
                          <a:solidFill>
                            <a:srgbClr val="3B4CCA"/>
                          </a:solidFill>
                          <a:latin typeface="Meiryo" pitchFamily="34" charset="0"/>
                          <a:ea typeface="Meiryo" pitchFamily="34" charset="-122"/>
                          <a:cs typeface="Meiryo" pitchFamily="34" charset="-120"/>
                        </a:rPr>
                        <a:t>2025/6–7</a:t>
                      </a:r>
                      <a:endParaRPr lang="en-US" sz="950" dirty="0">
                        <a:latin typeface="Meiryo" charset="0"/>
                        <a:ea typeface="Meiryo" charset="0"/>
                        <a:cs typeface="Meiryo" charset="0"/>
                      </a:endParaRPr>
                    </a:p>
                    <a:p>
                      <a:pPr algn="ctr" indent="0" marL="0">
                        <a:buNone/>
                      </a:pPr>
                      <a:r>
                        <a:rPr lang="en-US" sz="950" b="1" dirty="0">
                          <a:solidFill>
                            <a:srgbClr val="3B4CCA"/>
                          </a:solidFill>
                          <a:latin typeface="Meiryo" pitchFamily="34" charset="0"/>
                          <a:ea typeface="Meiryo" pitchFamily="34" charset="-122"/>
                          <a:cs typeface="Meiryo" pitchFamily="34" charset="-120"/>
                        </a:rPr>
                        <a:t>（本WF）</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E7E9FB"/>
                    </a:solidFill>
                  </a:tcPr>
                </a:tc>
              </a:tr>
              <a:tr h="914400">
                <a:tc>
                  <a:txBody>
                    <a:bodyPr/>
                    <a:lstStyle/>
                    <a:p>
                      <a:pPr algn="ctr" indent="0" marL="0">
                        <a:buNone/>
                      </a:pPr>
                      <a:r>
                        <a:rPr lang="en-US" sz="950" b="1" dirty="0">
                          <a:solidFill>
                            <a:srgbClr val="7A4FD0"/>
                          </a:solidFill>
                          <a:latin typeface="Meiryo" pitchFamily="34" charset="0"/>
                          <a:ea typeface="Meiryo" pitchFamily="34" charset="-122"/>
                          <a:cs typeface="Meiryo" pitchFamily="34" charset="-120"/>
                        </a:rPr>
                        <a:t>MVP2</a:t>
                      </a:r>
                      <a:endParaRPr lang="en-US" sz="950" dirty="0">
                        <a:latin typeface="Meiryo" charset="0"/>
                        <a:ea typeface="Meiryo" charset="0"/>
                        <a:cs typeface="Meiryo" charset="0"/>
                      </a:endParaRPr>
                    </a:p>
                    <a:p>
                      <a:pPr algn="ctr" indent="0" marL="0">
                        <a:buNone/>
                      </a:pPr>
                      <a:r>
                        <a:rPr lang="en-US" sz="950" b="1" dirty="0">
                          <a:solidFill>
                            <a:srgbClr val="7A4FD0"/>
                          </a:solidFill>
                          <a:latin typeface="Meiryo" pitchFamily="34" charset="0"/>
                          <a:ea typeface="Meiryo" pitchFamily="34" charset="-122"/>
                          <a:cs typeface="Meiryo" pitchFamily="34" charset="-120"/>
                        </a:rPr>
                        <a:t>コミュニティ</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EFE7FB"/>
                    </a:solidFill>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ギルド型コミュニティで</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BtoB理由とエンゲージ創出</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フォーラム/トピック(作成/投稿/返信/編集削除)、リアクション、ポイント賭け質問→回答報酬、お知らせ記事、通知/メールボックス</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トピック作成→返信→</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賭け質問→報酬付与</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ctr" indent="0" marL="0">
                        <a:buNone/>
                      </a:pPr>
                      <a:r>
                        <a:rPr lang="en-US" sz="950" dirty="0">
                          <a:solidFill>
                            <a:srgbClr val="1F2430"/>
                          </a:solidFill>
                          <a:latin typeface="Meiryo" pitchFamily="34" charset="0"/>
                          <a:ea typeface="Meiryo" pitchFamily="34" charset="-122"/>
                          <a:cs typeface="Meiryo" pitchFamily="34" charset="-120"/>
                        </a:rPr>
                        <a:t>2025/7–8</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r>
              <a:tr h="914400">
                <a:tc>
                  <a:txBody>
                    <a:bodyPr/>
                    <a:lstStyle/>
                    <a:p>
                      <a:pPr algn="ctr" indent="0" marL="0">
                        <a:buNone/>
                      </a:pPr>
                      <a:r>
                        <a:rPr lang="en-US" sz="950" b="1" dirty="0">
                          <a:solidFill>
                            <a:srgbClr val="C79A3A"/>
                          </a:solidFill>
                          <a:latin typeface="Meiryo" pitchFamily="34" charset="0"/>
                          <a:ea typeface="Meiryo" pitchFamily="34" charset="-122"/>
                          <a:cs typeface="Meiryo" pitchFamily="34" charset="-120"/>
                        </a:rPr>
                        <a:t>MVP3</a:t>
                      </a:r>
                      <a:endParaRPr lang="en-US" sz="950" dirty="0">
                        <a:latin typeface="Meiryo" charset="0"/>
                        <a:ea typeface="Meiryo" charset="0"/>
                        <a:cs typeface="Meiryo" charset="0"/>
                      </a:endParaRPr>
                    </a:p>
                    <a:p>
                      <a:pPr algn="ctr" indent="0" marL="0">
                        <a:buNone/>
                      </a:pPr>
                      <a:r>
                        <a:rPr lang="en-US" sz="950" b="1" dirty="0">
                          <a:solidFill>
                            <a:srgbClr val="C79A3A"/>
                          </a:solidFill>
                          <a:latin typeface="Meiryo" pitchFamily="34" charset="0"/>
                          <a:ea typeface="Meiryo" pitchFamily="34" charset="-122"/>
                          <a:cs typeface="Meiryo" pitchFamily="34" charset="-120"/>
                        </a:rPr>
                        <a:t>運用・分析</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6EFDA"/>
                    </a:solidFill>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安定運用とKPI可視化</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継続最小施策</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ユーザー行動分析、管理ダッシュボード強化(統計/監視/権限/BAN/凍結/SU)、サポート/ヘルプ/FAQ、ログボ最小、Push運用</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l" indent="0" marL="0">
                        <a:buNone/>
                      </a:pPr>
                      <a:r>
                        <a:rPr lang="en-US" sz="950" dirty="0">
                          <a:solidFill>
                            <a:srgbClr val="1F2430"/>
                          </a:solidFill>
                          <a:latin typeface="Meiryo" pitchFamily="34" charset="0"/>
                          <a:ea typeface="Meiryo" pitchFamily="34" charset="-122"/>
                          <a:cs typeface="Meiryo" pitchFamily="34" charset="-120"/>
                        </a:rPr>
                        <a:t>管理側で主要KPIが見える</a:t>
                      </a:r>
                      <a:endParaRPr lang="en-US" sz="950" dirty="0">
                        <a:latin typeface="Meiryo" charset="0"/>
                        <a:ea typeface="Meiryo" charset="0"/>
                        <a:cs typeface="Meiryo" charset="0"/>
                      </a:endParaRPr>
                    </a:p>
                    <a:p>
                      <a:pPr algn="l" indent="0" marL="0">
                        <a:buNone/>
                      </a:pPr>
                      <a:r>
                        <a:rPr lang="en-US" sz="950" dirty="0">
                          <a:solidFill>
                            <a:srgbClr val="1F2430"/>
                          </a:solidFill>
                          <a:latin typeface="Meiryo" pitchFamily="34" charset="0"/>
                          <a:ea typeface="Meiryo" pitchFamily="34" charset="-122"/>
                          <a:cs typeface="Meiryo" pitchFamily="34" charset="-120"/>
                        </a:rPr>
                        <a:t>BAN/凍結が機能</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c>
                  <a:txBody>
                    <a:bodyPr/>
                    <a:lstStyle/>
                    <a:p>
                      <a:pPr algn="ctr" indent="0" marL="0">
                        <a:buNone/>
                      </a:pPr>
                      <a:r>
                        <a:rPr lang="en-US" sz="950" dirty="0">
                          <a:solidFill>
                            <a:srgbClr val="1F2430"/>
                          </a:solidFill>
                          <a:latin typeface="Meiryo" pitchFamily="34" charset="0"/>
                          <a:ea typeface="Meiryo" pitchFamily="34" charset="-122"/>
                          <a:cs typeface="Meiryo" pitchFamily="34" charset="-120"/>
                        </a:rPr>
                        <a:t>2025/8–</a:t>
                      </a:r>
                      <a:endParaRPr lang="en-US" sz="95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tcPr>
                </a:tc>
              </a:tr>
            </a:tbl>
          </a:graphicData>
        </a:graphic>
      </p:graphicFrame>
      <p:sp>
        <p:nvSpPr>
          <p:cNvPr id="5" name="Text 2"/>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6" name="Text 3"/>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7" name="Text 4"/>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MVP1 · CORE FLOW</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MVP1 コアフロー（ワイヤーフレーム対象）</a:t>
            </a:r>
            <a:endParaRPr lang="en-US" sz="2500" dirty="0"/>
          </a:p>
        </p:txBody>
      </p:sp>
      <p:sp>
        <p:nvSpPr>
          <p:cNvPr id="4" name="Text 2"/>
          <p:cNvSpPr/>
          <p:nvPr/>
        </p:nvSpPr>
        <p:spPr>
          <a:xfrm>
            <a:off x="548640" y="1371600"/>
            <a:ext cx="11247120" cy="365760"/>
          </a:xfrm>
          <a:prstGeom prst="rect">
            <a:avLst/>
          </a:prstGeom>
          <a:noFill/>
          <a:ln/>
        </p:spPr>
        <p:txBody>
          <a:bodyPr wrap="square" rtlCol="0" anchor="ctr"/>
          <a:lstStyle/>
          <a:p>
            <a:pPr indent="0" marL="0">
              <a:buNone/>
            </a:pPr>
            <a:r>
              <a:rPr lang="en-US" sz="1250" dirty="0">
                <a:solidFill>
                  <a:srgbClr val="6B7280"/>
                </a:solidFill>
                <a:latin typeface="Meiryo" pitchFamily="34" charset="0"/>
                <a:ea typeface="Meiryo" pitchFamily="34" charset="-122"/>
                <a:cs typeface="Meiryo" pitchFamily="34" charset="-120"/>
              </a:rPr>
              <a:t>操作可能HTMLモックで、価値の核を一気通貫に確認できる状態を制作済み（wireframes/core-flow.html）。</a:t>
            </a:r>
            <a:endParaRPr lang="en-US" sz="1250" dirty="0"/>
          </a:p>
        </p:txBody>
      </p:sp>
      <p:sp>
        <p:nvSpPr>
          <p:cNvPr id="5" name="Shape 3"/>
          <p:cNvSpPr/>
          <p:nvPr/>
        </p:nvSpPr>
        <p:spPr>
          <a:xfrm>
            <a:off x="777240" y="2057400"/>
            <a:ext cx="2331720" cy="3108960"/>
          </a:xfrm>
          <a:prstGeom prst="roundRect">
            <a:avLst>
              <a:gd name="adj" fmla="val 7059"/>
            </a:avLst>
          </a:prstGeom>
          <a:solidFill>
            <a:srgbClr val="171A2B"/>
          </a:solidFill>
          <a:ln/>
          <a:effectLst>
            <a:outerShdw sx="100000" sy="100000" kx="0" ky="0" algn="bl" rotWithShape="0" blurRad="114300" dist="38100" dir="8100000">
              <a:srgbClr val="1F2430">
                <a:alpha val="12000"/>
              </a:srgbClr>
            </a:outerShdw>
          </a:effectLst>
        </p:spPr>
      </p:sp>
      <p:sp>
        <p:nvSpPr>
          <p:cNvPr id="6" name="Shape 4"/>
          <p:cNvSpPr/>
          <p:nvPr/>
        </p:nvSpPr>
        <p:spPr>
          <a:xfrm>
            <a:off x="896112" y="2176272"/>
            <a:ext cx="2093976" cy="2871216"/>
          </a:xfrm>
          <a:prstGeom prst="roundRect">
            <a:avLst>
              <a:gd name="adj" fmla="val 5240"/>
            </a:avLst>
          </a:prstGeom>
          <a:solidFill>
            <a:srgbClr val="FFFFFF"/>
          </a:solidFill>
          <a:ln/>
        </p:spPr>
      </p:sp>
      <p:sp>
        <p:nvSpPr>
          <p:cNvPr id="7" name="Shape 5"/>
          <p:cNvSpPr/>
          <p:nvPr/>
        </p:nvSpPr>
        <p:spPr>
          <a:xfrm>
            <a:off x="896112" y="2176272"/>
            <a:ext cx="2093976" cy="548640"/>
          </a:xfrm>
          <a:prstGeom prst="rect">
            <a:avLst/>
          </a:prstGeom>
          <a:solidFill>
            <a:srgbClr val="1F2430"/>
          </a:solidFill>
          <a:ln/>
        </p:spPr>
      </p:sp>
      <p:sp>
        <p:nvSpPr>
          <p:cNvPr id="8" name="Text 6"/>
          <p:cNvSpPr/>
          <p:nvPr/>
        </p:nvSpPr>
        <p:spPr>
          <a:xfrm>
            <a:off x="896112" y="2176272"/>
            <a:ext cx="2093976" cy="5486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ログイン</a:t>
            </a:r>
            <a:endParaRPr lang="en-US" sz="1200" dirty="0"/>
          </a:p>
        </p:txBody>
      </p:sp>
      <p:sp>
        <p:nvSpPr>
          <p:cNvPr id="9" name="Shape 7"/>
          <p:cNvSpPr/>
          <p:nvPr/>
        </p:nvSpPr>
        <p:spPr>
          <a:xfrm>
            <a:off x="1097280" y="2926080"/>
            <a:ext cx="1691640" cy="310896"/>
          </a:xfrm>
          <a:prstGeom prst="roundRect">
            <a:avLst>
              <a:gd name="adj" fmla="val 14706"/>
            </a:avLst>
          </a:prstGeom>
          <a:solidFill>
            <a:srgbClr val="F4F5F8"/>
          </a:solidFill>
          <a:ln/>
        </p:spPr>
      </p:sp>
      <p:sp>
        <p:nvSpPr>
          <p:cNvPr id="10" name="Shape 8"/>
          <p:cNvSpPr/>
          <p:nvPr/>
        </p:nvSpPr>
        <p:spPr>
          <a:xfrm>
            <a:off x="1097280" y="3429000"/>
            <a:ext cx="1691640" cy="310896"/>
          </a:xfrm>
          <a:prstGeom prst="roundRect">
            <a:avLst>
              <a:gd name="adj" fmla="val 14706"/>
            </a:avLst>
          </a:prstGeom>
          <a:solidFill>
            <a:srgbClr val="F4F5F8"/>
          </a:solidFill>
          <a:ln/>
        </p:spPr>
      </p:sp>
      <p:sp>
        <p:nvSpPr>
          <p:cNvPr id="11" name="Shape 9"/>
          <p:cNvSpPr/>
          <p:nvPr/>
        </p:nvSpPr>
        <p:spPr>
          <a:xfrm>
            <a:off x="1097280" y="3931920"/>
            <a:ext cx="1691640" cy="310896"/>
          </a:xfrm>
          <a:prstGeom prst="roundRect">
            <a:avLst>
              <a:gd name="adj" fmla="val 14706"/>
            </a:avLst>
          </a:prstGeom>
          <a:solidFill>
            <a:srgbClr val="F4F5F8"/>
          </a:solidFill>
          <a:ln/>
        </p:spPr>
      </p:sp>
      <p:sp>
        <p:nvSpPr>
          <p:cNvPr id="12" name="Shape 10"/>
          <p:cNvSpPr/>
          <p:nvPr/>
        </p:nvSpPr>
        <p:spPr>
          <a:xfrm>
            <a:off x="1097280" y="4434840"/>
            <a:ext cx="1691640" cy="310896"/>
          </a:xfrm>
          <a:prstGeom prst="roundRect">
            <a:avLst>
              <a:gd name="adj" fmla="val 14706"/>
            </a:avLst>
          </a:prstGeom>
          <a:solidFill>
            <a:srgbClr val="F4F5F8"/>
          </a:solidFill>
          <a:ln/>
        </p:spPr>
      </p:sp>
      <p:sp>
        <p:nvSpPr>
          <p:cNvPr id="13" name="Shape 11"/>
          <p:cNvSpPr/>
          <p:nvPr/>
        </p:nvSpPr>
        <p:spPr>
          <a:xfrm>
            <a:off x="1687068" y="1801368"/>
            <a:ext cx="512064" cy="512064"/>
          </a:xfrm>
          <a:prstGeom prst="ellipse">
            <a:avLst/>
          </a:prstGeom>
          <a:solidFill>
            <a:srgbClr val="1F2430"/>
          </a:solidFill>
          <a:ln w="31750">
            <a:solidFill>
              <a:srgbClr val="FFFFFF"/>
            </a:solidFill>
            <a:prstDash val="solid"/>
          </a:ln>
          <a:effectLst>
            <a:outerShdw sx="100000" sy="100000" kx="0" ky="0" algn="bl" rotWithShape="0" blurRad="114300" dist="38100" dir="8100000">
              <a:srgbClr val="1F2430">
                <a:alpha val="12000"/>
              </a:srgbClr>
            </a:outerShdw>
          </a:effectLst>
        </p:spPr>
      </p:sp>
      <p:sp>
        <p:nvSpPr>
          <p:cNvPr id="14" name="Text 12"/>
          <p:cNvSpPr/>
          <p:nvPr/>
        </p:nvSpPr>
        <p:spPr>
          <a:xfrm>
            <a:off x="1687068" y="1801368"/>
            <a:ext cx="512064" cy="512064"/>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1</a:t>
            </a:r>
            <a:endParaRPr lang="en-US" sz="1500" dirty="0"/>
          </a:p>
        </p:txBody>
      </p:sp>
      <p:sp>
        <p:nvSpPr>
          <p:cNvPr id="15" name="Text 13"/>
          <p:cNvSpPr/>
          <p:nvPr/>
        </p:nvSpPr>
        <p:spPr>
          <a:xfrm>
            <a:off x="685800" y="5276088"/>
            <a:ext cx="2514600" cy="640080"/>
          </a:xfrm>
          <a:prstGeom prst="rect">
            <a:avLst/>
          </a:prstGeom>
          <a:noFill/>
          <a:ln/>
        </p:spPr>
        <p:txBody>
          <a:bodyPr wrap="square" rtlCol="0" anchor="ctr"/>
          <a:lstStyle/>
          <a:p>
            <a:pPr algn="ctr" indent="0" marL="0">
              <a:buNone/>
            </a:pPr>
            <a:r>
              <a:rPr lang="en-US" sz="1000" dirty="0">
                <a:solidFill>
                  <a:srgbClr val="6B7280"/>
                </a:solidFill>
                <a:latin typeface="Meiryo" pitchFamily="34" charset="0"/>
                <a:ea typeface="Meiryo" pitchFamily="34" charset="-122"/>
                <a:cs typeface="Meiryo" pitchFamily="34" charset="-120"/>
              </a:rPr>
              <a:t>メール / OAuth</a:t>
            </a:r>
            <a:endParaRPr lang="en-US" sz="1000" dirty="0"/>
          </a:p>
          <a:p>
            <a:pPr algn="ctr" indent="0" marL="0">
              <a:buNone/>
            </a:pPr>
            <a:r>
              <a:rPr lang="en-US" sz="1000" dirty="0">
                <a:solidFill>
                  <a:srgbClr val="6B7280"/>
                </a:solidFill>
                <a:latin typeface="Meiryo" pitchFamily="34" charset="0"/>
                <a:ea typeface="Meiryo" pitchFamily="34" charset="-122"/>
                <a:cs typeface="Meiryo" pitchFamily="34" charset="-120"/>
              </a:rPr>
              <a:t>(Google·Apple·LINE)</a:t>
            </a:r>
            <a:endParaRPr lang="en-US" sz="1000" dirty="0"/>
          </a:p>
        </p:txBody>
      </p:sp>
      <p:sp>
        <p:nvSpPr>
          <p:cNvPr id="16" name="Text 14"/>
          <p:cNvSpPr/>
          <p:nvPr/>
        </p:nvSpPr>
        <p:spPr>
          <a:xfrm>
            <a:off x="3108960" y="2057400"/>
            <a:ext cx="502920" cy="3108960"/>
          </a:xfrm>
          <a:prstGeom prst="rect">
            <a:avLst/>
          </a:prstGeom>
          <a:noFill/>
          <a:ln/>
        </p:spPr>
        <p:txBody>
          <a:bodyPr wrap="square" rtlCol="0" anchor="ctr"/>
          <a:lstStyle/>
          <a:p>
            <a:pPr algn="ctr" indent="0" marL="0">
              <a:buNone/>
            </a:pPr>
            <a:r>
              <a:rPr lang="en-US" sz="2200" dirty="0">
                <a:solidFill>
                  <a:srgbClr val="9AA0AC"/>
                </a:solidFill>
                <a:latin typeface="Meiryo" pitchFamily="34" charset="0"/>
                <a:ea typeface="Meiryo" pitchFamily="34" charset="-122"/>
                <a:cs typeface="Meiryo" pitchFamily="34" charset="-120"/>
              </a:rPr>
              <a:t>➜</a:t>
            </a:r>
            <a:endParaRPr lang="en-US" sz="2200" dirty="0"/>
          </a:p>
        </p:txBody>
      </p:sp>
      <p:sp>
        <p:nvSpPr>
          <p:cNvPr id="17" name="Shape 15"/>
          <p:cNvSpPr/>
          <p:nvPr/>
        </p:nvSpPr>
        <p:spPr>
          <a:xfrm>
            <a:off x="3611880" y="2057400"/>
            <a:ext cx="2331720" cy="3108960"/>
          </a:xfrm>
          <a:prstGeom prst="roundRect">
            <a:avLst>
              <a:gd name="adj" fmla="val 7059"/>
            </a:avLst>
          </a:prstGeom>
          <a:solidFill>
            <a:srgbClr val="171A2B"/>
          </a:solidFill>
          <a:ln/>
          <a:effectLst>
            <a:outerShdw sx="100000" sy="100000" kx="0" ky="0" algn="bl" rotWithShape="0" blurRad="114300" dist="38100" dir="8100000">
              <a:srgbClr val="1F2430">
                <a:alpha val="12000"/>
              </a:srgbClr>
            </a:outerShdw>
          </a:effectLst>
        </p:spPr>
      </p:sp>
      <p:sp>
        <p:nvSpPr>
          <p:cNvPr id="18" name="Shape 16"/>
          <p:cNvSpPr/>
          <p:nvPr/>
        </p:nvSpPr>
        <p:spPr>
          <a:xfrm>
            <a:off x="3730752" y="2176272"/>
            <a:ext cx="2093976" cy="2871216"/>
          </a:xfrm>
          <a:prstGeom prst="roundRect">
            <a:avLst>
              <a:gd name="adj" fmla="val 5240"/>
            </a:avLst>
          </a:prstGeom>
          <a:solidFill>
            <a:srgbClr val="FFFFFF"/>
          </a:solidFill>
          <a:ln/>
        </p:spPr>
      </p:sp>
      <p:sp>
        <p:nvSpPr>
          <p:cNvPr id="19" name="Shape 17"/>
          <p:cNvSpPr/>
          <p:nvPr/>
        </p:nvSpPr>
        <p:spPr>
          <a:xfrm>
            <a:off x="3730752" y="2176272"/>
            <a:ext cx="2093976" cy="548640"/>
          </a:xfrm>
          <a:prstGeom prst="rect">
            <a:avLst/>
          </a:prstGeom>
          <a:solidFill>
            <a:srgbClr val="3B4CCA"/>
          </a:solidFill>
          <a:ln/>
        </p:spPr>
      </p:sp>
      <p:sp>
        <p:nvSpPr>
          <p:cNvPr id="20" name="Text 18"/>
          <p:cNvSpPr/>
          <p:nvPr/>
        </p:nvSpPr>
        <p:spPr>
          <a:xfrm>
            <a:off x="3730752" y="2176272"/>
            <a:ext cx="2093976" cy="5486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ホーム</a:t>
            </a:r>
            <a:endParaRPr lang="en-US" sz="1200" dirty="0"/>
          </a:p>
        </p:txBody>
      </p:sp>
      <p:sp>
        <p:nvSpPr>
          <p:cNvPr id="21" name="Shape 19"/>
          <p:cNvSpPr/>
          <p:nvPr/>
        </p:nvSpPr>
        <p:spPr>
          <a:xfrm>
            <a:off x="3931920" y="2926080"/>
            <a:ext cx="1691640" cy="310896"/>
          </a:xfrm>
          <a:prstGeom prst="roundRect">
            <a:avLst>
              <a:gd name="adj" fmla="val 14706"/>
            </a:avLst>
          </a:prstGeom>
          <a:solidFill>
            <a:srgbClr val="F4F5F8"/>
          </a:solidFill>
          <a:ln/>
        </p:spPr>
      </p:sp>
      <p:sp>
        <p:nvSpPr>
          <p:cNvPr id="22" name="Shape 20"/>
          <p:cNvSpPr/>
          <p:nvPr/>
        </p:nvSpPr>
        <p:spPr>
          <a:xfrm>
            <a:off x="3931920" y="3429000"/>
            <a:ext cx="1691640" cy="310896"/>
          </a:xfrm>
          <a:prstGeom prst="roundRect">
            <a:avLst>
              <a:gd name="adj" fmla="val 14706"/>
            </a:avLst>
          </a:prstGeom>
          <a:solidFill>
            <a:srgbClr val="F4F5F8"/>
          </a:solidFill>
          <a:ln/>
        </p:spPr>
      </p:sp>
      <p:sp>
        <p:nvSpPr>
          <p:cNvPr id="23" name="Shape 21"/>
          <p:cNvSpPr/>
          <p:nvPr/>
        </p:nvSpPr>
        <p:spPr>
          <a:xfrm>
            <a:off x="3931920" y="3931920"/>
            <a:ext cx="1691640" cy="310896"/>
          </a:xfrm>
          <a:prstGeom prst="roundRect">
            <a:avLst>
              <a:gd name="adj" fmla="val 14706"/>
            </a:avLst>
          </a:prstGeom>
          <a:solidFill>
            <a:srgbClr val="F4F5F8"/>
          </a:solidFill>
          <a:ln/>
        </p:spPr>
      </p:sp>
      <p:sp>
        <p:nvSpPr>
          <p:cNvPr id="24" name="Shape 22"/>
          <p:cNvSpPr/>
          <p:nvPr/>
        </p:nvSpPr>
        <p:spPr>
          <a:xfrm>
            <a:off x="3931920" y="4434840"/>
            <a:ext cx="1691640" cy="310896"/>
          </a:xfrm>
          <a:prstGeom prst="roundRect">
            <a:avLst>
              <a:gd name="adj" fmla="val 14706"/>
            </a:avLst>
          </a:prstGeom>
          <a:solidFill>
            <a:srgbClr val="F4F5F8"/>
          </a:solidFill>
          <a:ln/>
        </p:spPr>
      </p:sp>
      <p:sp>
        <p:nvSpPr>
          <p:cNvPr id="25" name="Shape 23"/>
          <p:cNvSpPr/>
          <p:nvPr/>
        </p:nvSpPr>
        <p:spPr>
          <a:xfrm>
            <a:off x="4521708" y="1801368"/>
            <a:ext cx="512064" cy="512064"/>
          </a:xfrm>
          <a:prstGeom prst="ellipse">
            <a:avLst/>
          </a:prstGeom>
          <a:solidFill>
            <a:srgbClr val="3B4CCA"/>
          </a:solidFill>
          <a:ln w="31750">
            <a:solidFill>
              <a:srgbClr val="FFFFFF"/>
            </a:solidFill>
            <a:prstDash val="solid"/>
          </a:ln>
          <a:effectLst>
            <a:outerShdw sx="100000" sy="100000" kx="0" ky="0" algn="bl" rotWithShape="0" blurRad="114300" dist="38100" dir="8100000">
              <a:srgbClr val="1F2430">
                <a:alpha val="12000"/>
              </a:srgbClr>
            </a:outerShdw>
          </a:effectLst>
        </p:spPr>
      </p:sp>
      <p:sp>
        <p:nvSpPr>
          <p:cNvPr id="26" name="Text 24"/>
          <p:cNvSpPr/>
          <p:nvPr/>
        </p:nvSpPr>
        <p:spPr>
          <a:xfrm>
            <a:off x="4521708" y="1801368"/>
            <a:ext cx="512064" cy="512064"/>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2</a:t>
            </a:r>
            <a:endParaRPr lang="en-US" sz="1500" dirty="0"/>
          </a:p>
        </p:txBody>
      </p:sp>
      <p:sp>
        <p:nvSpPr>
          <p:cNvPr id="27" name="Text 25"/>
          <p:cNvSpPr/>
          <p:nvPr/>
        </p:nvSpPr>
        <p:spPr>
          <a:xfrm>
            <a:off x="3520440" y="5276088"/>
            <a:ext cx="2514600" cy="640080"/>
          </a:xfrm>
          <a:prstGeom prst="rect">
            <a:avLst/>
          </a:prstGeom>
          <a:noFill/>
          <a:ln/>
        </p:spPr>
        <p:txBody>
          <a:bodyPr wrap="square" rtlCol="0" anchor="ctr"/>
          <a:lstStyle/>
          <a:p>
            <a:pPr algn="ctr" indent="0" marL="0">
              <a:buNone/>
            </a:pPr>
            <a:r>
              <a:rPr lang="en-US" sz="1000" dirty="0">
                <a:solidFill>
                  <a:srgbClr val="6B7280"/>
                </a:solidFill>
                <a:latin typeface="Meiryo" pitchFamily="34" charset="0"/>
                <a:ea typeface="Meiryo" pitchFamily="34" charset="-122"/>
                <a:cs typeface="Meiryo" pitchFamily="34" charset="-120"/>
              </a:rPr>
              <a:t>残高・ニュース</a:t>
            </a:r>
            <a:endParaRPr lang="en-US" sz="1000" dirty="0"/>
          </a:p>
          <a:p>
            <a:pPr algn="ctr" indent="0" marL="0">
              <a:buNone/>
            </a:pPr>
            <a:r>
              <a:rPr lang="en-US" sz="1000" dirty="0">
                <a:solidFill>
                  <a:srgbClr val="6B7280"/>
                </a:solidFill>
                <a:latin typeface="Meiryo" pitchFamily="34" charset="0"/>
                <a:ea typeface="Meiryo" pitchFamily="34" charset="-122"/>
                <a:cs typeface="Meiryo" pitchFamily="34" charset="-120"/>
              </a:rPr>
              <a:t>ミッション導線</a:t>
            </a:r>
            <a:endParaRPr lang="en-US" sz="1000" dirty="0"/>
          </a:p>
        </p:txBody>
      </p:sp>
      <p:sp>
        <p:nvSpPr>
          <p:cNvPr id="28" name="Text 26"/>
          <p:cNvSpPr/>
          <p:nvPr/>
        </p:nvSpPr>
        <p:spPr>
          <a:xfrm>
            <a:off x="5943600" y="2057400"/>
            <a:ext cx="502920" cy="3108960"/>
          </a:xfrm>
          <a:prstGeom prst="rect">
            <a:avLst/>
          </a:prstGeom>
          <a:noFill/>
          <a:ln/>
        </p:spPr>
        <p:txBody>
          <a:bodyPr wrap="square" rtlCol="0" anchor="ctr"/>
          <a:lstStyle/>
          <a:p>
            <a:pPr algn="ctr" indent="0" marL="0">
              <a:buNone/>
            </a:pPr>
            <a:r>
              <a:rPr lang="en-US" sz="2200" dirty="0">
                <a:solidFill>
                  <a:srgbClr val="9AA0AC"/>
                </a:solidFill>
                <a:latin typeface="Meiryo" pitchFamily="34" charset="0"/>
                <a:ea typeface="Meiryo" pitchFamily="34" charset="-122"/>
                <a:cs typeface="Meiryo" pitchFamily="34" charset="-120"/>
              </a:rPr>
              <a:t>➜</a:t>
            </a:r>
            <a:endParaRPr lang="en-US" sz="2200" dirty="0"/>
          </a:p>
        </p:txBody>
      </p:sp>
      <p:sp>
        <p:nvSpPr>
          <p:cNvPr id="29" name="Shape 27"/>
          <p:cNvSpPr/>
          <p:nvPr/>
        </p:nvSpPr>
        <p:spPr>
          <a:xfrm>
            <a:off x="6446520" y="2057400"/>
            <a:ext cx="2331720" cy="3108960"/>
          </a:xfrm>
          <a:prstGeom prst="roundRect">
            <a:avLst>
              <a:gd name="adj" fmla="val 7059"/>
            </a:avLst>
          </a:prstGeom>
          <a:solidFill>
            <a:srgbClr val="171A2B"/>
          </a:solidFill>
          <a:ln/>
          <a:effectLst>
            <a:outerShdw sx="100000" sy="100000" kx="0" ky="0" algn="bl" rotWithShape="0" blurRad="114300" dist="38100" dir="8100000">
              <a:srgbClr val="1F2430">
                <a:alpha val="12000"/>
              </a:srgbClr>
            </a:outerShdw>
          </a:effectLst>
        </p:spPr>
      </p:sp>
      <p:sp>
        <p:nvSpPr>
          <p:cNvPr id="30" name="Shape 28"/>
          <p:cNvSpPr/>
          <p:nvPr/>
        </p:nvSpPr>
        <p:spPr>
          <a:xfrm>
            <a:off x="6565392" y="2176272"/>
            <a:ext cx="2093976" cy="2871216"/>
          </a:xfrm>
          <a:prstGeom prst="roundRect">
            <a:avLst>
              <a:gd name="adj" fmla="val 5240"/>
            </a:avLst>
          </a:prstGeom>
          <a:solidFill>
            <a:srgbClr val="FFFFFF"/>
          </a:solidFill>
          <a:ln/>
        </p:spPr>
      </p:sp>
      <p:sp>
        <p:nvSpPr>
          <p:cNvPr id="31" name="Shape 29"/>
          <p:cNvSpPr/>
          <p:nvPr/>
        </p:nvSpPr>
        <p:spPr>
          <a:xfrm>
            <a:off x="6565392" y="2176272"/>
            <a:ext cx="2093976" cy="548640"/>
          </a:xfrm>
          <a:prstGeom prst="rect">
            <a:avLst/>
          </a:prstGeom>
          <a:solidFill>
            <a:srgbClr val="7A4FD0"/>
          </a:solidFill>
          <a:ln/>
        </p:spPr>
      </p:sp>
      <p:sp>
        <p:nvSpPr>
          <p:cNvPr id="32" name="Text 30"/>
          <p:cNvSpPr/>
          <p:nvPr/>
        </p:nvSpPr>
        <p:spPr>
          <a:xfrm>
            <a:off x="6565392" y="2176272"/>
            <a:ext cx="2093976" cy="5486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ミッション</a:t>
            </a:r>
            <a:endParaRPr lang="en-US" sz="1200" dirty="0"/>
          </a:p>
        </p:txBody>
      </p:sp>
      <p:sp>
        <p:nvSpPr>
          <p:cNvPr id="33" name="Shape 31"/>
          <p:cNvSpPr/>
          <p:nvPr/>
        </p:nvSpPr>
        <p:spPr>
          <a:xfrm>
            <a:off x="6766560" y="2926080"/>
            <a:ext cx="1691640" cy="310896"/>
          </a:xfrm>
          <a:prstGeom prst="roundRect">
            <a:avLst>
              <a:gd name="adj" fmla="val 14706"/>
            </a:avLst>
          </a:prstGeom>
          <a:solidFill>
            <a:srgbClr val="F4F5F8"/>
          </a:solidFill>
          <a:ln/>
        </p:spPr>
      </p:sp>
      <p:sp>
        <p:nvSpPr>
          <p:cNvPr id="34" name="Shape 32"/>
          <p:cNvSpPr/>
          <p:nvPr/>
        </p:nvSpPr>
        <p:spPr>
          <a:xfrm>
            <a:off x="6766560" y="3429000"/>
            <a:ext cx="1691640" cy="310896"/>
          </a:xfrm>
          <a:prstGeom prst="roundRect">
            <a:avLst>
              <a:gd name="adj" fmla="val 14706"/>
            </a:avLst>
          </a:prstGeom>
          <a:solidFill>
            <a:srgbClr val="F4F5F8"/>
          </a:solidFill>
          <a:ln/>
        </p:spPr>
      </p:sp>
      <p:sp>
        <p:nvSpPr>
          <p:cNvPr id="35" name="Shape 33"/>
          <p:cNvSpPr/>
          <p:nvPr/>
        </p:nvSpPr>
        <p:spPr>
          <a:xfrm>
            <a:off x="6766560" y="3931920"/>
            <a:ext cx="1691640" cy="310896"/>
          </a:xfrm>
          <a:prstGeom prst="roundRect">
            <a:avLst>
              <a:gd name="adj" fmla="val 14706"/>
            </a:avLst>
          </a:prstGeom>
          <a:solidFill>
            <a:srgbClr val="F4F5F8"/>
          </a:solidFill>
          <a:ln/>
        </p:spPr>
      </p:sp>
      <p:sp>
        <p:nvSpPr>
          <p:cNvPr id="36" name="Shape 34"/>
          <p:cNvSpPr/>
          <p:nvPr/>
        </p:nvSpPr>
        <p:spPr>
          <a:xfrm>
            <a:off x="6766560" y="4434840"/>
            <a:ext cx="1691640" cy="310896"/>
          </a:xfrm>
          <a:prstGeom prst="roundRect">
            <a:avLst>
              <a:gd name="adj" fmla="val 14706"/>
            </a:avLst>
          </a:prstGeom>
          <a:solidFill>
            <a:srgbClr val="F4F5F8"/>
          </a:solidFill>
          <a:ln/>
        </p:spPr>
      </p:sp>
      <p:sp>
        <p:nvSpPr>
          <p:cNvPr id="37" name="Shape 35"/>
          <p:cNvSpPr/>
          <p:nvPr/>
        </p:nvSpPr>
        <p:spPr>
          <a:xfrm>
            <a:off x="7356348" y="1801368"/>
            <a:ext cx="512064" cy="512064"/>
          </a:xfrm>
          <a:prstGeom prst="ellipse">
            <a:avLst/>
          </a:prstGeom>
          <a:solidFill>
            <a:srgbClr val="7A4FD0"/>
          </a:solidFill>
          <a:ln w="31750">
            <a:solidFill>
              <a:srgbClr val="FFFFFF"/>
            </a:solidFill>
            <a:prstDash val="solid"/>
          </a:ln>
          <a:effectLst>
            <a:outerShdw sx="100000" sy="100000" kx="0" ky="0" algn="bl" rotWithShape="0" blurRad="114300" dist="38100" dir="8100000">
              <a:srgbClr val="1F2430">
                <a:alpha val="12000"/>
              </a:srgbClr>
            </a:outerShdw>
          </a:effectLst>
        </p:spPr>
      </p:sp>
      <p:sp>
        <p:nvSpPr>
          <p:cNvPr id="38" name="Text 36"/>
          <p:cNvSpPr/>
          <p:nvPr/>
        </p:nvSpPr>
        <p:spPr>
          <a:xfrm>
            <a:off x="7356348" y="1801368"/>
            <a:ext cx="512064" cy="512064"/>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3</a:t>
            </a:r>
            <a:endParaRPr lang="en-US" sz="1500" dirty="0"/>
          </a:p>
        </p:txBody>
      </p:sp>
      <p:sp>
        <p:nvSpPr>
          <p:cNvPr id="39" name="Text 37"/>
          <p:cNvSpPr/>
          <p:nvPr/>
        </p:nvSpPr>
        <p:spPr>
          <a:xfrm>
            <a:off x="6355080" y="5276088"/>
            <a:ext cx="2514600" cy="640080"/>
          </a:xfrm>
          <a:prstGeom prst="rect">
            <a:avLst/>
          </a:prstGeom>
          <a:noFill/>
          <a:ln/>
        </p:spPr>
        <p:txBody>
          <a:bodyPr wrap="square" rtlCol="0" anchor="ctr"/>
          <a:lstStyle/>
          <a:p>
            <a:pPr algn="ctr" indent="0" marL="0">
              <a:buNone/>
            </a:pPr>
            <a:r>
              <a:rPr lang="en-US" sz="1000" dirty="0">
                <a:solidFill>
                  <a:srgbClr val="6B7280"/>
                </a:solidFill>
                <a:latin typeface="Meiryo" pitchFamily="34" charset="0"/>
                <a:ea typeface="Meiryo" pitchFamily="34" charset="-122"/>
                <a:cs typeface="Meiryo" pitchFamily="34" charset="-120"/>
              </a:rPr>
              <a:t>4種タブ・進捗</a:t>
            </a:r>
            <a:endParaRPr lang="en-US" sz="1000" dirty="0"/>
          </a:p>
          <a:p>
            <a:pPr algn="ctr" indent="0" marL="0">
              <a:buNone/>
            </a:pPr>
            <a:r>
              <a:rPr lang="en-US" sz="1000" dirty="0">
                <a:solidFill>
                  <a:srgbClr val="6B7280"/>
                </a:solidFill>
                <a:latin typeface="Meiryo" pitchFamily="34" charset="0"/>
                <a:ea typeface="Meiryo" pitchFamily="34" charset="-122"/>
                <a:cs typeface="Meiryo" pitchFamily="34" charset="-120"/>
              </a:rPr>
              <a:t>達成→受取演出</a:t>
            </a:r>
            <a:endParaRPr lang="en-US" sz="1000" dirty="0"/>
          </a:p>
        </p:txBody>
      </p:sp>
      <p:sp>
        <p:nvSpPr>
          <p:cNvPr id="40" name="Text 38"/>
          <p:cNvSpPr/>
          <p:nvPr/>
        </p:nvSpPr>
        <p:spPr>
          <a:xfrm>
            <a:off x="8778240" y="2057400"/>
            <a:ext cx="502920" cy="3108960"/>
          </a:xfrm>
          <a:prstGeom prst="rect">
            <a:avLst/>
          </a:prstGeom>
          <a:noFill/>
          <a:ln/>
        </p:spPr>
        <p:txBody>
          <a:bodyPr wrap="square" rtlCol="0" anchor="ctr"/>
          <a:lstStyle/>
          <a:p>
            <a:pPr algn="ctr" indent="0" marL="0">
              <a:buNone/>
            </a:pPr>
            <a:r>
              <a:rPr lang="en-US" sz="2200" dirty="0">
                <a:solidFill>
                  <a:srgbClr val="9AA0AC"/>
                </a:solidFill>
                <a:latin typeface="Meiryo" pitchFamily="34" charset="0"/>
                <a:ea typeface="Meiryo" pitchFamily="34" charset="-122"/>
                <a:cs typeface="Meiryo" pitchFamily="34" charset="-120"/>
              </a:rPr>
              <a:t>➜</a:t>
            </a:r>
            <a:endParaRPr lang="en-US" sz="2200" dirty="0"/>
          </a:p>
        </p:txBody>
      </p:sp>
      <p:sp>
        <p:nvSpPr>
          <p:cNvPr id="41" name="Shape 39"/>
          <p:cNvSpPr/>
          <p:nvPr/>
        </p:nvSpPr>
        <p:spPr>
          <a:xfrm>
            <a:off x="9281160" y="2057400"/>
            <a:ext cx="2331720" cy="3108960"/>
          </a:xfrm>
          <a:prstGeom prst="roundRect">
            <a:avLst>
              <a:gd name="adj" fmla="val 7059"/>
            </a:avLst>
          </a:prstGeom>
          <a:solidFill>
            <a:srgbClr val="171A2B"/>
          </a:solidFill>
          <a:ln/>
          <a:effectLst>
            <a:outerShdw sx="100000" sy="100000" kx="0" ky="0" algn="bl" rotWithShape="0" blurRad="114300" dist="38100" dir="8100000">
              <a:srgbClr val="1F2430">
                <a:alpha val="12000"/>
              </a:srgbClr>
            </a:outerShdw>
          </a:effectLst>
        </p:spPr>
      </p:sp>
      <p:sp>
        <p:nvSpPr>
          <p:cNvPr id="42" name="Shape 40"/>
          <p:cNvSpPr/>
          <p:nvPr/>
        </p:nvSpPr>
        <p:spPr>
          <a:xfrm>
            <a:off x="9400032" y="2176272"/>
            <a:ext cx="2093976" cy="2871216"/>
          </a:xfrm>
          <a:prstGeom prst="roundRect">
            <a:avLst>
              <a:gd name="adj" fmla="val 5240"/>
            </a:avLst>
          </a:prstGeom>
          <a:solidFill>
            <a:srgbClr val="FFFFFF"/>
          </a:solidFill>
          <a:ln/>
        </p:spPr>
      </p:sp>
      <p:sp>
        <p:nvSpPr>
          <p:cNvPr id="43" name="Shape 41"/>
          <p:cNvSpPr/>
          <p:nvPr/>
        </p:nvSpPr>
        <p:spPr>
          <a:xfrm>
            <a:off x="9400032" y="2176272"/>
            <a:ext cx="2093976" cy="548640"/>
          </a:xfrm>
          <a:prstGeom prst="rect">
            <a:avLst/>
          </a:prstGeom>
          <a:solidFill>
            <a:srgbClr val="C79A3A"/>
          </a:solidFill>
          <a:ln/>
        </p:spPr>
      </p:sp>
      <p:sp>
        <p:nvSpPr>
          <p:cNvPr id="44" name="Text 42"/>
          <p:cNvSpPr/>
          <p:nvPr/>
        </p:nvSpPr>
        <p:spPr>
          <a:xfrm>
            <a:off x="9400032" y="2176272"/>
            <a:ext cx="2093976" cy="5486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ポイント交換</a:t>
            </a:r>
            <a:endParaRPr lang="en-US" sz="1200" dirty="0"/>
          </a:p>
        </p:txBody>
      </p:sp>
      <p:sp>
        <p:nvSpPr>
          <p:cNvPr id="45" name="Shape 43"/>
          <p:cNvSpPr/>
          <p:nvPr/>
        </p:nvSpPr>
        <p:spPr>
          <a:xfrm>
            <a:off x="9601200" y="2926080"/>
            <a:ext cx="1691640" cy="310896"/>
          </a:xfrm>
          <a:prstGeom prst="roundRect">
            <a:avLst>
              <a:gd name="adj" fmla="val 14706"/>
            </a:avLst>
          </a:prstGeom>
          <a:solidFill>
            <a:srgbClr val="F4F5F8"/>
          </a:solidFill>
          <a:ln/>
        </p:spPr>
      </p:sp>
      <p:sp>
        <p:nvSpPr>
          <p:cNvPr id="46" name="Shape 44"/>
          <p:cNvSpPr/>
          <p:nvPr/>
        </p:nvSpPr>
        <p:spPr>
          <a:xfrm>
            <a:off x="9601200" y="3429000"/>
            <a:ext cx="1691640" cy="310896"/>
          </a:xfrm>
          <a:prstGeom prst="roundRect">
            <a:avLst>
              <a:gd name="adj" fmla="val 14706"/>
            </a:avLst>
          </a:prstGeom>
          <a:solidFill>
            <a:srgbClr val="F4F5F8"/>
          </a:solidFill>
          <a:ln/>
        </p:spPr>
      </p:sp>
      <p:sp>
        <p:nvSpPr>
          <p:cNvPr id="47" name="Shape 45"/>
          <p:cNvSpPr/>
          <p:nvPr/>
        </p:nvSpPr>
        <p:spPr>
          <a:xfrm>
            <a:off x="9601200" y="3931920"/>
            <a:ext cx="1691640" cy="310896"/>
          </a:xfrm>
          <a:prstGeom prst="roundRect">
            <a:avLst>
              <a:gd name="adj" fmla="val 14706"/>
            </a:avLst>
          </a:prstGeom>
          <a:solidFill>
            <a:srgbClr val="F4F5F8"/>
          </a:solidFill>
          <a:ln/>
        </p:spPr>
      </p:sp>
      <p:sp>
        <p:nvSpPr>
          <p:cNvPr id="48" name="Shape 46"/>
          <p:cNvSpPr/>
          <p:nvPr/>
        </p:nvSpPr>
        <p:spPr>
          <a:xfrm>
            <a:off x="9601200" y="4434840"/>
            <a:ext cx="1691640" cy="310896"/>
          </a:xfrm>
          <a:prstGeom prst="roundRect">
            <a:avLst>
              <a:gd name="adj" fmla="val 14706"/>
            </a:avLst>
          </a:prstGeom>
          <a:solidFill>
            <a:srgbClr val="F4F5F8"/>
          </a:solidFill>
          <a:ln/>
        </p:spPr>
      </p:sp>
      <p:sp>
        <p:nvSpPr>
          <p:cNvPr id="49" name="Shape 47"/>
          <p:cNvSpPr/>
          <p:nvPr/>
        </p:nvSpPr>
        <p:spPr>
          <a:xfrm>
            <a:off x="10190988" y="1801368"/>
            <a:ext cx="512064" cy="512064"/>
          </a:xfrm>
          <a:prstGeom prst="ellipse">
            <a:avLst/>
          </a:prstGeom>
          <a:solidFill>
            <a:srgbClr val="C79A3A"/>
          </a:solidFill>
          <a:ln w="31750">
            <a:solidFill>
              <a:srgbClr val="FFFFFF"/>
            </a:solidFill>
            <a:prstDash val="solid"/>
          </a:ln>
          <a:effectLst>
            <a:outerShdw sx="100000" sy="100000" kx="0" ky="0" algn="bl" rotWithShape="0" blurRad="114300" dist="38100" dir="8100000">
              <a:srgbClr val="1F2430">
                <a:alpha val="12000"/>
              </a:srgbClr>
            </a:outerShdw>
          </a:effectLst>
        </p:spPr>
      </p:sp>
      <p:sp>
        <p:nvSpPr>
          <p:cNvPr id="50" name="Text 48"/>
          <p:cNvSpPr/>
          <p:nvPr/>
        </p:nvSpPr>
        <p:spPr>
          <a:xfrm>
            <a:off x="10190988" y="1801368"/>
            <a:ext cx="512064" cy="512064"/>
          </a:xfrm>
          <a:prstGeom prst="rect">
            <a:avLst/>
          </a:prstGeom>
          <a:noFill/>
          <a:ln/>
        </p:spPr>
        <p:txBody>
          <a:bodyPr wrap="square"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4</a:t>
            </a:r>
            <a:endParaRPr lang="en-US" sz="1500" dirty="0"/>
          </a:p>
        </p:txBody>
      </p:sp>
      <p:sp>
        <p:nvSpPr>
          <p:cNvPr id="51" name="Text 49"/>
          <p:cNvSpPr/>
          <p:nvPr/>
        </p:nvSpPr>
        <p:spPr>
          <a:xfrm>
            <a:off x="9189720" y="5276088"/>
            <a:ext cx="2514600" cy="640080"/>
          </a:xfrm>
          <a:prstGeom prst="rect">
            <a:avLst/>
          </a:prstGeom>
          <a:noFill/>
          <a:ln/>
        </p:spPr>
        <p:txBody>
          <a:bodyPr wrap="square" rtlCol="0" anchor="ctr"/>
          <a:lstStyle/>
          <a:p>
            <a:pPr algn="ctr" indent="0" marL="0">
              <a:buNone/>
            </a:pPr>
            <a:r>
              <a:rPr lang="en-US" sz="1000" dirty="0">
                <a:solidFill>
                  <a:srgbClr val="6B7280"/>
                </a:solidFill>
                <a:latin typeface="Meiryo" pitchFamily="34" charset="0"/>
                <a:ea typeface="Meiryo" pitchFamily="34" charset="-122"/>
                <a:cs typeface="Meiryo" pitchFamily="34" charset="-120"/>
              </a:rPr>
              <a:t>アイテム選択→</a:t>
            </a:r>
            <a:endParaRPr lang="en-US" sz="1000" dirty="0"/>
          </a:p>
          <a:p>
            <a:pPr algn="ctr" indent="0" marL="0">
              <a:buNone/>
            </a:pPr>
            <a:r>
              <a:rPr lang="en-US" sz="1000" dirty="0">
                <a:solidFill>
                  <a:srgbClr val="6B7280"/>
                </a:solidFill>
                <a:latin typeface="Meiryo" pitchFamily="34" charset="0"/>
                <a:ea typeface="Meiryo" pitchFamily="34" charset="-122"/>
                <a:cs typeface="Meiryo" pitchFamily="34" charset="-120"/>
              </a:rPr>
              <a:t>申請→履歴反映</a:t>
            </a:r>
            <a:endParaRPr lang="en-US" sz="1000" dirty="0"/>
          </a:p>
        </p:txBody>
      </p:sp>
      <p:sp>
        <p:nvSpPr>
          <p:cNvPr id="52" name="Text 50"/>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53" name="Text 51"/>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54" name="Text 52"/>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09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TECH STACK</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技術スタック提案</a:t>
            </a:r>
            <a:endParaRPr lang="en-US" sz="2500" dirty="0"/>
          </a:p>
        </p:txBody>
      </p:sp>
      <p:sp>
        <p:nvSpPr>
          <p:cNvPr id="4" name="Text 2"/>
          <p:cNvSpPr/>
          <p:nvPr/>
        </p:nvSpPr>
        <p:spPr>
          <a:xfrm>
            <a:off x="548640" y="1371600"/>
            <a:ext cx="11247120" cy="365760"/>
          </a:xfrm>
          <a:prstGeom prst="rect">
            <a:avLst/>
          </a:prstGeom>
          <a:noFill/>
          <a:ln/>
        </p:spPr>
        <p:txBody>
          <a:bodyPr wrap="square" rtlCol="0" anchor="ctr"/>
          <a:lstStyle/>
          <a:p>
            <a:pPr indent="0" marL="0">
              <a:buNone/>
            </a:pPr>
            <a:r>
              <a:rPr lang="en-US" sz="1200" dirty="0">
                <a:solidFill>
                  <a:srgbClr val="6B7280"/>
                </a:solidFill>
                <a:latin typeface="Meiryo" pitchFamily="34" charset="0"/>
                <a:ea typeface="Meiryo" pitchFamily="34" charset="-122"/>
                <a:cs typeface="Meiryo" pitchFamily="34" charset="-120"/>
              </a:rPr>
              <a:t>資料の要件「工数削減・モバイル最適化・後のWeb対応」に最適化。初期はマネージド中心でスピード優先、規模拡大で段階的に内製化。</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201400" cy="914400"/>
        </p:xfrm>
        <a:graphic>
          <a:graphicData uri="http://schemas.openxmlformats.org/drawingml/2006/table">
            <a:tbl>
              <a:tblPr/>
              <a:tblGrid>
                <a:gridCol w="1828800"/>
                <a:gridCol w="3657600"/>
                <a:gridCol w="5715000"/>
              </a:tblGrid>
              <a:tr h="54864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領域</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推奨</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理由</a:t>
                      </a:r>
                      <a:endParaRPr lang="en-US" sz="11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1F2430"/>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モバイル</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React Native + Expo (TypeScript)</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iOS/Android同時開発・Push対応・後のWeb展開(RN Web/Next)が容易</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認証</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Supabase Auth（OAuth）</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Google/Apple/LINE/Facebook を最小工数で。要件のOAuthに合致</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バックエンド</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Supabase (Postgres/Realtime/Storage)</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初期は工数最小。規模拡大時に NestJS+PostgreSQL へ段階移行</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リアルタイム</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Supabase Realtime</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フォーラム/通知/(将来)チャットを追加実装少なく実現</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通知</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Expo Notifications (FCM/APNs)</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ローカル/サーバーPush両対応の要件を満たす</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管理画面</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Next.js 管理コンソール（初期 Retool 可）</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運用工数削減。ミッション/交換マスタ・KPIをノーコード寄りで</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4F5F8"/>
                    </a:solidFill>
                  </a:tcPr>
                </a:tc>
              </a:tr>
              <a:tr h="548640">
                <a:tc>
                  <a:txBody>
                    <a:bodyPr/>
                    <a:lstStyle/>
                    <a:p>
                      <a:pPr indent="0" marL="0">
                        <a:buNone/>
                      </a:pPr>
                      <a:r>
                        <a:rPr lang="en-US" sz="1000" b="1" dirty="0">
                          <a:solidFill>
                            <a:srgbClr val="3B4CCA"/>
                          </a:solidFill>
                          <a:latin typeface="Meiryo" pitchFamily="34" charset="0"/>
                          <a:ea typeface="Meiryo" pitchFamily="34" charset="-122"/>
                          <a:cs typeface="Meiryo" pitchFamily="34" charset="-120"/>
                        </a:rPr>
                        <a:t>インフラ</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Supabase + Vercel + EAS</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c>
                  <a:txBody>
                    <a:bodyPr/>
                    <a:lstStyle/>
                    <a:p>
                      <a:pPr indent="0" marL="0">
                        <a:buNone/>
                      </a:pPr>
                      <a:r>
                        <a:rPr lang="en-US" sz="1000" dirty="0">
                          <a:solidFill>
                            <a:srgbClr val="1F2430"/>
                          </a:solidFill>
                          <a:latin typeface="Meiryo" pitchFamily="34" charset="0"/>
                          <a:ea typeface="Meiryo" pitchFamily="34" charset="-122"/>
                          <a:cs typeface="Meiryo" pitchFamily="34" charset="-120"/>
                        </a:rPr>
                        <a:t>フルマネージドで運用人員を最小化</a:t>
                      </a:r>
                      <a:endParaRPr lang="en-US" sz="1000" dirty="0">
                        <a:latin typeface="Meiryo" charset="0"/>
                        <a:ea typeface="Meiryo" charset="0"/>
                        <a:cs typeface="Meiryo" charset="0"/>
                      </a:endParaRPr>
                    </a:p>
                  </a:txBody>
                  <a:tcPr marL="91440" marR="91440" marT="45720" marB="45720" anchor="ctr">
                    <a:lnL w="9525" cap="flat" cmpd="sng" algn="ctr">
                      <a:solidFill>
                        <a:srgbClr val="E2E5EC"/>
                      </a:solidFill>
                      <a:prstDash val="solid"/>
                      <a:round/>
                      <a:headEnd type="none" w="med" len="med"/>
                      <a:tailEnd type="none" w="med" len="med"/>
                    </a:lnL>
                    <a:lnR w="9525" cap="flat" cmpd="sng" algn="ctr">
                      <a:solidFill>
                        <a:srgbClr val="E2E5EC"/>
                      </a:solidFill>
                      <a:prstDash val="solid"/>
                      <a:round/>
                      <a:headEnd type="none" w="med" len="med"/>
                      <a:tailEnd type="none" w="med" len="med"/>
                    </a:lnR>
                    <a:lnT w="9525" cap="flat" cmpd="sng" algn="ctr">
                      <a:solidFill>
                        <a:srgbClr val="E2E5EC"/>
                      </a:solidFill>
                      <a:prstDash val="solid"/>
                      <a:round/>
                      <a:headEnd type="none" w="med" len="med"/>
                      <a:tailEnd type="none" w="med" len="med"/>
                    </a:lnT>
                    <a:lnB w="9525" cap="flat" cmpd="sng" algn="ctr">
                      <a:solidFill>
                        <a:srgbClr val="E2E5EC"/>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263640"/>
            <a:ext cx="11247120" cy="274320"/>
          </a:xfrm>
          <a:prstGeom prst="rect">
            <a:avLst/>
          </a:prstGeom>
          <a:noFill/>
          <a:ln/>
        </p:spPr>
        <p:txBody>
          <a:bodyPr wrap="square" rtlCol="0" anchor="ctr"/>
          <a:lstStyle/>
          <a:p>
            <a:pPr indent="0" marL="0">
              <a:buNone/>
            </a:pPr>
            <a:r>
              <a:rPr lang="en-US" sz="950" i="1" dirty="0">
                <a:solidFill>
                  <a:srgbClr val="9AA0AC"/>
                </a:solidFill>
                <a:latin typeface="Meiryo" pitchFamily="34" charset="0"/>
                <a:ea typeface="Meiryo" pitchFamily="34" charset="-122"/>
                <a:cs typeface="Meiryo" pitchFamily="34" charset="-120"/>
              </a:rPr>
              <a:t>※ あくまで提案。チームの既存スキルセットに応じて Flutter / Firebase / 独自API 等も選択肢。本スライドで方針を合意したい。</a:t>
            </a:r>
            <a:endParaRPr lang="en-US" sz="950" dirty="0"/>
          </a:p>
        </p:txBody>
      </p:sp>
      <p:sp>
        <p:nvSpPr>
          <p:cNvPr id="7" name="Text 4"/>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8" name="Text 5"/>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9" name="Text 6"/>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ADD-ON PROPOSAL</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追加機能提案：4つの強化ポイント</a:t>
            </a:r>
            <a:endParaRPr lang="en-US" sz="2500" dirty="0"/>
          </a:p>
        </p:txBody>
      </p:sp>
      <p:sp>
        <p:nvSpPr>
          <p:cNvPr id="4" name="Text 2"/>
          <p:cNvSpPr/>
          <p:nvPr/>
        </p:nvSpPr>
        <p:spPr>
          <a:xfrm>
            <a:off x="548640" y="1417320"/>
            <a:ext cx="11247120" cy="365760"/>
          </a:xfrm>
          <a:prstGeom prst="rect">
            <a:avLst/>
          </a:prstGeom>
          <a:noFill/>
          <a:ln/>
        </p:spPr>
        <p:txBody>
          <a:bodyPr wrap="square" rtlCol="0" anchor="ctr"/>
          <a:lstStyle/>
          <a:p>
            <a:pPr indent="0" marL="0">
              <a:buNone/>
            </a:pPr>
            <a:r>
              <a:rPr lang="en-US" sz="1250" dirty="0">
                <a:solidFill>
                  <a:srgbClr val="6B7280"/>
                </a:solidFill>
                <a:latin typeface="Meiryo" pitchFamily="34" charset="0"/>
                <a:ea typeface="Meiryo" pitchFamily="34" charset="-122"/>
                <a:cs typeface="Meiryo" pitchFamily="34" charset="-120"/>
              </a:rPr>
              <a:t>コアフローに加え、収益・信頼・継続・差別化を底上げする4機能を提案。いずれも仕様書とワイヤーフレームに反映済み。</a:t>
            </a:r>
            <a:endParaRPr lang="en-US" sz="1250" dirty="0"/>
          </a:p>
        </p:txBody>
      </p:sp>
      <p:sp>
        <p:nvSpPr>
          <p:cNvPr id="5" name="Shape 3"/>
          <p:cNvSpPr/>
          <p:nvPr/>
        </p:nvSpPr>
        <p:spPr>
          <a:xfrm>
            <a:off x="548640" y="1965960"/>
            <a:ext cx="5349240" cy="1874520"/>
          </a:xfrm>
          <a:prstGeom prst="roundRect">
            <a:avLst>
              <a:gd name="adj" fmla="val 3902"/>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Shape 4"/>
          <p:cNvSpPr/>
          <p:nvPr/>
        </p:nvSpPr>
        <p:spPr>
          <a:xfrm>
            <a:off x="841248" y="2240280"/>
            <a:ext cx="566928" cy="566928"/>
          </a:xfrm>
          <a:prstGeom prst="ellipse">
            <a:avLst/>
          </a:prstGeom>
          <a:solidFill>
            <a:srgbClr val="E7E9FB"/>
          </a:solidFill>
          <a:ln/>
        </p:spPr>
      </p:sp>
      <p:sp>
        <p:nvSpPr>
          <p:cNvPr id="7" name="Text 5"/>
          <p:cNvSpPr/>
          <p:nvPr/>
        </p:nvSpPr>
        <p:spPr>
          <a:xfrm>
            <a:off x="841248" y="2240280"/>
            <a:ext cx="566928" cy="566928"/>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8" name="Text 6"/>
          <p:cNvSpPr/>
          <p:nvPr/>
        </p:nvSpPr>
        <p:spPr>
          <a:xfrm>
            <a:off x="1554480" y="2258568"/>
            <a:ext cx="3063240" cy="54864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オファーウォール / 動画広告</a:t>
            </a:r>
            <a:endParaRPr lang="en-US" sz="1300" dirty="0"/>
          </a:p>
        </p:txBody>
      </p:sp>
      <p:sp>
        <p:nvSpPr>
          <p:cNvPr id="9" name="Shape 7"/>
          <p:cNvSpPr/>
          <p:nvPr/>
        </p:nvSpPr>
        <p:spPr>
          <a:xfrm>
            <a:off x="4663440" y="2331720"/>
            <a:ext cx="1051560" cy="310896"/>
          </a:xfrm>
          <a:prstGeom prst="roundRect">
            <a:avLst>
              <a:gd name="adj" fmla="val 50000"/>
            </a:avLst>
          </a:prstGeom>
          <a:solidFill>
            <a:srgbClr val="E7E9FB"/>
          </a:solidFill>
          <a:ln/>
        </p:spPr>
      </p:sp>
      <p:sp>
        <p:nvSpPr>
          <p:cNvPr id="10" name="Text 8"/>
          <p:cNvSpPr/>
          <p:nvPr/>
        </p:nvSpPr>
        <p:spPr>
          <a:xfrm>
            <a:off x="4663440" y="2331720"/>
            <a:ext cx="1051560" cy="310896"/>
          </a:xfrm>
          <a:prstGeom prst="rect">
            <a:avLst/>
          </a:prstGeom>
          <a:noFill/>
          <a:ln/>
        </p:spPr>
        <p:txBody>
          <a:bodyPr wrap="square" rtlCol="0" anchor="ctr"/>
          <a:lstStyle/>
          <a:p>
            <a:pPr algn="ctr" indent="0" marL="0">
              <a:buNone/>
            </a:pPr>
            <a:r>
              <a:rPr lang="en-US" sz="950" b="1" dirty="0">
                <a:solidFill>
                  <a:srgbClr val="3B4CCA"/>
                </a:solidFill>
                <a:latin typeface="Meiryo" pitchFamily="34" charset="0"/>
                <a:ea typeface="Meiryo" pitchFamily="34" charset="-122"/>
                <a:cs typeface="Meiryo" pitchFamily="34" charset="-120"/>
              </a:rPr>
              <a:t>MVP1.5–2</a:t>
            </a:r>
            <a:endParaRPr lang="en-US" sz="950" dirty="0"/>
          </a:p>
        </p:txBody>
      </p:sp>
      <p:sp>
        <p:nvSpPr>
          <p:cNvPr id="11" name="Text 9"/>
          <p:cNvSpPr/>
          <p:nvPr/>
        </p:nvSpPr>
        <p:spPr>
          <a:xfrm>
            <a:off x="868680" y="2953512"/>
            <a:ext cx="4709160" cy="384048"/>
          </a:xfrm>
          <a:prstGeom prst="rect">
            <a:avLst/>
          </a:prstGeom>
          <a:noFill/>
          <a:ln/>
        </p:spPr>
        <p:txBody>
          <a:bodyPr wrap="square" rtlCol="0" anchor="t"/>
          <a:lstStyle/>
          <a:p>
            <a:pPr indent="0" marL="0">
              <a:buNone/>
            </a:pPr>
            <a:r>
              <a:rPr lang="en-US" sz="1050" b="1" dirty="0">
                <a:solidFill>
                  <a:srgbClr val="C0392B"/>
                </a:solidFill>
                <a:latin typeface="Meiryo" pitchFamily="34" charset="0"/>
                <a:ea typeface="Meiryo" pitchFamily="34" charset="-122"/>
                <a:cs typeface="Meiryo" pitchFamily="34" charset="-120"/>
              </a:rPr>
              <a:t>課題　</a:t>
            </a:r>
            <a:pPr indent="0" marL="0">
              <a:buNone/>
            </a:pPr>
            <a:r>
              <a:rPr lang="en-US" sz="1050" dirty="0">
                <a:solidFill>
                  <a:srgbClr val="6B7280"/>
                </a:solidFill>
                <a:latin typeface="Meiryo" pitchFamily="34" charset="0"/>
                <a:ea typeface="Meiryo" pitchFamily="34" charset="-122"/>
                <a:cs typeface="Meiryo" pitchFamily="34" charset="-120"/>
              </a:rPr>
              <a:t>提携ゲームが少ないと在庫・収益が確保できない</a:t>
            </a:r>
            <a:endParaRPr lang="en-US" sz="1050" dirty="0"/>
          </a:p>
        </p:txBody>
      </p:sp>
      <p:sp>
        <p:nvSpPr>
          <p:cNvPr id="12" name="Text 10"/>
          <p:cNvSpPr/>
          <p:nvPr/>
        </p:nvSpPr>
        <p:spPr>
          <a:xfrm>
            <a:off x="868680" y="3355848"/>
            <a:ext cx="4709160" cy="384048"/>
          </a:xfrm>
          <a:prstGeom prst="rect">
            <a:avLst/>
          </a:prstGeom>
          <a:noFill/>
          <a:ln/>
        </p:spPr>
        <p:txBody>
          <a:bodyPr wrap="square" rtlCol="0" anchor="t"/>
          <a:lstStyle/>
          <a:p>
            <a:pPr indent="0" marL="0">
              <a:buNone/>
            </a:pPr>
            <a:r>
              <a:rPr lang="en-US" sz="1050" b="1" dirty="0">
                <a:solidFill>
                  <a:srgbClr val="2F8F5B"/>
                </a:solidFill>
                <a:latin typeface="Meiryo" pitchFamily="34" charset="0"/>
                <a:ea typeface="Meiryo" pitchFamily="34" charset="-122"/>
                <a:cs typeface="Meiryo" pitchFamily="34" charset="-120"/>
              </a:rPr>
              <a:t>解決　</a:t>
            </a:r>
            <a:pPr indent="0" marL="0">
              <a:buNone/>
            </a:pPr>
            <a:r>
              <a:rPr lang="en-US" sz="1050" dirty="0">
                <a:solidFill>
                  <a:srgbClr val="1F2430"/>
                </a:solidFill>
                <a:latin typeface="Meiryo" pitchFamily="34" charset="0"/>
                <a:ea typeface="Meiryo" pitchFamily="34" charset="-122"/>
                <a:cs typeface="Meiryo" pitchFamily="34" charset="-120"/>
              </a:rPr>
              <a:t>外部ネットワークで常時ミッション在庫＋収益の第2の柱</a:t>
            </a:r>
            <a:endParaRPr lang="en-US" sz="1050" dirty="0"/>
          </a:p>
        </p:txBody>
      </p:sp>
      <p:sp>
        <p:nvSpPr>
          <p:cNvPr id="13" name="Shape 11"/>
          <p:cNvSpPr/>
          <p:nvPr/>
        </p:nvSpPr>
        <p:spPr>
          <a:xfrm>
            <a:off x="6263640" y="1965960"/>
            <a:ext cx="5349240" cy="1874520"/>
          </a:xfrm>
          <a:prstGeom prst="roundRect">
            <a:avLst>
              <a:gd name="adj" fmla="val 3902"/>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4" name="Shape 12"/>
          <p:cNvSpPr/>
          <p:nvPr/>
        </p:nvSpPr>
        <p:spPr>
          <a:xfrm>
            <a:off x="6556248" y="2240280"/>
            <a:ext cx="566928" cy="566928"/>
          </a:xfrm>
          <a:prstGeom prst="ellipse">
            <a:avLst/>
          </a:prstGeom>
          <a:solidFill>
            <a:srgbClr val="F6EFDA"/>
          </a:solidFill>
          <a:ln/>
        </p:spPr>
      </p:sp>
      <p:sp>
        <p:nvSpPr>
          <p:cNvPr id="15" name="Text 13"/>
          <p:cNvSpPr/>
          <p:nvPr/>
        </p:nvSpPr>
        <p:spPr>
          <a:xfrm>
            <a:off x="6556248" y="2240280"/>
            <a:ext cx="566928" cy="566928"/>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16" name="Text 14"/>
          <p:cNvSpPr/>
          <p:nvPr/>
        </p:nvSpPr>
        <p:spPr>
          <a:xfrm>
            <a:off x="7269480" y="2258568"/>
            <a:ext cx="3063240" cy="54864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達成のサーバー検証 (postback)</a:t>
            </a:r>
            <a:endParaRPr lang="en-US" sz="1300" dirty="0"/>
          </a:p>
        </p:txBody>
      </p:sp>
      <p:sp>
        <p:nvSpPr>
          <p:cNvPr id="17" name="Shape 15"/>
          <p:cNvSpPr/>
          <p:nvPr/>
        </p:nvSpPr>
        <p:spPr>
          <a:xfrm>
            <a:off x="10378440" y="2331720"/>
            <a:ext cx="1051560" cy="310896"/>
          </a:xfrm>
          <a:prstGeom prst="roundRect">
            <a:avLst>
              <a:gd name="adj" fmla="val 50000"/>
            </a:avLst>
          </a:prstGeom>
          <a:solidFill>
            <a:srgbClr val="F6EFDA"/>
          </a:solidFill>
          <a:ln/>
        </p:spPr>
      </p:sp>
      <p:sp>
        <p:nvSpPr>
          <p:cNvPr id="18" name="Text 16"/>
          <p:cNvSpPr/>
          <p:nvPr/>
        </p:nvSpPr>
        <p:spPr>
          <a:xfrm>
            <a:off x="10378440" y="2331720"/>
            <a:ext cx="1051560" cy="310896"/>
          </a:xfrm>
          <a:prstGeom prst="rect">
            <a:avLst/>
          </a:prstGeom>
          <a:noFill/>
          <a:ln/>
        </p:spPr>
        <p:txBody>
          <a:bodyPr wrap="square" rtlCol="0" anchor="ctr"/>
          <a:lstStyle/>
          <a:p>
            <a:pPr algn="ctr" indent="0" marL="0">
              <a:buNone/>
            </a:pPr>
            <a:r>
              <a:rPr lang="en-US" sz="950" b="1" dirty="0">
                <a:solidFill>
                  <a:srgbClr val="C79A3A"/>
                </a:solidFill>
                <a:latin typeface="Meiryo" pitchFamily="34" charset="0"/>
                <a:ea typeface="Meiryo" pitchFamily="34" charset="-122"/>
                <a:cs typeface="Meiryo" pitchFamily="34" charset="-120"/>
              </a:rPr>
              <a:t>MVP1 土台</a:t>
            </a:r>
            <a:endParaRPr lang="en-US" sz="950" dirty="0"/>
          </a:p>
        </p:txBody>
      </p:sp>
      <p:sp>
        <p:nvSpPr>
          <p:cNvPr id="19" name="Text 17"/>
          <p:cNvSpPr/>
          <p:nvPr/>
        </p:nvSpPr>
        <p:spPr>
          <a:xfrm>
            <a:off x="6583680" y="2953512"/>
            <a:ext cx="4709160" cy="384048"/>
          </a:xfrm>
          <a:prstGeom prst="rect">
            <a:avLst/>
          </a:prstGeom>
          <a:noFill/>
          <a:ln/>
        </p:spPr>
        <p:txBody>
          <a:bodyPr wrap="square" rtlCol="0" anchor="t"/>
          <a:lstStyle/>
          <a:p>
            <a:pPr indent="0" marL="0">
              <a:buNone/>
            </a:pPr>
            <a:r>
              <a:rPr lang="en-US" sz="1050" b="1" dirty="0">
                <a:solidFill>
                  <a:srgbClr val="C0392B"/>
                </a:solidFill>
                <a:latin typeface="Meiryo" pitchFamily="34" charset="0"/>
                <a:ea typeface="Meiryo" pitchFamily="34" charset="-122"/>
                <a:cs typeface="Meiryo" pitchFamily="34" charset="-120"/>
              </a:rPr>
              <a:t>課題　</a:t>
            </a:r>
            <a:pPr indent="0" marL="0">
              <a:buNone/>
            </a:pPr>
            <a:r>
              <a:rPr lang="en-US" sz="1050" dirty="0">
                <a:solidFill>
                  <a:srgbClr val="6B7280"/>
                </a:solidFill>
                <a:latin typeface="Meiryo" pitchFamily="34" charset="0"/>
                <a:ea typeface="Meiryo" pitchFamily="34" charset="-122"/>
                <a:cs typeface="Meiryo" pitchFamily="34" charset="-120"/>
              </a:rPr>
              <a:t>自己申告はなりすまし可・BtoB提案が成立しない</a:t>
            </a:r>
            <a:endParaRPr lang="en-US" sz="1050" dirty="0"/>
          </a:p>
        </p:txBody>
      </p:sp>
      <p:sp>
        <p:nvSpPr>
          <p:cNvPr id="20" name="Text 18"/>
          <p:cNvSpPr/>
          <p:nvPr/>
        </p:nvSpPr>
        <p:spPr>
          <a:xfrm>
            <a:off x="6583680" y="3355848"/>
            <a:ext cx="4709160" cy="384048"/>
          </a:xfrm>
          <a:prstGeom prst="rect">
            <a:avLst/>
          </a:prstGeom>
          <a:noFill/>
          <a:ln/>
        </p:spPr>
        <p:txBody>
          <a:bodyPr wrap="square" rtlCol="0" anchor="t"/>
          <a:lstStyle/>
          <a:p>
            <a:pPr indent="0" marL="0">
              <a:buNone/>
            </a:pPr>
            <a:r>
              <a:rPr lang="en-US" sz="1050" b="1" dirty="0">
                <a:solidFill>
                  <a:srgbClr val="2F8F5B"/>
                </a:solidFill>
                <a:latin typeface="Meiryo" pitchFamily="34" charset="0"/>
                <a:ea typeface="Meiryo" pitchFamily="34" charset="-122"/>
                <a:cs typeface="Meiryo" pitchFamily="34" charset="-120"/>
              </a:rPr>
              <a:t>解決　</a:t>
            </a:r>
            <a:pPr indent="0" marL="0">
              <a:buNone/>
            </a:pPr>
            <a:r>
              <a:rPr lang="en-US" sz="1050" dirty="0">
                <a:solidFill>
                  <a:srgbClr val="1F2430"/>
                </a:solidFill>
                <a:latin typeface="Meiryo" pitchFamily="34" charset="0"/>
                <a:ea typeface="Meiryo" pitchFamily="34" charset="-122"/>
                <a:cs typeface="Meiryo" pitchFamily="34" charset="-120"/>
              </a:rPr>
              <a:t>S2S postbackで検証後に付与し不正を遮断</a:t>
            </a:r>
            <a:endParaRPr lang="en-US" sz="1050" dirty="0"/>
          </a:p>
        </p:txBody>
      </p:sp>
      <p:sp>
        <p:nvSpPr>
          <p:cNvPr id="21" name="Shape 19"/>
          <p:cNvSpPr/>
          <p:nvPr/>
        </p:nvSpPr>
        <p:spPr>
          <a:xfrm>
            <a:off x="548640" y="4023360"/>
            <a:ext cx="5349240" cy="1874520"/>
          </a:xfrm>
          <a:prstGeom prst="roundRect">
            <a:avLst>
              <a:gd name="adj" fmla="val 3902"/>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2" name="Shape 20"/>
          <p:cNvSpPr/>
          <p:nvPr/>
        </p:nvSpPr>
        <p:spPr>
          <a:xfrm>
            <a:off x="841248" y="4297680"/>
            <a:ext cx="566928" cy="566928"/>
          </a:xfrm>
          <a:prstGeom prst="ellipse">
            <a:avLst/>
          </a:prstGeom>
          <a:solidFill>
            <a:srgbClr val="EFE7FB"/>
          </a:solidFill>
          <a:ln/>
        </p:spPr>
      </p:sp>
      <p:sp>
        <p:nvSpPr>
          <p:cNvPr id="23" name="Text 21"/>
          <p:cNvSpPr/>
          <p:nvPr/>
        </p:nvSpPr>
        <p:spPr>
          <a:xfrm>
            <a:off x="841248" y="4297680"/>
            <a:ext cx="566928" cy="566928"/>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24" name="Text 22"/>
          <p:cNvSpPr/>
          <p:nvPr/>
        </p:nvSpPr>
        <p:spPr>
          <a:xfrm>
            <a:off x="1554480" y="4315968"/>
            <a:ext cx="3063240" cy="54864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スマートナッジ（あと◯P）</a:t>
            </a:r>
            <a:endParaRPr lang="en-US" sz="1300" dirty="0"/>
          </a:p>
        </p:txBody>
      </p:sp>
      <p:sp>
        <p:nvSpPr>
          <p:cNvPr id="25" name="Shape 23"/>
          <p:cNvSpPr/>
          <p:nvPr/>
        </p:nvSpPr>
        <p:spPr>
          <a:xfrm>
            <a:off x="4663440" y="4389120"/>
            <a:ext cx="1051560" cy="310896"/>
          </a:xfrm>
          <a:prstGeom prst="roundRect">
            <a:avLst>
              <a:gd name="adj" fmla="val 50000"/>
            </a:avLst>
          </a:prstGeom>
          <a:solidFill>
            <a:srgbClr val="EFE7FB"/>
          </a:solidFill>
          <a:ln/>
        </p:spPr>
      </p:sp>
      <p:sp>
        <p:nvSpPr>
          <p:cNvPr id="26" name="Text 24"/>
          <p:cNvSpPr/>
          <p:nvPr/>
        </p:nvSpPr>
        <p:spPr>
          <a:xfrm>
            <a:off x="4663440" y="4389120"/>
            <a:ext cx="1051560" cy="310896"/>
          </a:xfrm>
          <a:prstGeom prst="rect">
            <a:avLst/>
          </a:prstGeom>
          <a:noFill/>
          <a:ln/>
        </p:spPr>
        <p:txBody>
          <a:bodyPr wrap="square" rtlCol="0" anchor="ctr"/>
          <a:lstStyle/>
          <a:p>
            <a:pPr algn="ctr" indent="0" marL="0">
              <a:buNone/>
            </a:pPr>
            <a:r>
              <a:rPr lang="en-US" sz="950" b="1" dirty="0">
                <a:solidFill>
                  <a:srgbClr val="7A4FD0"/>
                </a:solidFill>
                <a:latin typeface="Meiryo" pitchFamily="34" charset="0"/>
                <a:ea typeface="Meiryo" pitchFamily="34" charset="-122"/>
                <a:cs typeface="Meiryo" pitchFamily="34" charset="-120"/>
              </a:rPr>
              <a:t>MVP1</a:t>
            </a:r>
            <a:endParaRPr lang="en-US" sz="950" dirty="0"/>
          </a:p>
        </p:txBody>
      </p:sp>
      <p:sp>
        <p:nvSpPr>
          <p:cNvPr id="27" name="Text 25"/>
          <p:cNvSpPr/>
          <p:nvPr/>
        </p:nvSpPr>
        <p:spPr>
          <a:xfrm>
            <a:off x="868680" y="5010912"/>
            <a:ext cx="4709160" cy="384048"/>
          </a:xfrm>
          <a:prstGeom prst="rect">
            <a:avLst/>
          </a:prstGeom>
          <a:noFill/>
          <a:ln/>
        </p:spPr>
        <p:txBody>
          <a:bodyPr wrap="square" rtlCol="0" anchor="t"/>
          <a:lstStyle/>
          <a:p>
            <a:pPr indent="0" marL="0">
              <a:buNone/>
            </a:pPr>
            <a:r>
              <a:rPr lang="en-US" sz="1050" b="1" dirty="0">
                <a:solidFill>
                  <a:srgbClr val="C0392B"/>
                </a:solidFill>
                <a:latin typeface="Meiryo" pitchFamily="34" charset="0"/>
                <a:ea typeface="Meiryo" pitchFamily="34" charset="-122"/>
                <a:cs typeface="Meiryo" pitchFamily="34" charset="-120"/>
              </a:rPr>
              <a:t>課題　</a:t>
            </a:r>
            <a:pPr indent="0" marL="0">
              <a:buNone/>
            </a:pPr>
            <a:r>
              <a:rPr lang="en-US" sz="1050" dirty="0">
                <a:solidFill>
                  <a:srgbClr val="6B7280"/>
                </a:solidFill>
                <a:latin typeface="Meiryo" pitchFamily="34" charset="0"/>
                <a:ea typeface="Meiryo" pitchFamily="34" charset="-122"/>
                <a:cs typeface="Meiryo" pitchFamily="34" charset="-120"/>
              </a:rPr>
              <a:t>交換の手前でユーザーが離脱しやすい</a:t>
            </a:r>
            <a:endParaRPr lang="en-US" sz="1050" dirty="0"/>
          </a:p>
        </p:txBody>
      </p:sp>
      <p:sp>
        <p:nvSpPr>
          <p:cNvPr id="28" name="Text 26"/>
          <p:cNvSpPr/>
          <p:nvPr/>
        </p:nvSpPr>
        <p:spPr>
          <a:xfrm>
            <a:off x="868680" y="5413248"/>
            <a:ext cx="4709160" cy="384048"/>
          </a:xfrm>
          <a:prstGeom prst="rect">
            <a:avLst/>
          </a:prstGeom>
          <a:noFill/>
          <a:ln/>
        </p:spPr>
        <p:txBody>
          <a:bodyPr wrap="square" rtlCol="0" anchor="t"/>
          <a:lstStyle/>
          <a:p>
            <a:pPr indent="0" marL="0">
              <a:buNone/>
            </a:pPr>
            <a:r>
              <a:rPr lang="en-US" sz="1050" b="1" dirty="0">
                <a:solidFill>
                  <a:srgbClr val="2F8F5B"/>
                </a:solidFill>
                <a:latin typeface="Meiryo" pitchFamily="34" charset="0"/>
                <a:ea typeface="Meiryo" pitchFamily="34" charset="-122"/>
                <a:cs typeface="Meiryo" pitchFamily="34" charset="-120"/>
              </a:rPr>
              <a:t>解決　</a:t>
            </a:r>
            <a:pPr indent="0" marL="0">
              <a:buNone/>
            </a:pPr>
            <a:r>
              <a:rPr lang="en-US" sz="1050" dirty="0">
                <a:solidFill>
                  <a:srgbClr val="1F2430"/>
                </a:solidFill>
                <a:latin typeface="Meiryo" pitchFamily="34" charset="0"/>
                <a:ea typeface="Meiryo" pitchFamily="34" charset="-122"/>
                <a:cs typeface="Meiryo" pitchFamily="34" charset="-120"/>
              </a:rPr>
              <a:t>「あと◯P」＋おすすめミッションで背中を押す</a:t>
            </a:r>
            <a:endParaRPr lang="en-US" sz="1050" dirty="0"/>
          </a:p>
        </p:txBody>
      </p:sp>
      <p:sp>
        <p:nvSpPr>
          <p:cNvPr id="29" name="Shape 27"/>
          <p:cNvSpPr/>
          <p:nvPr/>
        </p:nvSpPr>
        <p:spPr>
          <a:xfrm>
            <a:off x="6263640" y="4023360"/>
            <a:ext cx="5349240" cy="1874520"/>
          </a:xfrm>
          <a:prstGeom prst="roundRect">
            <a:avLst>
              <a:gd name="adj" fmla="val 3902"/>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30" name="Shape 28"/>
          <p:cNvSpPr/>
          <p:nvPr/>
        </p:nvSpPr>
        <p:spPr>
          <a:xfrm>
            <a:off x="6556248" y="4297680"/>
            <a:ext cx="566928" cy="566928"/>
          </a:xfrm>
          <a:prstGeom prst="ellipse">
            <a:avLst/>
          </a:prstGeom>
          <a:solidFill>
            <a:srgbClr val="F4F5F8"/>
          </a:solidFill>
          <a:ln/>
        </p:spPr>
      </p:sp>
      <p:sp>
        <p:nvSpPr>
          <p:cNvPr id="31" name="Text 29"/>
          <p:cNvSpPr/>
          <p:nvPr/>
        </p:nvSpPr>
        <p:spPr>
          <a:xfrm>
            <a:off x="6556248" y="4297680"/>
            <a:ext cx="566928" cy="566928"/>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32" name="Text 30"/>
          <p:cNvSpPr/>
          <p:nvPr/>
        </p:nvSpPr>
        <p:spPr>
          <a:xfrm>
            <a:off x="7269480" y="4315968"/>
            <a:ext cx="3063240" cy="548640"/>
          </a:xfrm>
          <a:prstGeom prst="rect">
            <a:avLst/>
          </a:prstGeom>
          <a:noFill/>
          <a:ln/>
        </p:spPr>
        <p:txBody>
          <a:bodyPr wrap="square" rtlCol="0" anchor="ctr"/>
          <a:lstStyle/>
          <a:p>
            <a:pPr indent="0" marL="0">
              <a:buNone/>
            </a:pPr>
            <a:r>
              <a:rPr lang="en-US" sz="1300" b="1" dirty="0">
                <a:solidFill>
                  <a:srgbClr val="1F2430"/>
                </a:solidFill>
                <a:latin typeface="Meiryo" pitchFamily="34" charset="0"/>
                <a:ea typeface="Meiryo" pitchFamily="34" charset="-122"/>
                <a:cs typeface="Meiryo" pitchFamily="34" charset="-120"/>
              </a:rPr>
              <a:t>コミュニティ / ギルド＋通報</a:t>
            </a:r>
            <a:endParaRPr lang="en-US" sz="1300" dirty="0"/>
          </a:p>
        </p:txBody>
      </p:sp>
      <p:sp>
        <p:nvSpPr>
          <p:cNvPr id="33" name="Shape 31"/>
          <p:cNvSpPr/>
          <p:nvPr/>
        </p:nvSpPr>
        <p:spPr>
          <a:xfrm>
            <a:off x="10378440" y="4389120"/>
            <a:ext cx="1051560" cy="310896"/>
          </a:xfrm>
          <a:prstGeom prst="roundRect">
            <a:avLst>
              <a:gd name="adj" fmla="val 50000"/>
            </a:avLst>
          </a:prstGeom>
          <a:solidFill>
            <a:srgbClr val="F4F5F8"/>
          </a:solidFill>
          <a:ln/>
        </p:spPr>
      </p:sp>
      <p:sp>
        <p:nvSpPr>
          <p:cNvPr id="34" name="Text 32"/>
          <p:cNvSpPr/>
          <p:nvPr/>
        </p:nvSpPr>
        <p:spPr>
          <a:xfrm>
            <a:off x="10378440" y="4389120"/>
            <a:ext cx="1051560" cy="310896"/>
          </a:xfrm>
          <a:prstGeom prst="rect">
            <a:avLst/>
          </a:prstGeom>
          <a:noFill/>
          <a:ln/>
        </p:spPr>
        <p:txBody>
          <a:bodyPr wrap="square" rtlCol="0" anchor="ctr"/>
          <a:lstStyle/>
          <a:p>
            <a:pPr algn="ctr" indent="0" marL="0">
              <a:buNone/>
            </a:pPr>
            <a:r>
              <a:rPr lang="en-US" sz="950" b="1" dirty="0">
                <a:solidFill>
                  <a:srgbClr val="1F2430"/>
                </a:solidFill>
                <a:latin typeface="Meiryo" pitchFamily="34" charset="0"/>
                <a:ea typeface="Meiryo" pitchFamily="34" charset="-122"/>
                <a:cs typeface="Meiryo" pitchFamily="34" charset="-120"/>
              </a:rPr>
              <a:t>MVP2</a:t>
            </a:r>
            <a:endParaRPr lang="en-US" sz="950" dirty="0"/>
          </a:p>
        </p:txBody>
      </p:sp>
      <p:sp>
        <p:nvSpPr>
          <p:cNvPr id="35" name="Text 33"/>
          <p:cNvSpPr/>
          <p:nvPr/>
        </p:nvSpPr>
        <p:spPr>
          <a:xfrm>
            <a:off x="6583680" y="5010912"/>
            <a:ext cx="4709160" cy="384048"/>
          </a:xfrm>
          <a:prstGeom prst="rect">
            <a:avLst/>
          </a:prstGeom>
          <a:noFill/>
          <a:ln/>
        </p:spPr>
        <p:txBody>
          <a:bodyPr wrap="square" rtlCol="0" anchor="t"/>
          <a:lstStyle/>
          <a:p>
            <a:pPr indent="0" marL="0">
              <a:buNone/>
            </a:pPr>
            <a:r>
              <a:rPr lang="en-US" sz="1050" b="1" dirty="0">
                <a:solidFill>
                  <a:srgbClr val="C0392B"/>
                </a:solidFill>
                <a:latin typeface="Meiryo" pitchFamily="34" charset="0"/>
                <a:ea typeface="Meiryo" pitchFamily="34" charset="-122"/>
                <a:cs typeface="Meiryo" pitchFamily="34" charset="-120"/>
              </a:rPr>
              <a:t>課題　</a:t>
            </a:r>
            <a:pPr indent="0" marL="0">
              <a:buNone/>
            </a:pPr>
            <a:r>
              <a:rPr lang="en-US" sz="1050" dirty="0">
                <a:solidFill>
                  <a:srgbClr val="6B7280"/>
                </a:solidFill>
                <a:latin typeface="Meiryo" pitchFamily="34" charset="0"/>
                <a:ea typeface="Meiryo" pitchFamily="34" charset="-122"/>
                <a:cs typeface="Meiryo" pitchFamily="34" charset="-120"/>
              </a:rPr>
              <a:t>差別化の核だが安全装置なしには開けない</a:t>
            </a:r>
            <a:endParaRPr lang="en-US" sz="1050" dirty="0"/>
          </a:p>
        </p:txBody>
      </p:sp>
      <p:sp>
        <p:nvSpPr>
          <p:cNvPr id="36" name="Text 34"/>
          <p:cNvSpPr/>
          <p:nvPr/>
        </p:nvSpPr>
        <p:spPr>
          <a:xfrm>
            <a:off x="6583680" y="5413248"/>
            <a:ext cx="4709160" cy="384048"/>
          </a:xfrm>
          <a:prstGeom prst="rect">
            <a:avLst/>
          </a:prstGeom>
          <a:noFill/>
          <a:ln/>
        </p:spPr>
        <p:txBody>
          <a:bodyPr wrap="square" rtlCol="0" anchor="t"/>
          <a:lstStyle/>
          <a:p>
            <a:pPr indent="0" marL="0">
              <a:buNone/>
            </a:pPr>
            <a:r>
              <a:rPr lang="en-US" sz="1050" b="1" dirty="0">
                <a:solidFill>
                  <a:srgbClr val="2F8F5B"/>
                </a:solidFill>
                <a:latin typeface="Meiryo" pitchFamily="34" charset="0"/>
                <a:ea typeface="Meiryo" pitchFamily="34" charset="-122"/>
                <a:cs typeface="Meiryo" pitchFamily="34" charset="-120"/>
              </a:rPr>
              <a:t>解決　</a:t>
            </a:r>
            <a:pPr indent="0" marL="0">
              <a:buNone/>
            </a:pPr>
            <a:r>
              <a:rPr lang="en-US" sz="1050" dirty="0">
                <a:solidFill>
                  <a:srgbClr val="1F2430"/>
                </a:solidFill>
                <a:latin typeface="Meiryo" pitchFamily="34" charset="0"/>
                <a:ea typeface="Meiryo" pitchFamily="34" charset="-122"/>
                <a:cs typeface="Meiryo" pitchFamily="34" charset="-120"/>
              </a:rPr>
              <a:t>ギルド・賭け質問＋通報/モデレーションを両立</a:t>
            </a:r>
            <a:endParaRPr lang="en-US" sz="1050" dirty="0"/>
          </a:p>
        </p:txBody>
      </p:sp>
      <p:sp>
        <p:nvSpPr>
          <p:cNvPr id="37" name="Text 35"/>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38" name="Text 36"/>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39" name="Text 37"/>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ADD-ON ①</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オファーウォール / 動画リワード広告</a:t>
            </a:r>
            <a:endParaRPr lang="en-US" sz="2500" dirty="0"/>
          </a:p>
        </p:txBody>
      </p:sp>
      <p:sp>
        <p:nvSpPr>
          <p:cNvPr id="4" name="Text 2"/>
          <p:cNvSpPr/>
          <p:nvPr/>
        </p:nvSpPr>
        <p:spPr>
          <a:xfrm>
            <a:off x="548640" y="1371600"/>
            <a:ext cx="11247120" cy="365760"/>
          </a:xfrm>
          <a:prstGeom prst="rect">
            <a:avLst/>
          </a:prstGeom>
          <a:noFill/>
          <a:ln/>
        </p:spPr>
        <p:txBody>
          <a:bodyPr wrap="square" rtlCol="0" anchor="ctr"/>
          <a:lstStyle/>
          <a:p>
            <a:pPr indent="0" marL="0">
              <a:buNone/>
            </a:pPr>
            <a:r>
              <a:rPr lang="en-US" sz="1200" dirty="0">
                <a:solidFill>
                  <a:srgbClr val="6B7280"/>
                </a:solidFill>
                <a:latin typeface="Meiryo" pitchFamily="34" charset="0"/>
                <a:ea typeface="Meiryo" pitchFamily="34" charset="-122"/>
                <a:cs typeface="Meiryo" pitchFamily="34" charset="-120"/>
              </a:rPr>
              <a:t>提携ゲームが少なくても「常にミッション在庫がある」状態を作り、アフィリエイトに次ぐ収益の柱を立てる。</a:t>
            </a:r>
            <a:endParaRPr lang="en-US" sz="1200" dirty="0"/>
          </a:p>
        </p:txBody>
      </p:sp>
      <p:sp>
        <p:nvSpPr>
          <p:cNvPr id="5" name="Shape 3"/>
          <p:cNvSpPr/>
          <p:nvPr/>
        </p:nvSpPr>
        <p:spPr>
          <a:xfrm>
            <a:off x="548640" y="1965960"/>
            <a:ext cx="2084832" cy="868680"/>
          </a:xfrm>
          <a:prstGeom prst="roundRect">
            <a:avLst>
              <a:gd name="adj" fmla="val 8421"/>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Text 4"/>
          <p:cNvSpPr/>
          <p:nvPr/>
        </p:nvSpPr>
        <p:spPr>
          <a:xfrm>
            <a:off x="658368" y="2057400"/>
            <a:ext cx="45720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1</a:t>
            </a:r>
            <a:endParaRPr lang="en-US" sz="1300" dirty="0"/>
          </a:p>
        </p:txBody>
      </p:sp>
      <p:sp>
        <p:nvSpPr>
          <p:cNvPr id="7" name="Text 5"/>
          <p:cNvSpPr/>
          <p:nvPr/>
        </p:nvSpPr>
        <p:spPr>
          <a:xfrm>
            <a:off x="685800" y="2276856"/>
            <a:ext cx="1810512" cy="502920"/>
          </a:xfrm>
          <a:prstGeom prst="rect">
            <a:avLst/>
          </a:prstGeom>
          <a:noFill/>
          <a:ln/>
        </p:spPr>
        <p:txBody>
          <a:bodyPr wrap="square" rtlCol="0" anchor="ctr"/>
          <a:lstStyle/>
          <a:p>
            <a:pPr indent="0" marL="0">
              <a:buNone/>
            </a:pPr>
            <a:r>
              <a:rPr lang="en-US" sz="1000" b="1" dirty="0">
                <a:solidFill>
                  <a:srgbClr val="1F2430"/>
                </a:solidFill>
                <a:latin typeface="Meiryo" pitchFamily="34" charset="0"/>
                <a:ea typeface="Meiryo" pitchFamily="34" charset="-122"/>
                <a:cs typeface="Meiryo" pitchFamily="34" charset="-120"/>
              </a:rPr>
              <a:t>オファー表示</a:t>
            </a:r>
            <a:endParaRPr lang="en-US" sz="1000" dirty="0"/>
          </a:p>
        </p:txBody>
      </p:sp>
      <p:sp>
        <p:nvSpPr>
          <p:cNvPr id="8" name="Text 6"/>
          <p:cNvSpPr/>
          <p:nvPr/>
        </p:nvSpPr>
        <p:spPr>
          <a:xfrm>
            <a:off x="2633472" y="1965960"/>
            <a:ext cx="182880" cy="86868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9" name="Shape 7"/>
          <p:cNvSpPr/>
          <p:nvPr/>
        </p:nvSpPr>
        <p:spPr>
          <a:xfrm>
            <a:off x="2816352" y="1965960"/>
            <a:ext cx="2084832" cy="868680"/>
          </a:xfrm>
          <a:prstGeom prst="roundRect">
            <a:avLst>
              <a:gd name="adj" fmla="val 8421"/>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0" name="Text 8"/>
          <p:cNvSpPr/>
          <p:nvPr/>
        </p:nvSpPr>
        <p:spPr>
          <a:xfrm>
            <a:off x="2926080" y="2057400"/>
            <a:ext cx="45720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2</a:t>
            </a:r>
            <a:endParaRPr lang="en-US" sz="1300" dirty="0"/>
          </a:p>
        </p:txBody>
      </p:sp>
      <p:sp>
        <p:nvSpPr>
          <p:cNvPr id="11" name="Text 9"/>
          <p:cNvSpPr/>
          <p:nvPr/>
        </p:nvSpPr>
        <p:spPr>
          <a:xfrm>
            <a:off x="2953512" y="2276856"/>
            <a:ext cx="1810512" cy="502920"/>
          </a:xfrm>
          <a:prstGeom prst="rect">
            <a:avLst/>
          </a:prstGeom>
          <a:noFill/>
          <a:ln/>
        </p:spPr>
        <p:txBody>
          <a:bodyPr wrap="square" rtlCol="0" anchor="ctr"/>
          <a:lstStyle/>
          <a:p>
            <a:pPr indent="0" marL="0">
              <a:buNone/>
            </a:pPr>
            <a:r>
              <a:rPr lang="en-US" sz="1000" b="1" dirty="0">
                <a:solidFill>
                  <a:srgbClr val="1F2430"/>
                </a:solidFill>
                <a:latin typeface="Meiryo" pitchFamily="34" charset="0"/>
                <a:ea typeface="Meiryo" pitchFamily="34" charset="-122"/>
                <a:cs typeface="Meiryo" pitchFamily="34" charset="-120"/>
              </a:rPr>
              <a:t>クリック / 開始</a:t>
            </a:r>
            <a:endParaRPr lang="en-US" sz="1000" dirty="0"/>
          </a:p>
        </p:txBody>
      </p:sp>
      <p:sp>
        <p:nvSpPr>
          <p:cNvPr id="12" name="Text 10"/>
          <p:cNvSpPr/>
          <p:nvPr/>
        </p:nvSpPr>
        <p:spPr>
          <a:xfrm>
            <a:off x="4901184" y="1965960"/>
            <a:ext cx="182880" cy="86868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13" name="Shape 11"/>
          <p:cNvSpPr/>
          <p:nvPr/>
        </p:nvSpPr>
        <p:spPr>
          <a:xfrm>
            <a:off x="5084064" y="1965960"/>
            <a:ext cx="2084832" cy="868680"/>
          </a:xfrm>
          <a:prstGeom prst="roundRect">
            <a:avLst>
              <a:gd name="adj" fmla="val 8421"/>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4" name="Text 12"/>
          <p:cNvSpPr/>
          <p:nvPr/>
        </p:nvSpPr>
        <p:spPr>
          <a:xfrm>
            <a:off x="5193792" y="2057400"/>
            <a:ext cx="45720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3</a:t>
            </a:r>
            <a:endParaRPr lang="en-US" sz="1300" dirty="0"/>
          </a:p>
        </p:txBody>
      </p:sp>
      <p:sp>
        <p:nvSpPr>
          <p:cNvPr id="15" name="Text 13"/>
          <p:cNvSpPr/>
          <p:nvPr/>
        </p:nvSpPr>
        <p:spPr>
          <a:xfrm>
            <a:off x="5221224" y="2276856"/>
            <a:ext cx="1810512" cy="502920"/>
          </a:xfrm>
          <a:prstGeom prst="rect">
            <a:avLst/>
          </a:prstGeom>
          <a:noFill/>
          <a:ln/>
        </p:spPr>
        <p:txBody>
          <a:bodyPr wrap="square" rtlCol="0" anchor="ctr"/>
          <a:lstStyle/>
          <a:p>
            <a:pPr indent="0" marL="0">
              <a:buNone/>
            </a:pPr>
            <a:r>
              <a:rPr lang="en-US" sz="1000" b="1" dirty="0">
                <a:solidFill>
                  <a:srgbClr val="1F2430"/>
                </a:solidFill>
                <a:latin typeface="Meiryo" pitchFamily="34" charset="0"/>
                <a:ea typeface="Meiryo" pitchFamily="34" charset="-122"/>
                <a:cs typeface="Meiryo" pitchFamily="34" charset="-120"/>
              </a:rPr>
              <a:t>条件達成</a:t>
            </a:r>
            <a:endParaRPr lang="en-US" sz="1000" dirty="0"/>
          </a:p>
        </p:txBody>
      </p:sp>
      <p:sp>
        <p:nvSpPr>
          <p:cNvPr id="16" name="Text 14"/>
          <p:cNvSpPr/>
          <p:nvPr/>
        </p:nvSpPr>
        <p:spPr>
          <a:xfrm>
            <a:off x="7168896" y="1965960"/>
            <a:ext cx="182880" cy="86868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17" name="Shape 15"/>
          <p:cNvSpPr/>
          <p:nvPr/>
        </p:nvSpPr>
        <p:spPr>
          <a:xfrm>
            <a:off x="7351776" y="1965960"/>
            <a:ext cx="2084832" cy="868680"/>
          </a:xfrm>
          <a:prstGeom prst="roundRect">
            <a:avLst>
              <a:gd name="adj" fmla="val 8421"/>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8" name="Text 16"/>
          <p:cNvSpPr/>
          <p:nvPr/>
        </p:nvSpPr>
        <p:spPr>
          <a:xfrm>
            <a:off x="7461504" y="2057400"/>
            <a:ext cx="45720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4</a:t>
            </a:r>
            <a:endParaRPr lang="en-US" sz="1300" dirty="0"/>
          </a:p>
        </p:txBody>
      </p:sp>
      <p:sp>
        <p:nvSpPr>
          <p:cNvPr id="19" name="Text 17"/>
          <p:cNvSpPr/>
          <p:nvPr/>
        </p:nvSpPr>
        <p:spPr>
          <a:xfrm>
            <a:off x="7488936" y="2276856"/>
            <a:ext cx="1810512" cy="502920"/>
          </a:xfrm>
          <a:prstGeom prst="rect">
            <a:avLst/>
          </a:prstGeom>
          <a:noFill/>
          <a:ln/>
        </p:spPr>
        <p:txBody>
          <a:bodyPr wrap="square" rtlCol="0" anchor="ctr"/>
          <a:lstStyle/>
          <a:p>
            <a:pPr indent="0" marL="0">
              <a:buNone/>
            </a:pPr>
            <a:r>
              <a:rPr lang="en-US" sz="1000" b="1" dirty="0">
                <a:solidFill>
                  <a:srgbClr val="1F2430"/>
                </a:solidFill>
                <a:latin typeface="Meiryo" pitchFamily="34" charset="0"/>
                <a:ea typeface="Meiryo" pitchFamily="34" charset="-122"/>
                <a:cs typeface="Meiryo" pitchFamily="34" charset="-120"/>
              </a:rPr>
              <a:t>ネットワークから postback</a:t>
            </a:r>
            <a:endParaRPr lang="en-US" sz="1000" dirty="0"/>
          </a:p>
        </p:txBody>
      </p:sp>
      <p:sp>
        <p:nvSpPr>
          <p:cNvPr id="20" name="Text 18"/>
          <p:cNvSpPr/>
          <p:nvPr/>
        </p:nvSpPr>
        <p:spPr>
          <a:xfrm>
            <a:off x="9436608" y="1965960"/>
            <a:ext cx="182880" cy="86868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21" name="Shape 19"/>
          <p:cNvSpPr/>
          <p:nvPr/>
        </p:nvSpPr>
        <p:spPr>
          <a:xfrm>
            <a:off x="9619488" y="1965960"/>
            <a:ext cx="2084832" cy="868680"/>
          </a:xfrm>
          <a:prstGeom prst="roundRect">
            <a:avLst>
              <a:gd name="adj" fmla="val 8421"/>
            </a:avLst>
          </a:prstGeom>
          <a:solidFill>
            <a:srgbClr val="3B4CCA"/>
          </a:solidFill>
          <a:ln w="12700">
            <a:solidFill>
              <a:srgbClr val="3B4CCA"/>
            </a:solidFill>
            <a:prstDash val="solid"/>
          </a:ln>
          <a:effectLst>
            <a:outerShdw sx="100000" sy="100000" kx="0" ky="0" algn="bl" rotWithShape="0" blurRad="114300" dist="38100" dir="8100000">
              <a:srgbClr val="1F2430">
                <a:alpha val="12000"/>
              </a:srgbClr>
            </a:outerShdw>
          </a:effectLst>
        </p:spPr>
      </p:sp>
      <p:sp>
        <p:nvSpPr>
          <p:cNvPr id="22" name="Text 20"/>
          <p:cNvSpPr/>
          <p:nvPr/>
        </p:nvSpPr>
        <p:spPr>
          <a:xfrm>
            <a:off x="9729216" y="2057400"/>
            <a:ext cx="457200" cy="365760"/>
          </a:xfrm>
          <a:prstGeom prst="rect">
            <a:avLst/>
          </a:prstGeom>
          <a:noFill/>
          <a:ln/>
        </p:spPr>
        <p:txBody>
          <a:bodyPr wrap="square" rtlCol="0" anchor="ctr"/>
          <a:lstStyle/>
          <a:p>
            <a:pPr indent="0" marL="0">
              <a:buNone/>
            </a:pPr>
            <a:r>
              <a:rPr lang="en-US" sz="1300" b="1" dirty="0">
                <a:solidFill>
                  <a:srgbClr val="CAD2FF"/>
                </a:solidFill>
                <a:latin typeface="Meiryo" pitchFamily="34" charset="0"/>
                <a:ea typeface="Meiryo" pitchFamily="34" charset="-122"/>
                <a:cs typeface="Meiryo" pitchFamily="34" charset="-120"/>
              </a:rPr>
              <a:t>5</a:t>
            </a:r>
            <a:endParaRPr lang="en-US" sz="1300" dirty="0"/>
          </a:p>
        </p:txBody>
      </p:sp>
      <p:sp>
        <p:nvSpPr>
          <p:cNvPr id="23" name="Text 21"/>
          <p:cNvSpPr/>
          <p:nvPr/>
        </p:nvSpPr>
        <p:spPr>
          <a:xfrm>
            <a:off x="9756648" y="2276856"/>
            <a:ext cx="1810512" cy="502920"/>
          </a:xfrm>
          <a:prstGeom prst="rect">
            <a:avLst/>
          </a:prstGeom>
          <a:noFill/>
          <a:ln/>
        </p:spPr>
        <p:txBody>
          <a:bodyPr wrap="square" rtlCol="0" anchor="ctr"/>
          <a:lstStyle/>
          <a:p>
            <a:pPr indent="0" marL="0">
              <a:buNone/>
            </a:pPr>
            <a:r>
              <a:rPr lang="en-US" sz="1000" b="1" dirty="0">
                <a:solidFill>
                  <a:srgbClr val="FFFFFF"/>
                </a:solidFill>
                <a:latin typeface="Meiryo" pitchFamily="34" charset="0"/>
                <a:ea typeface="Meiryo" pitchFamily="34" charset="-122"/>
                <a:cs typeface="Meiryo" pitchFamily="34" charset="-120"/>
              </a:rPr>
              <a:t>ポイント付与（検証後）</a:t>
            </a:r>
            <a:endParaRPr lang="en-US" sz="1000" dirty="0"/>
          </a:p>
        </p:txBody>
      </p:sp>
      <p:sp>
        <p:nvSpPr>
          <p:cNvPr id="24" name="Shape 22"/>
          <p:cNvSpPr/>
          <p:nvPr/>
        </p:nvSpPr>
        <p:spPr>
          <a:xfrm>
            <a:off x="548640" y="3200400"/>
            <a:ext cx="7315200" cy="2834640"/>
          </a:xfrm>
          <a:prstGeom prst="roundRect">
            <a:avLst>
              <a:gd name="adj" fmla="val 2581"/>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5" name="Text 23"/>
          <p:cNvSpPr/>
          <p:nvPr/>
        </p:nvSpPr>
        <p:spPr>
          <a:xfrm>
            <a:off x="868680" y="3383280"/>
            <a:ext cx="640080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設計のポイント</a:t>
            </a:r>
            <a:endParaRPr lang="en-US" sz="1300" dirty="0"/>
          </a:p>
        </p:txBody>
      </p:sp>
      <p:sp>
        <p:nvSpPr>
          <p:cNvPr id="26" name="Text 24"/>
          <p:cNvSpPr/>
          <p:nvPr/>
        </p:nvSpPr>
        <p:spPr>
          <a:xfrm>
            <a:off x="914400" y="3794760"/>
            <a:ext cx="6766560" cy="2103120"/>
          </a:xfrm>
          <a:prstGeom prst="rect">
            <a:avLst/>
          </a:prstGeom>
          <a:noFill/>
          <a:ln/>
        </p:spPr>
        <p:txBody>
          <a:bodyPr wrap="square" rtlCol="0" anchor="t"/>
          <a:lstStyle/>
          <a:p>
            <a:pPr marL="152400" indent="-152400">
              <a:spcAft>
                <a:spcPts val="700"/>
              </a:spcAft>
              <a:buSzPct val="100000"/>
              <a:buChar char="•"/>
            </a:pPr>
            <a:r>
              <a:rPr lang="en-US" sz="1100" dirty="0">
                <a:solidFill>
                  <a:srgbClr val="1F2430"/>
                </a:solidFill>
                <a:latin typeface="Meiryo" pitchFamily="34" charset="0"/>
                <a:ea typeface="Meiryo" pitchFamily="34" charset="-122"/>
                <a:cs typeface="Meiryo" pitchFamily="34" charset="-120"/>
              </a:rPr>
              <a:t>複数ネットワークをアダプタ層で抽象化（メディエーション）— Tapjoy / AppLovin / ironSource 等</a:t>
            </a:r>
            <a:endParaRPr lang="en-US" sz="1100" dirty="0"/>
          </a:p>
          <a:p>
            <a:pPr marL="152400" indent="-152400">
              <a:spcAft>
                <a:spcPts val="700"/>
              </a:spcAft>
              <a:buSzPct val="100000"/>
              <a:buChar char="•"/>
            </a:pPr>
            <a:r>
              <a:rPr lang="en-US" sz="1100" dirty="0">
                <a:solidFill>
                  <a:srgbClr val="1F2430"/>
                </a:solidFill>
                <a:latin typeface="Meiryo" pitchFamily="34" charset="0"/>
                <a:ea typeface="Meiryo" pitchFamily="34" charset="-122"/>
                <a:cs typeface="Meiryo" pitchFamily="34" charset="-120"/>
              </a:rPr>
              <a:t>動画リワード広告（30秒視聴で即時付与）と高単価CPAオファーを併設</a:t>
            </a:r>
            <a:endParaRPr lang="en-US" sz="1100" dirty="0"/>
          </a:p>
          <a:p>
            <a:pPr marL="152400" indent="-152400">
              <a:spcAft>
                <a:spcPts val="700"/>
              </a:spcAft>
              <a:buSzPct val="100000"/>
              <a:buChar char="•"/>
            </a:pPr>
            <a:r>
              <a:rPr lang="en-US" sz="1100" dirty="0">
                <a:solidFill>
                  <a:srgbClr val="1F2430"/>
                </a:solidFill>
                <a:latin typeface="Meiryo" pitchFamily="34" charset="0"/>
                <a:ea typeface="Meiryo" pitchFamily="34" charset="-122"/>
                <a:cs typeface="Meiryo" pitchFamily="34" charset="-120"/>
              </a:rPr>
              <a:t>報酬確定は広告ネットワークからの postback で（達成検証と同じ土台を共用）</a:t>
            </a:r>
            <a:endParaRPr lang="en-US" sz="1100" dirty="0"/>
          </a:p>
          <a:p>
            <a:pPr marL="152400" indent="-152400">
              <a:spcAft>
                <a:spcPts val="700"/>
              </a:spcAft>
              <a:buSzPct val="100000"/>
              <a:buChar char="•"/>
            </a:pPr>
            <a:r>
              <a:rPr lang="en-US" sz="1100" dirty="0">
                <a:solidFill>
                  <a:srgbClr val="1F2430"/>
                </a:solidFill>
                <a:latin typeface="Meiryo" pitchFamily="34" charset="0"/>
                <a:ea typeface="Meiryo" pitchFamily="34" charset="-122"/>
                <a:cs typeface="Meiryo" pitchFamily="34" charset="-120"/>
              </a:rPr>
              <a:t>iOS ATT / IDFA 許諾・年齢・地域による出し分け、在庫枯渇時のフォールバック</a:t>
            </a:r>
            <a:endParaRPr lang="en-US" sz="1100" dirty="0"/>
          </a:p>
          <a:p>
            <a:pPr marL="152400" indent="-152400">
              <a:spcAft>
                <a:spcPts val="700"/>
              </a:spcAft>
              <a:buSzPct val="100000"/>
              <a:buChar char="•"/>
            </a:pPr>
            <a:r>
              <a:rPr lang="en-US" sz="1100" dirty="0">
                <a:solidFill>
                  <a:srgbClr val="1F2430"/>
                </a:solidFill>
                <a:latin typeface="Meiryo" pitchFamily="34" charset="0"/>
                <a:ea typeface="Meiryo" pitchFamily="34" charset="-122"/>
                <a:cs typeface="Meiryo" pitchFamily="34" charset="-120"/>
              </a:rPr>
              <a:t>重複postbackの排除（idempotency）で二重付与を防止</a:t>
            </a:r>
            <a:endParaRPr lang="en-US" sz="1100" dirty="0"/>
          </a:p>
        </p:txBody>
      </p:sp>
      <p:sp>
        <p:nvSpPr>
          <p:cNvPr id="27" name="Shape 25"/>
          <p:cNvSpPr/>
          <p:nvPr/>
        </p:nvSpPr>
        <p:spPr>
          <a:xfrm>
            <a:off x="8092440" y="3200400"/>
            <a:ext cx="3520440" cy="2834640"/>
          </a:xfrm>
          <a:prstGeom prst="roundRect">
            <a:avLst>
              <a:gd name="adj" fmla="val 2581"/>
            </a:avLst>
          </a:prstGeom>
          <a:solidFill>
            <a:srgbClr val="1F2430"/>
          </a:solidFill>
          <a:ln/>
        </p:spPr>
      </p:sp>
      <p:sp>
        <p:nvSpPr>
          <p:cNvPr id="28" name="Text 26"/>
          <p:cNvSpPr/>
          <p:nvPr/>
        </p:nvSpPr>
        <p:spPr>
          <a:xfrm>
            <a:off x="8366760" y="3401568"/>
            <a:ext cx="3017520" cy="365760"/>
          </a:xfrm>
          <a:prstGeom prst="rect">
            <a:avLst/>
          </a:prstGeom>
          <a:noFill/>
          <a:ln/>
        </p:spPr>
        <p:txBody>
          <a:bodyPr wrap="square" rtlCol="0" anchor="ctr"/>
          <a:lstStyle/>
          <a:p>
            <a:pPr indent="0" marL="0">
              <a:buNone/>
            </a:pPr>
            <a:r>
              <a:rPr lang="en-US" sz="1200" b="1" dirty="0">
                <a:solidFill>
                  <a:srgbClr val="C79A3A"/>
                </a:solidFill>
                <a:latin typeface="Meiryo" pitchFamily="34" charset="0"/>
                <a:ea typeface="Meiryo" pitchFamily="34" charset="-122"/>
                <a:cs typeface="Meiryo" pitchFamily="34" charset="-120"/>
              </a:rPr>
              <a:t>収益インパクト</a:t>
            </a:r>
            <a:endParaRPr lang="en-US" sz="1200" dirty="0"/>
          </a:p>
        </p:txBody>
      </p:sp>
      <p:sp>
        <p:nvSpPr>
          <p:cNvPr id="29" name="Text 27"/>
          <p:cNvSpPr/>
          <p:nvPr/>
        </p:nvSpPr>
        <p:spPr>
          <a:xfrm>
            <a:off x="8366760" y="3840480"/>
            <a:ext cx="3017520" cy="365760"/>
          </a:xfrm>
          <a:prstGeom prst="rect">
            <a:avLst/>
          </a:prstGeom>
          <a:noFill/>
          <a:ln/>
        </p:spPr>
        <p:txBody>
          <a:bodyPr wrap="square" rtlCol="0" anchor="ctr"/>
          <a:lstStyle/>
          <a:p>
            <a:pPr indent="0" marL="0">
              <a:buNone/>
            </a:pPr>
            <a:r>
              <a:rPr lang="en-US" sz="1300" b="1" dirty="0">
                <a:solidFill>
                  <a:srgbClr val="FFFFFF"/>
                </a:solidFill>
                <a:latin typeface="Meiryo" pitchFamily="34" charset="0"/>
                <a:ea typeface="Meiryo" pitchFamily="34" charset="-122"/>
                <a:cs typeface="Meiryo" pitchFamily="34" charset="-120"/>
              </a:rPr>
              <a:t>常時ミッション在庫</a:t>
            </a:r>
            <a:endParaRPr lang="en-US" sz="1300" dirty="0"/>
          </a:p>
        </p:txBody>
      </p:sp>
      <p:sp>
        <p:nvSpPr>
          <p:cNvPr id="30" name="Text 28"/>
          <p:cNvSpPr/>
          <p:nvPr/>
        </p:nvSpPr>
        <p:spPr>
          <a:xfrm>
            <a:off x="8366760" y="4160520"/>
            <a:ext cx="3017520" cy="320040"/>
          </a:xfrm>
          <a:prstGeom prst="rect">
            <a:avLst/>
          </a:prstGeom>
          <a:noFill/>
          <a:ln/>
        </p:spPr>
        <p:txBody>
          <a:bodyPr wrap="square" rtlCol="0" anchor="ctr"/>
          <a:lstStyle/>
          <a:p>
            <a:pPr indent="0" marL="0">
              <a:buNone/>
            </a:pPr>
            <a:r>
              <a:rPr lang="en-US" sz="1000" dirty="0">
                <a:solidFill>
                  <a:srgbClr val="AEB3D8"/>
                </a:solidFill>
                <a:latin typeface="Meiryo" pitchFamily="34" charset="0"/>
                <a:ea typeface="Meiryo" pitchFamily="34" charset="-122"/>
                <a:cs typeface="Meiryo" pitchFamily="34" charset="-120"/>
              </a:rPr>
              <a:t>コールドスタート解決</a:t>
            </a:r>
            <a:endParaRPr lang="en-US" sz="1000" dirty="0"/>
          </a:p>
        </p:txBody>
      </p:sp>
      <p:sp>
        <p:nvSpPr>
          <p:cNvPr id="31" name="Text 29"/>
          <p:cNvSpPr/>
          <p:nvPr/>
        </p:nvSpPr>
        <p:spPr>
          <a:xfrm>
            <a:off x="8366760" y="4617720"/>
            <a:ext cx="3017520" cy="365760"/>
          </a:xfrm>
          <a:prstGeom prst="rect">
            <a:avLst/>
          </a:prstGeom>
          <a:noFill/>
          <a:ln/>
        </p:spPr>
        <p:txBody>
          <a:bodyPr wrap="square" rtlCol="0" anchor="ctr"/>
          <a:lstStyle/>
          <a:p>
            <a:pPr indent="0" marL="0">
              <a:buNone/>
            </a:pPr>
            <a:r>
              <a:rPr lang="en-US" sz="1300" b="1" dirty="0">
                <a:solidFill>
                  <a:srgbClr val="FFFFFF"/>
                </a:solidFill>
                <a:latin typeface="Meiryo" pitchFamily="34" charset="0"/>
                <a:ea typeface="Meiryo" pitchFamily="34" charset="-122"/>
                <a:cs typeface="Meiryo" pitchFamily="34" charset="-120"/>
              </a:rPr>
              <a:t>＋ 第2の収益源</a:t>
            </a:r>
            <a:endParaRPr lang="en-US" sz="1300" dirty="0"/>
          </a:p>
        </p:txBody>
      </p:sp>
      <p:sp>
        <p:nvSpPr>
          <p:cNvPr id="32" name="Text 30"/>
          <p:cNvSpPr/>
          <p:nvPr/>
        </p:nvSpPr>
        <p:spPr>
          <a:xfrm>
            <a:off x="8366760" y="4937760"/>
            <a:ext cx="3017520" cy="320040"/>
          </a:xfrm>
          <a:prstGeom prst="rect">
            <a:avLst/>
          </a:prstGeom>
          <a:noFill/>
          <a:ln/>
        </p:spPr>
        <p:txBody>
          <a:bodyPr wrap="square" rtlCol="0" anchor="ctr"/>
          <a:lstStyle/>
          <a:p>
            <a:pPr indent="0" marL="0">
              <a:buNone/>
            </a:pPr>
            <a:r>
              <a:rPr lang="en-US" sz="1000" dirty="0">
                <a:solidFill>
                  <a:srgbClr val="AEB3D8"/>
                </a:solidFill>
                <a:latin typeface="Meiryo" pitchFamily="34" charset="0"/>
                <a:ea typeface="Meiryo" pitchFamily="34" charset="-122"/>
                <a:cs typeface="Meiryo" pitchFamily="34" charset="-120"/>
              </a:rPr>
              <a:t>KPI：eCPM / 完了率 / ARPDAU</a:t>
            </a:r>
            <a:endParaRPr lang="en-US" sz="1000" dirty="0"/>
          </a:p>
        </p:txBody>
      </p:sp>
      <p:sp>
        <p:nvSpPr>
          <p:cNvPr id="33" name="Shape 31"/>
          <p:cNvSpPr/>
          <p:nvPr/>
        </p:nvSpPr>
        <p:spPr>
          <a:xfrm>
            <a:off x="8366760" y="5486400"/>
            <a:ext cx="1737360" cy="310896"/>
          </a:xfrm>
          <a:prstGeom prst="roundRect">
            <a:avLst>
              <a:gd name="adj" fmla="val 50000"/>
            </a:avLst>
          </a:prstGeom>
          <a:solidFill>
            <a:srgbClr val="F6EFDA"/>
          </a:solidFill>
          <a:ln/>
        </p:spPr>
      </p:sp>
      <p:sp>
        <p:nvSpPr>
          <p:cNvPr id="34" name="Text 32"/>
          <p:cNvSpPr/>
          <p:nvPr/>
        </p:nvSpPr>
        <p:spPr>
          <a:xfrm>
            <a:off x="8366760" y="5486400"/>
            <a:ext cx="1737360" cy="310896"/>
          </a:xfrm>
          <a:prstGeom prst="rect">
            <a:avLst/>
          </a:prstGeom>
          <a:noFill/>
          <a:ln/>
        </p:spPr>
        <p:txBody>
          <a:bodyPr wrap="square" rtlCol="0" anchor="ctr"/>
          <a:lstStyle/>
          <a:p>
            <a:pPr algn="ctr" indent="0" marL="0">
              <a:buNone/>
            </a:pPr>
            <a:r>
              <a:rPr lang="en-US" sz="950" b="1" dirty="0">
                <a:solidFill>
                  <a:srgbClr val="C79A3A"/>
                </a:solidFill>
                <a:latin typeface="Meiryo" pitchFamily="34" charset="0"/>
                <a:ea typeface="Meiryo" pitchFamily="34" charset="-122"/>
                <a:cs typeface="Meiryo" pitchFamily="34" charset="-120"/>
              </a:rPr>
              <a:t>配置：MVP1.5–2</a:t>
            </a:r>
            <a:endParaRPr lang="en-US" sz="950" dirty="0"/>
          </a:p>
        </p:txBody>
      </p:sp>
      <p:sp>
        <p:nvSpPr>
          <p:cNvPr id="35" name="Text 33"/>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36" name="Text 34"/>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37" name="Text 35"/>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ADD-ON ②</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達成のサーバー検証（postback）</a:t>
            </a:r>
            <a:endParaRPr lang="en-US" sz="2500" dirty="0"/>
          </a:p>
        </p:txBody>
      </p:sp>
      <p:sp>
        <p:nvSpPr>
          <p:cNvPr id="4" name="Text 2"/>
          <p:cNvSpPr/>
          <p:nvPr/>
        </p:nvSpPr>
        <p:spPr>
          <a:xfrm>
            <a:off x="548640" y="1371600"/>
            <a:ext cx="11430000" cy="365760"/>
          </a:xfrm>
          <a:prstGeom prst="rect">
            <a:avLst/>
          </a:prstGeom>
          <a:noFill/>
          <a:ln/>
        </p:spPr>
        <p:txBody>
          <a:bodyPr wrap="square" rtlCol="0" anchor="ctr"/>
          <a:lstStyle/>
          <a:p>
            <a:pPr indent="0" marL="0">
              <a:buNone/>
            </a:pPr>
            <a:r>
              <a:rPr lang="en-US" sz="1200" dirty="0">
                <a:solidFill>
                  <a:srgbClr val="6B7280"/>
                </a:solidFill>
                <a:latin typeface="Meiryo" pitchFamily="34" charset="0"/>
                <a:ea typeface="Meiryo" pitchFamily="34" charset="-122"/>
                <a:cs typeface="Meiryo" pitchFamily="34" charset="-120"/>
              </a:rPr>
              <a:t>自己申告ではなくサーバーで達成を検証してから付与する。これが無いとBtoB（広告掲載）の信頼が成立しない＝MVP1の土台。</a:t>
            </a:r>
            <a:endParaRPr lang="en-US" sz="1200" dirty="0"/>
          </a:p>
        </p:txBody>
      </p:sp>
      <p:sp>
        <p:nvSpPr>
          <p:cNvPr id="5" name="Shape 3"/>
          <p:cNvSpPr/>
          <p:nvPr/>
        </p:nvSpPr>
        <p:spPr>
          <a:xfrm>
            <a:off x="777240" y="1965960"/>
            <a:ext cx="2468880" cy="822960"/>
          </a:xfrm>
          <a:prstGeom prst="roundRect">
            <a:avLst>
              <a:gd name="adj" fmla="val 50000"/>
            </a:avLst>
          </a:prstGeom>
          <a:solidFill>
            <a:srgbClr val="F4F5F8"/>
          </a:solidFill>
          <a:ln w="15875">
            <a:solidFill>
              <a:srgbClr val="9AA0AC"/>
            </a:solidFill>
            <a:prstDash val="solid"/>
          </a:ln>
        </p:spPr>
      </p:sp>
      <p:sp>
        <p:nvSpPr>
          <p:cNvPr id="6" name="Text 4"/>
          <p:cNvSpPr/>
          <p:nvPr/>
        </p:nvSpPr>
        <p:spPr>
          <a:xfrm>
            <a:off x="777240" y="1965960"/>
            <a:ext cx="2468880" cy="822960"/>
          </a:xfrm>
          <a:prstGeom prst="rect">
            <a:avLst/>
          </a:prstGeom>
          <a:noFill/>
          <a:ln/>
        </p:spPr>
        <p:txBody>
          <a:bodyPr wrap="square" rtlCol="0" anchor="ctr"/>
          <a:lstStyle/>
          <a:p>
            <a:pPr algn="ctr" indent="0" marL="0">
              <a:buNone/>
            </a:pPr>
            <a:r>
              <a:rPr lang="en-US" sz="1200" b="1" dirty="0">
                <a:solidFill>
                  <a:srgbClr val="9AA0AC"/>
                </a:solidFill>
                <a:latin typeface="Meiryo" pitchFamily="34" charset="0"/>
                <a:ea typeface="Meiryo" pitchFamily="34" charset="-122"/>
                <a:cs typeface="Meiryo" pitchFamily="34" charset="-120"/>
              </a:rPr>
              <a:t>未達成</a:t>
            </a:r>
            <a:endParaRPr lang="en-US" sz="1200" dirty="0"/>
          </a:p>
        </p:txBody>
      </p:sp>
      <p:sp>
        <p:nvSpPr>
          <p:cNvPr id="7" name="Text 5"/>
          <p:cNvSpPr/>
          <p:nvPr/>
        </p:nvSpPr>
        <p:spPr>
          <a:xfrm>
            <a:off x="3246120" y="1965960"/>
            <a:ext cx="411480" cy="82296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8" name="Shape 6"/>
          <p:cNvSpPr/>
          <p:nvPr/>
        </p:nvSpPr>
        <p:spPr>
          <a:xfrm>
            <a:off x="3657600" y="1965960"/>
            <a:ext cx="2468880" cy="822960"/>
          </a:xfrm>
          <a:prstGeom prst="roundRect">
            <a:avLst>
              <a:gd name="adj" fmla="val 50000"/>
            </a:avLst>
          </a:prstGeom>
          <a:solidFill>
            <a:srgbClr val="F6EFDA"/>
          </a:solidFill>
          <a:ln w="15875">
            <a:solidFill>
              <a:srgbClr val="C79A3A"/>
            </a:solidFill>
            <a:prstDash val="solid"/>
          </a:ln>
        </p:spPr>
      </p:sp>
      <p:sp>
        <p:nvSpPr>
          <p:cNvPr id="9" name="Text 7"/>
          <p:cNvSpPr/>
          <p:nvPr/>
        </p:nvSpPr>
        <p:spPr>
          <a:xfrm>
            <a:off x="3657600" y="1965960"/>
            <a:ext cx="2468880" cy="822960"/>
          </a:xfrm>
          <a:prstGeom prst="rect">
            <a:avLst/>
          </a:prstGeom>
          <a:noFill/>
          <a:ln/>
        </p:spPr>
        <p:txBody>
          <a:bodyPr wrap="square" rtlCol="0" anchor="ctr"/>
          <a:lstStyle/>
          <a:p>
            <a:pPr algn="ctr" indent="0" marL="0">
              <a:buNone/>
            </a:pPr>
            <a:r>
              <a:rPr lang="en-US" sz="1200" b="1" dirty="0">
                <a:solidFill>
                  <a:srgbClr val="C79A3A"/>
                </a:solidFill>
                <a:latin typeface="Meiryo" pitchFamily="34" charset="0"/>
                <a:ea typeface="Meiryo" pitchFamily="34" charset="-122"/>
                <a:cs typeface="Meiryo" pitchFamily="34" charset="-120"/>
              </a:rPr>
              <a:t>検証中 (pending)</a:t>
            </a:r>
            <a:endParaRPr lang="en-US" sz="1200" dirty="0"/>
          </a:p>
        </p:txBody>
      </p:sp>
      <p:sp>
        <p:nvSpPr>
          <p:cNvPr id="10" name="Text 8"/>
          <p:cNvSpPr/>
          <p:nvPr/>
        </p:nvSpPr>
        <p:spPr>
          <a:xfrm>
            <a:off x="6126480" y="1965960"/>
            <a:ext cx="411480" cy="82296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11" name="Shape 9"/>
          <p:cNvSpPr/>
          <p:nvPr/>
        </p:nvSpPr>
        <p:spPr>
          <a:xfrm>
            <a:off x="6537960" y="1965960"/>
            <a:ext cx="2468880" cy="822960"/>
          </a:xfrm>
          <a:prstGeom prst="roundRect">
            <a:avLst>
              <a:gd name="adj" fmla="val 50000"/>
            </a:avLst>
          </a:prstGeom>
          <a:solidFill>
            <a:srgbClr val="E7F3EC"/>
          </a:solidFill>
          <a:ln w="15875">
            <a:solidFill>
              <a:srgbClr val="2F8F5B"/>
            </a:solidFill>
            <a:prstDash val="solid"/>
          </a:ln>
        </p:spPr>
      </p:sp>
      <p:sp>
        <p:nvSpPr>
          <p:cNvPr id="12" name="Text 10"/>
          <p:cNvSpPr/>
          <p:nvPr/>
        </p:nvSpPr>
        <p:spPr>
          <a:xfrm>
            <a:off x="6537960" y="1965960"/>
            <a:ext cx="2468880" cy="822960"/>
          </a:xfrm>
          <a:prstGeom prst="rect">
            <a:avLst/>
          </a:prstGeom>
          <a:noFill/>
          <a:ln/>
        </p:spPr>
        <p:txBody>
          <a:bodyPr wrap="square" rtlCol="0" anchor="ctr"/>
          <a:lstStyle/>
          <a:p>
            <a:pPr algn="ctr" indent="0" marL="0">
              <a:buNone/>
            </a:pPr>
            <a:r>
              <a:rPr lang="en-US" sz="1200" b="1" dirty="0">
                <a:solidFill>
                  <a:srgbClr val="2F8F5B"/>
                </a:solidFill>
                <a:latin typeface="Meiryo" pitchFamily="34" charset="0"/>
                <a:ea typeface="Meiryo" pitchFamily="34" charset="-122"/>
                <a:cs typeface="Meiryo" pitchFamily="34" charset="-120"/>
              </a:rPr>
              <a:t>確定 (confirmed)</a:t>
            </a:r>
            <a:endParaRPr lang="en-US" sz="1200" dirty="0"/>
          </a:p>
        </p:txBody>
      </p:sp>
      <p:sp>
        <p:nvSpPr>
          <p:cNvPr id="13" name="Shape 11"/>
          <p:cNvSpPr/>
          <p:nvPr/>
        </p:nvSpPr>
        <p:spPr>
          <a:xfrm>
            <a:off x="9418320" y="1965960"/>
            <a:ext cx="2468880" cy="822960"/>
          </a:xfrm>
          <a:prstGeom prst="roundRect">
            <a:avLst>
              <a:gd name="adj" fmla="val 50000"/>
            </a:avLst>
          </a:prstGeom>
          <a:solidFill>
            <a:srgbClr val="FDECEA"/>
          </a:solidFill>
          <a:ln w="15875">
            <a:solidFill>
              <a:srgbClr val="C0392B"/>
            </a:solidFill>
            <a:prstDash val="solid"/>
          </a:ln>
        </p:spPr>
      </p:sp>
      <p:sp>
        <p:nvSpPr>
          <p:cNvPr id="14" name="Text 12"/>
          <p:cNvSpPr/>
          <p:nvPr/>
        </p:nvSpPr>
        <p:spPr>
          <a:xfrm>
            <a:off x="9418320" y="1965960"/>
            <a:ext cx="2468880" cy="822960"/>
          </a:xfrm>
          <a:prstGeom prst="rect">
            <a:avLst/>
          </a:prstGeom>
          <a:noFill/>
          <a:ln/>
        </p:spPr>
        <p:txBody>
          <a:bodyPr wrap="square" rtlCol="0" anchor="ctr"/>
          <a:lstStyle/>
          <a:p>
            <a:pPr algn="ctr" indent="0" marL="0">
              <a:buNone/>
            </a:pPr>
            <a:r>
              <a:rPr lang="en-US" sz="1200" b="1" dirty="0">
                <a:solidFill>
                  <a:srgbClr val="C0392B"/>
                </a:solidFill>
                <a:latin typeface="Meiryo" pitchFamily="34" charset="0"/>
                <a:ea typeface="Meiryo" pitchFamily="34" charset="-122"/>
                <a:cs typeface="Meiryo" pitchFamily="34" charset="-120"/>
              </a:rPr>
              <a:t>却下 (rejected)</a:t>
            </a:r>
            <a:endParaRPr lang="en-US" sz="1200" dirty="0"/>
          </a:p>
        </p:txBody>
      </p:sp>
      <p:sp>
        <p:nvSpPr>
          <p:cNvPr id="15" name="Text 13"/>
          <p:cNvSpPr/>
          <p:nvPr/>
        </p:nvSpPr>
        <p:spPr>
          <a:xfrm>
            <a:off x="6537960" y="1554480"/>
            <a:ext cx="2468880" cy="365760"/>
          </a:xfrm>
          <a:prstGeom prst="rect">
            <a:avLst/>
          </a:prstGeom>
          <a:noFill/>
          <a:ln/>
        </p:spPr>
        <p:txBody>
          <a:bodyPr wrap="square" rtlCol="0" anchor="ctr"/>
          <a:lstStyle/>
          <a:p>
            <a:pPr algn="ctr" indent="0" marL="0">
              <a:buNone/>
            </a:pPr>
            <a:r>
              <a:rPr lang="en-US" sz="900" dirty="0">
                <a:solidFill>
                  <a:srgbClr val="2F8F5B"/>
                </a:solidFill>
                <a:latin typeface="Meiryo" pitchFamily="34" charset="0"/>
                <a:ea typeface="Meiryo" pitchFamily="34" charset="-122"/>
                <a:cs typeface="Meiryo" pitchFamily="34" charset="-120"/>
              </a:rPr>
              <a:t>↑ postback受信＋署名/IP検証</a:t>
            </a:r>
            <a:endParaRPr lang="en-US" sz="900" dirty="0"/>
          </a:p>
        </p:txBody>
      </p:sp>
      <p:sp>
        <p:nvSpPr>
          <p:cNvPr id="16" name="Text 14"/>
          <p:cNvSpPr/>
          <p:nvPr/>
        </p:nvSpPr>
        <p:spPr>
          <a:xfrm>
            <a:off x="777240" y="2880360"/>
            <a:ext cx="10515600" cy="320040"/>
          </a:xfrm>
          <a:prstGeom prst="rect">
            <a:avLst/>
          </a:prstGeom>
          <a:noFill/>
          <a:ln/>
        </p:spPr>
        <p:txBody>
          <a:bodyPr wrap="square" rtlCol="0" anchor="ctr"/>
          <a:lstStyle/>
          <a:p>
            <a:pPr algn="ctr" indent="0" marL="0">
              <a:buNone/>
            </a:pPr>
            <a:r>
              <a:rPr lang="en-US" sz="950" dirty="0">
                <a:solidFill>
                  <a:srgbClr val="9AA0AC"/>
                </a:solidFill>
                <a:latin typeface="Meiryo" pitchFamily="34" charset="0"/>
                <a:ea typeface="Meiryo" pitchFamily="34" charset="-122"/>
                <a:cs typeface="Meiryo" pitchFamily="34" charset="-120"/>
              </a:rPr>
              <a:t>不正検知でreject／chargebackでreversed</a:t>
            </a:r>
            <a:endParaRPr lang="en-US" sz="950" dirty="0"/>
          </a:p>
        </p:txBody>
      </p:sp>
      <p:sp>
        <p:nvSpPr>
          <p:cNvPr id="17" name="Shape 15"/>
          <p:cNvSpPr/>
          <p:nvPr/>
        </p:nvSpPr>
        <p:spPr>
          <a:xfrm>
            <a:off x="548640" y="3520440"/>
            <a:ext cx="5349240" cy="2240280"/>
          </a:xfrm>
          <a:prstGeom prst="roundRect">
            <a:avLst>
              <a:gd name="adj" fmla="val 3265"/>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8" name="Shape 16"/>
          <p:cNvSpPr/>
          <p:nvPr/>
        </p:nvSpPr>
        <p:spPr>
          <a:xfrm>
            <a:off x="548640" y="3520440"/>
            <a:ext cx="5349240" cy="54864"/>
          </a:xfrm>
          <a:prstGeom prst="rect">
            <a:avLst/>
          </a:prstGeom>
          <a:solidFill>
            <a:srgbClr val="3B4CCA"/>
          </a:solidFill>
          <a:ln/>
        </p:spPr>
      </p:sp>
      <p:sp>
        <p:nvSpPr>
          <p:cNvPr id="19" name="Text 17"/>
          <p:cNvSpPr/>
          <p:nvPr/>
        </p:nvSpPr>
        <p:spPr>
          <a:xfrm>
            <a:off x="822960" y="3657600"/>
            <a:ext cx="475488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検証の仕組み</a:t>
            </a:r>
            <a:endParaRPr lang="en-US" sz="1300" dirty="0"/>
          </a:p>
        </p:txBody>
      </p:sp>
      <p:sp>
        <p:nvSpPr>
          <p:cNvPr id="20" name="Text 18"/>
          <p:cNvSpPr/>
          <p:nvPr/>
        </p:nvSpPr>
        <p:spPr>
          <a:xfrm>
            <a:off x="850392" y="4069080"/>
            <a:ext cx="4800600" cy="1600200"/>
          </a:xfrm>
          <a:prstGeom prst="rect">
            <a:avLst/>
          </a:prstGeom>
          <a:noFill/>
          <a:ln/>
        </p:spPr>
        <p:txBody>
          <a:bodyPr wrap="square" rtlCol="0" anchor="t"/>
          <a:lstStyle/>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署名検証（HMAC共有シークレット）＋ IP許可リスト</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transaction_id によるべき等性で重複postbackを排除</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付与は point_ledger に台帳記録（二重支払い防止）</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管理画面で監査・手動承認/却下</a:t>
            </a:r>
            <a:endParaRPr lang="en-US" sz="1030" dirty="0"/>
          </a:p>
        </p:txBody>
      </p:sp>
      <p:sp>
        <p:nvSpPr>
          <p:cNvPr id="21" name="Shape 19"/>
          <p:cNvSpPr/>
          <p:nvPr/>
        </p:nvSpPr>
        <p:spPr>
          <a:xfrm>
            <a:off x="6263640" y="3520440"/>
            <a:ext cx="5349240" cy="2240280"/>
          </a:xfrm>
          <a:prstGeom prst="roundRect">
            <a:avLst>
              <a:gd name="adj" fmla="val 3265"/>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2" name="Shape 20"/>
          <p:cNvSpPr/>
          <p:nvPr/>
        </p:nvSpPr>
        <p:spPr>
          <a:xfrm>
            <a:off x="6263640" y="3520440"/>
            <a:ext cx="5349240" cy="54864"/>
          </a:xfrm>
          <a:prstGeom prst="rect">
            <a:avLst/>
          </a:prstGeom>
          <a:solidFill>
            <a:srgbClr val="7A4FD0"/>
          </a:solidFill>
          <a:ln/>
        </p:spPr>
      </p:sp>
      <p:sp>
        <p:nvSpPr>
          <p:cNvPr id="23" name="Text 21"/>
          <p:cNvSpPr/>
          <p:nvPr/>
        </p:nvSpPr>
        <p:spPr>
          <a:xfrm>
            <a:off x="6537960" y="3657600"/>
            <a:ext cx="4754880" cy="365760"/>
          </a:xfrm>
          <a:prstGeom prst="rect">
            <a:avLst/>
          </a:prstGeom>
          <a:noFill/>
          <a:ln/>
        </p:spPr>
        <p:txBody>
          <a:bodyPr wrap="square" rtlCol="0" anchor="ctr"/>
          <a:lstStyle/>
          <a:p>
            <a:pPr indent="0" marL="0">
              <a:buNone/>
            </a:pPr>
            <a:r>
              <a:rPr lang="en-US" sz="1300" b="1" dirty="0">
                <a:solidFill>
                  <a:srgbClr val="7A4FD0"/>
                </a:solidFill>
                <a:latin typeface="Meiryo" pitchFamily="34" charset="0"/>
                <a:ea typeface="Meiryo" pitchFamily="34" charset="-122"/>
                <a:cs typeface="Meiryo" pitchFamily="34" charset="-120"/>
              </a:rPr>
              <a:t>不正検知（段階拡張）</a:t>
            </a:r>
            <a:endParaRPr lang="en-US" sz="1300" dirty="0"/>
          </a:p>
        </p:txBody>
      </p:sp>
      <p:sp>
        <p:nvSpPr>
          <p:cNvPr id="24" name="Text 22"/>
          <p:cNvSpPr/>
          <p:nvPr/>
        </p:nvSpPr>
        <p:spPr>
          <a:xfrm>
            <a:off x="6565392" y="4069080"/>
            <a:ext cx="4800600" cy="1600200"/>
          </a:xfrm>
          <a:prstGeom prst="rect">
            <a:avLst/>
          </a:prstGeom>
          <a:noFill/>
          <a:ln/>
        </p:spPr>
        <p:txBody>
          <a:bodyPr wrap="square" rtlCol="0" anchor="t"/>
          <a:lstStyle/>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デバイスフィンガープリント／多重アカウント検知</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達成速度の異常・エミュレータ/VPN兆候</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しきい値超過で保留→マーキング（運用基盤と接続）</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高度ルールは MVP2–3 で拡張</a:t>
            </a:r>
            <a:endParaRPr lang="en-US" sz="1030" dirty="0"/>
          </a:p>
        </p:txBody>
      </p:sp>
      <p:sp>
        <p:nvSpPr>
          <p:cNvPr id="25" name="Shape 23"/>
          <p:cNvSpPr/>
          <p:nvPr/>
        </p:nvSpPr>
        <p:spPr>
          <a:xfrm>
            <a:off x="548640" y="5943600"/>
            <a:ext cx="11064240" cy="0"/>
          </a:xfrm>
          <a:prstGeom prst="roundRect">
            <a:avLst/>
          </a:prstGeom>
          <a:solidFill>
            <a:srgbClr val="FFFFFF"/>
          </a:solidFill>
          <a:ln/>
        </p:spPr>
      </p:sp>
      <p:sp>
        <p:nvSpPr>
          <p:cNvPr id="26" name="Text 24"/>
          <p:cNvSpPr/>
          <p:nvPr/>
        </p:nvSpPr>
        <p:spPr>
          <a:xfrm>
            <a:off x="548640" y="5925312"/>
            <a:ext cx="11064240" cy="365760"/>
          </a:xfrm>
          <a:prstGeom prst="rect">
            <a:avLst/>
          </a:prstGeom>
          <a:noFill/>
          <a:ln/>
        </p:spPr>
        <p:txBody>
          <a:bodyPr wrap="square" rtlCol="0" anchor="ctr"/>
          <a:lstStyle/>
          <a:p>
            <a:pPr indent="0" marL="0">
              <a:buNone/>
            </a:pPr>
            <a:r>
              <a:rPr lang="en-US" sz="1050" b="1" dirty="0">
                <a:solidFill>
                  <a:srgbClr val="2F8F5B"/>
                </a:solidFill>
                <a:latin typeface="Meiryo" pitchFamily="34" charset="0"/>
                <a:ea typeface="Meiryo" pitchFamily="34" charset="-122"/>
                <a:cs typeface="Meiryo" pitchFamily="34" charset="-120"/>
              </a:rPr>
              <a:t>✓ ワイヤーフレームで実装済み：</a:t>
            </a:r>
            <a:pPr indent="0" marL="0">
              <a:buNone/>
            </a:pPr>
            <a:r>
              <a:rPr lang="en-US" sz="1050" dirty="0">
                <a:solidFill>
                  <a:srgbClr val="1F2430"/>
                </a:solidFill>
                <a:latin typeface="Meiryo" pitchFamily="34" charset="0"/>
                <a:ea typeface="Meiryo" pitchFamily="34" charset="-122"/>
                <a:cs typeface="Meiryo" pitchFamily="34" charset="-120"/>
              </a:rPr>
              <a:t>提携オファーの達成が「検証中 → 確定」で反映される様子を確認できます。</a:t>
            </a:r>
            <a:endParaRPr lang="en-US" sz="1050" dirty="0"/>
          </a:p>
        </p:txBody>
      </p:sp>
      <p:sp>
        <p:nvSpPr>
          <p:cNvPr id="27" name="Text 25"/>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8" name="Text 26"/>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9" name="Text 27"/>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ADD-ON ③</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スマートナッジ（あと◯P）</a:t>
            </a:r>
            <a:endParaRPr lang="en-US" sz="2500" dirty="0"/>
          </a:p>
        </p:txBody>
      </p:sp>
      <p:sp>
        <p:nvSpPr>
          <p:cNvPr id="4" name="Text 2"/>
          <p:cNvSpPr/>
          <p:nvPr/>
        </p:nvSpPr>
        <p:spPr>
          <a:xfrm>
            <a:off x="548640" y="1371600"/>
            <a:ext cx="11247120" cy="365760"/>
          </a:xfrm>
          <a:prstGeom prst="rect">
            <a:avLst/>
          </a:prstGeom>
          <a:noFill/>
          <a:ln/>
        </p:spPr>
        <p:txBody>
          <a:bodyPr wrap="square" rtlCol="0" anchor="ctr"/>
          <a:lstStyle/>
          <a:p>
            <a:pPr indent="0" marL="0">
              <a:buNone/>
            </a:pPr>
            <a:r>
              <a:rPr lang="en-US" sz="1200" dirty="0">
                <a:solidFill>
                  <a:srgbClr val="6B7280"/>
                </a:solidFill>
                <a:latin typeface="Meiryo" pitchFamily="34" charset="0"/>
                <a:ea typeface="Meiryo" pitchFamily="34" charset="-122"/>
                <a:cs typeface="Meiryo" pitchFamily="34" charset="-120"/>
              </a:rPr>
              <a:t>ゴール勾配効果・損失回避を突いて、交換手前の離脱を防ぎ交換率と回遊を高める軽量施策。</a:t>
            </a:r>
            <a:endParaRPr lang="en-US" sz="1200" dirty="0"/>
          </a:p>
        </p:txBody>
      </p:sp>
      <p:sp>
        <p:nvSpPr>
          <p:cNvPr id="5" name="Shape 3"/>
          <p:cNvSpPr/>
          <p:nvPr/>
        </p:nvSpPr>
        <p:spPr>
          <a:xfrm>
            <a:off x="548640" y="1920240"/>
            <a:ext cx="7315200" cy="960120"/>
          </a:xfrm>
          <a:prstGeom prst="roundRect">
            <a:avLst>
              <a:gd name="adj" fmla="val 9524"/>
            </a:avLst>
          </a:prstGeom>
          <a:solidFill>
            <a:srgbClr val="F6EFDA"/>
          </a:solidFill>
          <a:ln w="12700">
            <a:solidFill>
              <a:srgbClr val="E7D6A6"/>
            </a:solidFill>
            <a:prstDash val="solid"/>
          </a:ln>
        </p:spPr>
      </p:sp>
      <p:sp>
        <p:nvSpPr>
          <p:cNvPr id="6" name="Shape 4"/>
          <p:cNvSpPr/>
          <p:nvPr/>
        </p:nvSpPr>
        <p:spPr>
          <a:xfrm>
            <a:off x="777240" y="2121408"/>
            <a:ext cx="566928" cy="566928"/>
          </a:xfrm>
          <a:prstGeom prst="roundRect">
            <a:avLst>
              <a:gd name="adj" fmla="val 19355"/>
            </a:avLst>
          </a:prstGeom>
          <a:solidFill>
            <a:srgbClr val="FFFFFF"/>
          </a:solidFill>
          <a:ln w="12700">
            <a:solidFill>
              <a:srgbClr val="ECDCAE"/>
            </a:solidFill>
            <a:prstDash val="solid"/>
          </a:ln>
        </p:spPr>
      </p:sp>
      <p:sp>
        <p:nvSpPr>
          <p:cNvPr id="7" name="Text 5"/>
          <p:cNvSpPr/>
          <p:nvPr/>
        </p:nvSpPr>
        <p:spPr>
          <a:xfrm>
            <a:off x="777240" y="2121408"/>
            <a:ext cx="566928" cy="566928"/>
          </a:xfrm>
          <a:prstGeom prst="rect">
            <a:avLst/>
          </a:prstGeom>
          <a:noFill/>
          <a:ln/>
        </p:spPr>
        <p:txBody>
          <a:bodyPr wrap="square" rtlCol="0" anchor="ctr"/>
          <a:lstStyle/>
          <a:p>
            <a:pPr algn="ctr" indent="0" marL="0">
              <a:buNone/>
            </a:pPr>
            <a:r>
              <a:rPr lang="en-US" sz="2000" dirty="0">
                <a:solidFill>
                  <a:srgbClr val="000000"/>
                </a:solidFill>
                <a:latin typeface="Meiryo" pitchFamily="34" charset="0"/>
                <a:ea typeface="Meiryo" pitchFamily="34" charset="-122"/>
                <a:cs typeface="Meiryo" pitchFamily="34" charset="-120"/>
              </a:rPr>
              <a:t>🎯</a:t>
            </a:r>
            <a:endParaRPr lang="en-US" sz="2000" dirty="0"/>
          </a:p>
        </p:txBody>
      </p:sp>
      <p:sp>
        <p:nvSpPr>
          <p:cNvPr id="8" name="Text 6"/>
          <p:cNvSpPr/>
          <p:nvPr/>
        </p:nvSpPr>
        <p:spPr>
          <a:xfrm>
            <a:off x="1508760" y="2121408"/>
            <a:ext cx="5486400" cy="365760"/>
          </a:xfrm>
          <a:prstGeom prst="rect">
            <a:avLst/>
          </a:prstGeom>
          <a:noFill/>
          <a:ln/>
        </p:spPr>
        <p:txBody>
          <a:bodyPr wrap="square" rtlCol="0" anchor="ctr"/>
          <a:lstStyle/>
          <a:p>
            <a:pPr indent="0" marL="0">
              <a:buNone/>
            </a:pPr>
            <a:r>
              <a:rPr lang="en-US" sz="1250" dirty="0">
                <a:solidFill>
                  <a:srgbClr val="7A5B16"/>
                </a:solidFill>
                <a:latin typeface="Meiryo" pitchFamily="34" charset="0"/>
                <a:ea typeface="Meiryo" pitchFamily="34" charset="-122"/>
                <a:cs typeface="Meiryo" pitchFamily="34" charset="-120"/>
              </a:rPr>
              <a:t>あと </a:t>
            </a:r>
            <a:pPr indent="0" marL="0">
              <a:buNone/>
            </a:pPr>
            <a:r>
              <a:rPr lang="en-US" sz="1250" b="1" dirty="0">
                <a:solidFill>
                  <a:srgbClr val="C79A3A"/>
                </a:solidFill>
                <a:latin typeface="Meiryo" pitchFamily="34" charset="0"/>
                <a:ea typeface="Meiryo" pitchFamily="34" charset="-122"/>
                <a:cs typeface="Meiryo" pitchFamily="34" charset="-120"/>
              </a:rPr>
              <a:t>250P</a:t>
            </a:r>
            <a:pPr indent="0" marL="0">
              <a:buNone/>
            </a:pPr>
            <a:r>
              <a:rPr lang="en-US" sz="1250" b="1" dirty="0">
                <a:solidFill>
                  <a:srgbClr val="7A5B16"/>
                </a:solidFill>
                <a:latin typeface="Meiryo" pitchFamily="34" charset="0"/>
                <a:ea typeface="Meiryo" pitchFamily="34" charset="-122"/>
                <a:cs typeface="Meiryo" pitchFamily="34" charset="-120"/>
              </a:rPr>
              <a:t> で「ガチャチケット ×3」と交換できます</a:t>
            </a:r>
            <a:endParaRPr lang="en-US" sz="1250" dirty="0"/>
          </a:p>
        </p:txBody>
      </p:sp>
      <p:sp>
        <p:nvSpPr>
          <p:cNvPr id="9" name="Text 7"/>
          <p:cNvSpPr/>
          <p:nvPr/>
        </p:nvSpPr>
        <p:spPr>
          <a:xfrm>
            <a:off x="1508760" y="2487168"/>
            <a:ext cx="5760720" cy="320040"/>
          </a:xfrm>
          <a:prstGeom prst="rect">
            <a:avLst/>
          </a:prstGeom>
          <a:noFill/>
          <a:ln/>
        </p:spPr>
        <p:txBody>
          <a:bodyPr wrap="square" rtlCol="0" anchor="ctr"/>
          <a:lstStyle/>
          <a:p>
            <a:pPr indent="0" marL="0">
              <a:buNone/>
            </a:pPr>
            <a:r>
              <a:rPr lang="en-US" sz="950" dirty="0">
                <a:solidFill>
                  <a:srgbClr val="9A7E3A"/>
                </a:solidFill>
                <a:latin typeface="Meiryo" pitchFamily="34" charset="0"/>
                <a:ea typeface="Meiryo" pitchFamily="34" charset="-122"/>
                <a:cs typeface="Meiryo" pitchFamily="34" charset="-120"/>
              </a:rPr>
              <a:t>おすすめ：デイリー5日達成（＋200P）でぐっと近づく</a:t>
            </a:r>
            <a:endParaRPr lang="en-US" sz="950" dirty="0"/>
          </a:p>
        </p:txBody>
      </p:sp>
      <p:sp>
        <p:nvSpPr>
          <p:cNvPr id="10" name="Shape 8"/>
          <p:cNvSpPr/>
          <p:nvPr/>
        </p:nvSpPr>
        <p:spPr>
          <a:xfrm>
            <a:off x="6812280" y="2240280"/>
            <a:ext cx="914400" cy="347472"/>
          </a:xfrm>
          <a:prstGeom prst="roundRect">
            <a:avLst>
              <a:gd name="adj" fmla="val 21053"/>
            </a:avLst>
          </a:prstGeom>
          <a:solidFill>
            <a:srgbClr val="C79A3A"/>
          </a:solidFill>
          <a:ln/>
        </p:spPr>
      </p:sp>
      <p:sp>
        <p:nvSpPr>
          <p:cNvPr id="11" name="Text 9"/>
          <p:cNvSpPr/>
          <p:nvPr/>
        </p:nvSpPr>
        <p:spPr>
          <a:xfrm>
            <a:off x="6812280" y="2240280"/>
            <a:ext cx="914400" cy="347472"/>
          </a:xfrm>
          <a:prstGeom prst="rect">
            <a:avLst/>
          </a:prstGeom>
          <a:noFill/>
          <a:ln/>
        </p:spPr>
        <p:txBody>
          <a:bodyPr wrap="square"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貯める ▸</a:t>
            </a:r>
            <a:endParaRPr lang="en-US" sz="950" dirty="0"/>
          </a:p>
        </p:txBody>
      </p:sp>
      <p:sp>
        <p:nvSpPr>
          <p:cNvPr id="12" name="Text 10"/>
          <p:cNvSpPr/>
          <p:nvPr/>
        </p:nvSpPr>
        <p:spPr>
          <a:xfrm>
            <a:off x="548640" y="2926080"/>
            <a:ext cx="7315200" cy="274320"/>
          </a:xfrm>
          <a:prstGeom prst="rect">
            <a:avLst/>
          </a:prstGeom>
          <a:noFill/>
          <a:ln/>
        </p:spPr>
        <p:txBody>
          <a:bodyPr wrap="square" rtlCol="0" anchor="ctr"/>
          <a:lstStyle/>
          <a:p>
            <a:pPr indent="0" marL="0">
              <a:buNone/>
            </a:pPr>
            <a:r>
              <a:rPr lang="en-US" sz="900" i="1" dirty="0">
                <a:solidFill>
                  <a:srgbClr val="9AA0AC"/>
                </a:solidFill>
                <a:latin typeface="Meiryo" pitchFamily="34" charset="0"/>
                <a:ea typeface="Meiryo" pitchFamily="34" charset="-122"/>
                <a:cs typeface="Meiryo" pitchFamily="34" charset="-120"/>
              </a:rPr>
              <a:t>実際のUIイメージ（WFより）</a:t>
            </a:r>
            <a:endParaRPr lang="en-US" sz="900" dirty="0"/>
          </a:p>
        </p:txBody>
      </p:sp>
      <p:sp>
        <p:nvSpPr>
          <p:cNvPr id="13" name="Shape 11"/>
          <p:cNvSpPr/>
          <p:nvPr/>
        </p:nvSpPr>
        <p:spPr>
          <a:xfrm>
            <a:off x="8092440" y="1920240"/>
            <a:ext cx="3520440" cy="3657600"/>
          </a:xfrm>
          <a:prstGeom prst="roundRect">
            <a:avLst>
              <a:gd name="adj" fmla="val 2078"/>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4" name="Text 12"/>
          <p:cNvSpPr/>
          <p:nvPr/>
        </p:nvSpPr>
        <p:spPr>
          <a:xfrm>
            <a:off x="8366760" y="2103120"/>
            <a:ext cx="3017520" cy="365760"/>
          </a:xfrm>
          <a:prstGeom prst="rect">
            <a:avLst/>
          </a:prstGeom>
          <a:noFill/>
          <a:ln/>
        </p:spPr>
        <p:txBody>
          <a:bodyPr wrap="square" rtlCol="0" anchor="ctr"/>
          <a:lstStyle/>
          <a:p>
            <a:pPr indent="0" marL="0">
              <a:buNone/>
            </a:pPr>
            <a:r>
              <a:rPr lang="en-US" sz="1200" b="1" dirty="0">
                <a:solidFill>
                  <a:srgbClr val="7A4FD0"/>
                </a:solidFill>
                <a:latin typeface="Meiryo" pitchFamily="34" charset="0"/>
                <a:ea typeface="Meiryo" pitchFamily="34" charset="-122"/>
                <a:cs typeface="Meiryo" pitchFamily="34" charset="-120"/>
              </a:rPr>
              <a:t>ロジック</a:t>
            </a:r>
            <a:endParaRPr lang="en-US" sz="1200" dirty="0"/>
          </a:p>
        </p:txBody>
      </p:sp>
      <p:sp>
        <p:nvSpPr>
          <p:cNvPr id="15" name="Text 13"/>
          <p:cNvSpPr/>
          <p:nvPr/>
        </p:nvSpPr>
        <p:spPr>
          <a:xfrm>
            <a:off x="8366760" y="2468880"/>
            <a:ext cx="3063240" cy="1005840"/>
          </a:xfrm>
          <a:prstGeom prst="rect">
            <a:avLst/>
          </a:prstGeom>
          <a:noFill/>
          <a:ln/>
        </p:spPr>
        <p:txBody>
          <a:bodyPr wrap="square" rtlCol="0" anchor="ctr"/>
          <a:lstStyle/>
          <a:p>
            <a:pPr indent="0" marL="0">
              <a:buNone/>
            </a:pPr>
            <a:r>
              <a:rPr lang="en-US" sz="1050" dirty="0">
                <a:solidFill>
                  <a:srgbClr val="1F2430"/>
                </a:solidFill>
                <a:latin typeface="Meiryo" pitchFamily="34" charset="0"/>
                <a:ea typeface="Meiryo" pitchFamily="34" charset="-122"/>
                <a:cs typeface="Meiryo" pitchFamily="34" charset="-120"/>
              </a:rPr>
              <a:t>残高 × 交換アイテム → 最も近い対象を選定 → 不足分◯Pを埋めるミッションを提案</a:t>
            </a:r>
            <a:endParaRPr lang="en-US" sz="1050" dirty="0"/>
          </a:p>
        </p:txBody>
      </p:sp>
      <p:sp>
        <p:nvSpPr>
          <p:cNvPr id="16" name="Text 14"/>
          <p:cNvSpPr/>
          <p:nvPr/>
        </p:nvSpPr>
        <p:spPr>
          <a:xfrm>
            <a:off x="8366760" y="3611880"/>
            <a:ext cx="3017520" cy="365760"/>
          </a:xfrm>
          <a:prstGeom prst="rect">
            <a:avLst/>
          </a:prstGeom>
          <a:noFill/>
          <a:ln/>
        </p:spPr>
        <p:txBody>
          <a:bodyPr wrap="square" rtlCol="0" anchor="ctr"/>
          <a:lstStyle/>
          <a:p>
            <a:pPr indent="0" marL="0">
              <a:buNone/>
            </a:pPr>
            <a:r>
              <a:rPr lang="en-US" sz="1200" b="1" dirty="0">
                <a:solidFill>
                  <a:srgbClr val="7A4FD0"/>
                </a:solidFill>
                <a:latin typeface="Meiryo" pitchFamily="34" charset="0"/>
                <a:ea typeface="Meiryo" pitchFamily="34" charset="-122"/>
                <a:cs typeface="Meiryo" pitchFamily="34" charset="-120"/>
              </a:rPr>
              <a:t>表示場所</a:t>
            </a:r>
            <a:endParaRPr lang="en-US" sz="1200" dirty="0"/>
          </a:p>
        </p:txBody>
      </p:sp>
      <p:sp>
        <p:nvSpPr>
          <p:cNvPr id="17" name="Text 15"/>
          <p:cNvSpPr/>
          <p:nvPr/>
        </p:nvSpPr>
        <p:spPr>
          <a:xfrm>
            <a:off x="8412480" y="3977640"/>
            <a:ext cx="3017520" cy="1554480"/>
          </a:xfrm>
          <a:prstGeom prst="rect">
            <a:avLst/>
          </a:prstGeom>
          <a:noFill/>
          <a:ln/>
        </p:spPr>
        <p:txBody>
          <a:bodyPr wrap="square" rtlCol="0" anchor="t"/>
          <a:lstStyle/>
          <a:p>
            <a:pPr marL="127000" indent="-127000">
              <a:spcAft>
                <a:spcPts val="500"/>
              </a:spcAft>
              <a:buSzPct val="100000"/>
              <a:buChar char="•"/>
            </a:pPr>
            <a:r>
              <a:rPr lang="en-US" sz="1030" dirty="0">
                <a:solidFill>
                  <a:srgbClr val="1F2430"/>
                </a:solidFill>
                <a:latin typeface="Meiryo" pitchFamily="34" charset="0"/>
                <a:ea typeface="Meiryo" pitchFamily="34" charset="-122"/>
                <a:cs typeface="Meiryo" pitchFamily="34" charset="-120"/>
              </a:rPr>
              <a:t>ホーム上部バナー</a:t>
            </a:r>
            <a:endParaRPr lang="en-US" sz="1030" dirty="0"/>
          </a:p>
          <a:p>
            <a:pPr marL="127000" indent="-127000">
              <a:spcAft>
                <a:spcPts val="500"/>
              </a:spcAft>
              <a:buSzPct val="100000"/>
              <a:buChar char="•"/>
            </a:pPr>
            <a:r>
              <a:rPr lang="en-US" sz="1030" dirty="0">
                <a:solidFill>
                  <a:srgbClr val="1F2430"/>
                </a:solidFill>
                <a:latin typeface="Meiryo" pitchFamily="34" charset="0"/>
                <a:ea typeface="Meiryo" pitchFamily="34" charset="-122"/>
                <a:cs typeface="Meiryo" pitchFamily="34" charset="-120"/>
              </a:rPr>
              <a:t>交換カード「あと◯P」</a:t>
            </a:r>
            <a:endParaRPr lang="en-US" sz="1030" dirty="0"/>
          </a:p>
          <a:p>
            <a:pPr marL="127000" indent="-127000">
              <a:spcAft>
                <a:spcPts val="500"/>
              </a:spcAft>
              <a:buSzPct val="100000"/>
              <a:buChar char="•"/>
            </a:pPr>
            <a:r>
              <a:rPr lang="en-US" sz="1030" dirty="0">
                <a:solidFill>
                  <a:srgbClr val="1F2430"/>
                </a:solidFill>
                <a:latin typeface="Meiryo" pitchFamily="34" charset="0"/>
                <a:ea typeface="Meiryo" pitchFamily="34" charset="-122"/>
                <a:cs typeface="Meiryo" pitchFamily="34" charset="-120"/>
              </a:rPr>
              <a:t>達成演出後のサジェスト</a:t>
            </a:r>
            <a:endParaRPr lang="en-US" sz="1030" dirty="0"/>
          </a:p>
          <a:p>
            <a:pPr marL="127000" indent="-127000">
              <a:spcAft>
                <a:spcPts val="500"/>
              </a:spcAft>
              <a:buSzPct val="100000"/>
              <a:buChar char="•"/>
            </a:pPr>
            <a:r>
              <a:rPr lang="en-US" sz="1030" dirty="0">
                <a:solidFill>
                  <a:srgbClr val="1F2430"/>
                </a:solidFill>
                <a:latin typeface="Meiryo" pitchFamily="34" charset="0"/>
                <a:ea typeface="Meiryo" pitchFamily="34" charset="-122"/>
                <a:cs typeface="Meiryo" pitchFamily="34" charset="-120"/>
              </a:rPr>
              <a:t>行動喚起Push（1.5〜2）</a:t>
            </a:r>
            <a:endParaRPr lang="en-US" sz="1030" dirty="0"/>
          </a:p>
        </p:txBody>
      </p:sp>
      <p:sp>
        <p:nvSpPr>
          <p:cNvPr id="18" name="Text 16"/>
          <p:cNvSpPr/>
          <p:nvPr/>
        </p:nvSpPr>
        <p:spPr>
          <a:xfrm>
            <a:off x="548640" y="3383280"/>
            <a:ext cx="7315200" cy="457200"/>
          </a:xfrm>
          <a:prstGeom prst="rect">
            <a:avLst/>
          </a:prstGeom>
          <a:noFill/>
          <a:ln/>
        </p:spPr>
        <p:txBody>
          <a:bodyPr wrap="square" rtlCol="0" anchor="t"/>
          <a:lstStyle/>
          <a:p>
            <a:pPr indent="0" marL="0">
              <a:buNone/>
            </a:pPr>
            <a:r>
              <a:rPr lang="en-US" sz="1100" b="1" dirty="0">
                <a:solidFill>
                  <a:srgbClr val="1F2430"/>
                </a:solidFill>
                <a:latin typeface="Meiryo" pitchFamily="34" charset="0"/>
                <a:ea typeface="Meiryo" pitchFamily="34" charset="-122"/>
                <a:cs typeface="Meiryo" pitchFamily="34" charset="-120"/>
              </a:rPr>
              <a:t>行動経済学的根拠：</a:t>
            </a:r>
            <a:pPr indent="0" marL="0">
              <a:buNone/>
            </a:pPr>
            <a:r>
              <a:rPr lang="en-US" sz="1100" dirty="0">
                <a:solidFill>
                  <a:srgbClr val="6B7280"/>
                </a:solidFill>
                <a:latin typeface="Meiryo" pitchFamily="34" charset="0"/>
                <a:ea typeface="Meiryo" pitchFamily="34" charset="-122"/>
                <a:cs typeface="Meiryo" pitchFamily="34" charset="-120"/>
              </a:rPr>
              <a:t>ゴール勾配（あと少しでやる気が上がる）＋ 損失回避（あと少しを逃したくない）。</a:t>
            </a:r>
            <a:endParaRPr lang="en-US" sz="1100" dirty="0"/>
          </a:p>
        </p:txBody>
      </p:sp>
      <p:sp>
        <p:nvSpPr>
          <p:cNvPr id="19" name="Text 17"/>
          <p:cNvSpPr/>
          <p:nvPr/>
        </p:nvSpPr>
        <p:spPr>
          <a:xfrm>
            <a:off x="548640" y="3977640"/>
            <a:ext cx="7315200" cy="548640"/>
          </a:xfrm>
          <a:prstGeom prst="rect">
            <a:avLst/>
          </a:prstGeom>
          <a:noFill/>
          <a:ln/>
        </p:spPr>
        <p:txBody>
          <a:bodyPr wrap="square" rtlCol="0" anchor="t"/>
          <a:lstStyle/>
          <a:p>
            <a:pPr indent="0" marL="0">
              <a:buNone/>
            </a:pPr>
            <a:r>
              <a:rPr lang="en-US" sz="1100" b="1" dirty="0">
                <a:solidFill>
                  <a:srgbClr val="1F2430"/>
                </a:solidFill>
                <a:latin typeface="Meiryo" pitchFamily="34" charset="0"/>
                <a:ea typeface="Meiryo" pitchFamily="34" charset="-122"/>
                <a:cs typeface="Meiryo" pitchFamily="34" charset="-120"/>
              </a:rPr>
              <a:t>出し過ぎ防止：</a:t>
            </a:r>
            <a:pPr indent="0" marL="0">
              <a:buNone/>
            </a:pPr>
            <a:r>
              <a:rPr lang="en-US" sz="1100" dirty="0">
                <a:solidFill>
                  <a:srgbClr val="6B7280"/>
                </a:solidFill>
                <a:latin typeface="Meiryo" pitchFamily="34" charset="0"/>
                <a:ea typeface="Meiryo" pitchFamily="34" charset="-122"/>
                <a:cs typeface="Meiryo" pitchFamily="34" charset="-120"/>
              </a:rPr>
              <a:t>表示頻度のクールダウン／ナッジ種類のローテーション／A/B枠を用意。実装は軽量でMVP1に収まる。</a:t>
            </a:r>
            <a:endParaRPr lang="en-US" sz="1100" dirty="0"/>
          </a:p>
        </p:txBody>
      </p:sp>
      <p:sp>
        <p:nvSpPr>
          <p:cNvPr id="20" name="Shape 18"/>
          <p:cNvSpPr/>
          <p:nvPr/>
        </p:nvSpPr>
        <p:spPr>
          <a:xfrm>
            <a:off x="548640" y="4754880"/>
            <a:ext cx="1417320" cy="310896"/>
          </a:xfrm>
          <a:prstGeom prst="roundRect">
            <a:avLst>
              <a:gd name="adj" fmla="val 50000"/>
            </a:avLst>
          </a:prstGeom>
          <a:solidFill>
            <a:srgbClr val="EFE7FB"/>
          </a:solidFill>
          <a:ln/>
        </p:spPr>
      </p:sp>
      <p:sp>
        <p:nvSpPr>
          <p:cNvPr id="21" name="Text 19"/>
          <p:cNvSpPr/>
          <p:nvPr/>
        </p:nvSpPr>
        <p:spPr>
          <a:xfrm>
            <a:off x="548640" y="4754880"/>
            <a:ext cx="1417320" cy="310896"/>
          </a:xfrm>
          <a:prstGeom prst="rect">
            <a:avLst/>
          </a:prstGeom>
          <a:noFill/>
          <a:ln/>
        </p:spPr>
        <p:txBody>
          <a:bodyPr wrap="square" rtlCol="0" anchor="ctr"/>
          <a:lstStyle/>
          <a:p>
            <a:pPr algn="ctr" indent="0" marL="0">
              <a:buNone/>
            </a:pPr>
            <a:r>
              <a:rPr lang="en-US" sz="950" b="1" dirty="0">
                <a:solidFill>
                  <a:srgbClr val="7A4FD0"/>
                </a:solidFill>
                <a:latin typeface="Meiryo" pitchFamily="34" charset="0"/>
                <a:ea typeface="Meiryo" pitchFamily="34" charset="-122"/>
                <a:cs typeface="Meiryo" pitchFamily="34" charset="-120"/>
              </a:rPr>
              <a:t>配置：MVP1</a:t>
            </a:r>
            <a:endParaRPr lang="en-US" sz="950" dirty="0"/>
          </a:p>
        </p:txBody>
      </p:sp>
      <p:sp>
        <p:nvSpPr>
          <p:cNvPr id="22" name="Text 20"/>
          <p:cNvSpPr/>
          <p:nvPr/>
        </p:nvSpPr>
        <p:spPr>
          <a:xfrm>
            <a:off x="2194560" y="4754880"/>
            <a:ext cx="5669280" cy="320040"/>
          </a:xfrm>
          <a:prstGeom prst="rect">
            <a:avLst/>
          </a:prstGeom>
          <a:noFill/>
          <a:ln/>
        </p:spPr>
        <p:txBody>
          <a:bodyPr wrap="square" rtlCol="0" anchor="ctr"/>
          <a:lstStyle/>
          <a:p>
            <a:pPr indent="0" marL="0">
              <a:buNone/>
            </a:pPr>
            <a:r>
              <a:rPr lang="en-US" sz="1050" b="1" dirty="0">
                <a:solidFill>
                  <a:srgbClr val="2F8F5B"/>
                </a:solidFill>
                <a:latin typeface="Meiryo" pitchFamily="34" charset="0"/>
                <a:ea typeface="Meiryo" pitchFamily="34" charset="-122"/>
                <a:cs typeface="Meiryo" pitchFamily="34" charset="-120"/>
              </a:rPr>
              <a:t>✓ ワイヤーフレームで実装済み（ホーム＆交換カードに表示）</a:t>
            </a:r>
            <a:endParaRPr lang="en-US" sz="1050" dirty="0"/>
          </a:p>
        </p:txBody>
      </p:sp>
      <p:sp>
        <p:nvSpPr>
          <p:cNvPr id="23" name="Text 21"/>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4" name="Text 22"/>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5" name="Text 23"/>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ADD-ON ④</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コミュニティ / ギルド＋通報</a:t>
            </a:r>
            <a:endParaRPr lang="en-US" sz="2500" dirty="0"/>
          </a:p>
        </p:txBody>
      </p:sp>
      <p:sp>
        <p:nvSpPr>
          <p:cNvPr id="4" name="Text 2"/>
          <p:cNvSpPr/>
          <p:nvPr/>
        </p:nvSpPr>
        <p:spPr>
          <a:xfrm>
            <a:off x="548640" y="1371600"/>
            <a:ext cx="11430000" cy="365760"/>
          </a:xfrm>
          <a:prstGeom prst="rect">
            <a:avLst/>
          </a:prstGeom>
          <a:noFill/>
          <a:ln/>
        </p:spPr>
        <p:txBody>
          <a:bodyPr wrap="square" rtlCol="0" anchor="ctr"/>
          <a:lstStyle/>
          <a:p>
            <a:pPr indent="0" marL="0">
              <a:buNone/>
            </a:pPr>
            <a:r>
              <a:rPr lang="en-US" sz="1200" dirty="0">
                <a:solidFill>
                  <a:srgbClr val="6B7280"/>
                </a:solidFill>
                <a:latin typeface="Meiryo" pitchFamily="34" charset="0"/>
                <a:ea typeface="Meiryo" pitchFamily="34" charset="-122"/>
                <a:cs typeface="Meiryo" pitchFamily="34" charset="-120"/>
              </a:rPr>
              <a:t>RPGギルド型の相互互助で差別化とBtoB提携理由を両立。ただし安全装置（通報・モデレーション）が前提。</a:t>
            </a:r>
            <a:endParaRPr lang="en-US" sz="1200" dirty="0"/>
          </a:p>
        </p:txBody>
      </p:sp>
      <p:sp>
        <p:nvSpPr>
          <p:cNvPr id="5" name="Shape 3"/>
          <p:cNvSpPr/>
          <p:nvPr/>
        </p:nvSpPr>
        <p:spPr>
          <a:xfrm>
            <a:off x="548640" y="1965960"/>
            <a:ext cx="3474720" cy="1097280"/>
          </a:xfrm>
          <a:prstGeom prst="roundRect">
            <a:avLst>
              <a:gd name="adj" fmla="val 666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6" name="Shape 4"/>
          <p:cNvSpPr/>
          <p:nvPr/>
        </p:nvSpPr>
        <p:spPr>
          <a:xfrm>
            <a:off x="548640" y="1965960"/>
            <a:ext cx="82296" cy="1097280"/>
          </a:xfrm>
          <a:prstGeom prst="rect">
            <a:avLst/>
          </a:prstGeom>
          <a:solidFill>
            <a:srgbClr val="3B4CCA"/>
          </a:solidFill>
          <a:ln/>
        </p:spPr>
      </p:sp>
      <p:sp>
        <p:nvSpPr>
          <p:cNvPr id="7" name="Text 5"/>
          <p:cNvSpPr/>
          <p:nvPr/>
        </p:nvSpPr>
        <p:spPr>
          <a:xfrm>
            <a:off x="822960" y="2157984"/>
            <a:ext cx="3017520" cy="411480"/>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フォーラム（ギルド）</a:t>
            </a:r>
            <a:endParaRPr lang="en-US" sz="1250" dirty="0"/>
          </a:p>
        </p:txBody>
      </p:sp>
      <p:sp>
        <p:nvSpPr>
          <p:cNvPr id="8" name="Text 6"/>
          <p:cNvSpPr/>
          <p:nvPr/>
        </p:nvSpPr>
        <p:spPr>
          <a:xfrm>
            <a:off x="822960" y="2560320"/>
            <a:ext cx="3017520" cy="365760"/>
          </a:xfrm>
          <a:prstGeom prst="rect">
            <a:avLst/>
          </a:prstGeom>
          <a:noFill/>
          <a:ln/>
        </p:spPr>
        <p:txBody>
          <a:bodyPr wrap="square" rtlCol="0" anchor="ctr"/>
          <a:lstStyle/>
          <a:p>
            <a:pPr indent="0" marL="0">
              <a:buNone/>
            </a:pPr>
            <a:r>
              <a:rPr lang="en-US" sz="1000" dirty="0">
                <a:solidFill>
                  <a:srgbClr val="6B7280"/>
                </a:solidFill>
                <a:latin typeface="Meiryo" pitchFamily="34" charset="0"/>
                <a:ea typeface="Meiryo" pitchFamily="34" charset="-122"/>
                <a:cs typeface="Meiryo" pitchFamily="34" charset="-120"/>
              </a:rPr>
              <a:t>公開/ゲーム別の箱</a:t>
            </a:r>
            <a:endParaRPr lang="en-US" sz="1000" dirty="0"/>
          </a:p>
        </p:txBody>
      </p:sp>
      <p:sp>
        <p:nvSpPr>
          <p:cNvPr id="9" name="Text 7"/>
          <p:cNvSpPr/>
          <p:nvPr/>
        </p:nvSpPr>
        <p:spPr>
          <a:xfrm>
            <a:off x="4023360" y="1965960"/>
            <a:ext cx="246888" cy="109728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10" name="Shape 8"/>
          <p:cNvSpPr/>
          <p:nvPr/>
        </p:nvSpPr>
        <p:spPr>
          <a:xfrm>
            <a:off x="4270248" y="1965960"/>
            <a:ext cx="3474720" cy="1097280"/>
          </a:xfrm>
          <a:prstGeom prst="roundRect">
            <a:avLst>
              <a:gd name="adj" fmla="val 666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1" name="Shape 9"/>
          <p:cNvSpPr/>
          <p:nvPr/>
        </p:nvSpPr>
        <p:spPr>
          <a:xfrm>
            <a:off x="4270248" y="1965960"/>
            <a:ext cx="82296" cy="1097280"/>
          </a:xfrm>
          <a:prstGeom prst="rect">
            <a:avLst/>
          </a:prstGeom>
          <a:solidFill>
            <a:srgbClr val="7A4FD0"/>
          </a:solidFill>
          <a:ln/>
        </p:spPr>
      </p:sp>
      <p:sp>
        <p:nvSpPr>
          <p:cNvPr id="12" name="Text 10"/>
          <p:cNvSpPr/>
          <p:nvPr/>
        </p:nvSpPr>
        <p:spPr>
          <a:xfrm>
            <a:off x="4544568" y="2157984"/>
            <a:ext cx="3017520" cy="411480"/>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トピック（依頼/質問）</a:t>
            </a:r>
            <a:endParaRPr lang="en-US" sz="1250" dirty="0"/>
          </a:p>
        </p:txBody>
      </p:sp>
      <p:sp>
        <p:nvSpPr>
          <p:cNvPr id="13" name="Text 11"/>
          <p:cNvSpPr/>
          <p:nvPr/>
        </p:nvSpPr>
        <p:spPr>
          <a:xfrm>
            <a:off x="4544568" y="2560320"/>
            <a:ext cx="3017520" cy="365760"/>
          </a:xfrm>
          <a:prstGeom prst="rect">
            <a:avLst/>
          </a:prstGeom>
          <a:noFill/>
          <a:ln/>
        </p:spPr>
        <p:txBody>
          <a:bodyPr wrap="square" rtlCol="0" anchor="ctr"/>
          <a:lstStyle/>
          <a:p>
            <a:pPr indent="0" marL="0">
              <a:buNone/>
            </a:pPr>
            <a:r>
              <a:rPr lang="en-US" sz="1000" dirty="0">
                <a:solidFill>
                  <a:srgbClr val="6B7280"/>
                </a:solidFill>
                <a:latin typeface="Meiryo" pitchFamily="34" charset="0"/>
                <a:ea typeface="Meiryo" pitchFamily="34" charset="-122"/>
                <a:cs typeface="Meiryo" pitchFamily="34" charset="-120"/>
              </a:rPr>
              <a:t>賭け質問も可</a:t>
            </a:r>
            <a:endParaRPr lang="en-US" sz="1000" dirty="0"/>
          </a:p>
        </p:txBody>
      </p:sp>
      <p:sp>
        <p:nvSpPr>
          <p:cNvPr id="14" name="Text 12"/>
          <p:cNvSpPr/>
          <p:nvPr/>
        </p:nvSpPr>
        <p:spPr>
          <a:xfrm>
            <a:off x="7744968" y="1965960"/>
            <a:ext cx="246888" cy="1097280"/>
          </a:xfrm>
          <a:prstGeom prst="rect">
            <a:avLst/>
          </a:prstGeom>
          <a:noFill/>
          <a:ln/>
        </p:spPr>
        <p:txBody>
          <a:bodyPr wrap="square" rtlCol="0" anchor="ctr"/>
          <a:lstStyle/>
          <a:p>
            <a:pPr algn="ctr" indent="0" marL="0">
              <a:buNone/>
            </a:pPr>
            <a:r>
              <a:rPr lang="en-US" sz="1800" dirty="0">
                <a:solidFill>
                  <a:srgbClr val="9AA0AC"/>
                </a:solidFill>
                <a:latin typeface="Meiryo" pitchFamily="34" charset="0"/>
                <a:ea typeface="Meiryo" pitchFamily="34" charset="-122"/>
                <a:cs typeface="Meiryo" pitchFamily="34" charset="-120"/>
              </a:rPr>
              <a:t>›</a:t>
            </a:r>
            <a:endParaRPr lang="en-US" sz="1800" dirty="0"/>
          </a:p>
        </p:txBody>
      </p:sp>
      <p:sp>
        <p:nvSpPr>
          <p:cNvPr id="15" name="Shape 13"/>
          <p:cNvSpPr/>
          <p:nvPr/>
        </p:nvSpPr>
        <p:spPr>
          <a:xfrm>
            <a:off x="7991856" y="1965960"/>
            <a:ext cx="3474720" cy="1097280"/>
          </a:xfrm>
          <a:prstGeom prst="roundRect">
            <a:avLst>
              <a:gd name="adj" fmla="val 666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6" name="Shape 14"/>
          <p:cNvSpPr/>
          <p:nvPr/>
        </p:nvSpPr>
        <p:spPr>
          <a:xfrm>
            <a:off x="7991856" y="1965960"/>
            <a:ext cx="82296" cy="1097280"/>
          </a:xfrm>
          <a:prstGeom prst="rect">
            <a:avLst/>
          </a:prstGeom>
          <a:solidFill>
            <a:srgbClr val="C79A3A"/>
          </a:solidFill>
          <a:ln/>
        </p:spPr>
      </p:sp>
      <p:sp>
        <p:nvSpPr>
          <p:cNvPr id="17" name="Text 15"/>
          <p:cNvSpPr/>
          <p:nvPr/>
        </p:nvSpPr>
        <p:spPr>
          <a:xfrm>
            <a:off x="8266176" y="2157984"/>
            <a:ext cx="3017520" cy="411480"/>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投稿 / 返信＋リアクション</a:t>
            </a:r>
            <a:endParaRPr lang="en-US" sz="1250" dirty="0"/>
          </a:p>
        </p:txBody>
      </p:sp>
      <p:sp>
        <p:nvSpPr>
          <p:cNvPr id="18" name="Text 16"/>
          <p:cNvSpPr/>
          <p:nvPr/>
        </p:nvSpPr>
        <p:spPr>
          <a:xfrm>
            <a:off x="8266176" y="2560320"/>
            <a:ext cx="3017520" cy="365760"/>
          </a:xfrm>
          <a:prstGeom prst="rect">
            <a:avLst/>
          </a:prstGeom>
          <a:noFill/>
          <a:ln/>
        </p:spPr>
        <p:txBody>
          <a:bodyPr wrap="square" rtlCol="0" anchor="ctr"/>
          <a:lstStyle/>
          <a:p>
            <a:pPr indent="0" marL="0">
              <a:buNone/>
            </a:pPr>
            <a:r>
              <a:rPr lang="en-US" sz="1000" dirty="0">
                <a:solidFill>
                  <a:srgbClr val="6B7280"/>
                </a:solidFill>
                <a:latin typeface="Meiryo" pitchFamily="34" charset="0"/>
                <a:ea typeface="Meiryo" pitchFamily="34" charset="-122"/>
                <a:cs typeface="Meiryo" pitchFamily="34" charset="-120"/>
              </a:rPr>
              <a:t>ベストアンサー報酬</a:t>
            </a:r>
            <a:endParaRPr lang="en-US" sz="1000" dirty="0"/>
          </a:p>
        </p:txBody>
      </p:sp>
      <p:sp>
        <p:nvSpPr>
          <p:cNvPr id="19" name="Shape 17"/>
          <p:cNvSpPr/>
          <p:nvPr/>
        </p:nvSpPr>
        <p:spPr>
          <a:xfrm>
            <a:off x="548640" y="3291840"/>
            <a:ext cx="5349240" cy="2286000"/>
          </a:xfrm>
          <a:prstGeom prst="roundRect">
            <a:avLst>
              <a:gd name="adj" fmla="val 320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0" name="Shape 18"/>
          <p:cNvSpPr/>
          <p:nvPr/>
        </p:nvSpPr>
        <p:spPr>
          <a:xfrm>
            <a:off x="548640" y="3291840"/>
            <a:ext cx="5349240" cy="54864"/>
          </a:xfrm>
          <a:prstGeom prst="rect">
            <a:avLst/>
          </a:prstGeom>
          <a:solidFill>
            <a:srgbClr val="3B4CCA"/>
          </a:solidFill>
          <a:ln/>
        </p:spPr>
      </p:sp>
      <p:sp>
        <p:nvSpPr>
          <p:cNvPr id="21" name="Text 19"/>
          <p:cNvSpPr/>
          <p:nvPr/>
        </p:nvSpPr>
        <p:spPr>
          <a:xfrm>
            <a:off x="822960" y="3429000"/>
            <a:ext cx="4754880" cy="365760"/>
          </a:xfrm>
          <a:prstGeom prst="rect">
            <a:avLst/>
          </a:prstGeom>
          <a:noFill/>
          <a:ln/>
        </p:spPr>
        <p:txBody>
          <a:bodyPr wrap="square" rtlCol="0" anchor="ctr"/>
          <a:lstStyle/>
          <a:p>
            <a:pPr indent="0" marL="0">
              <a:buNone/>
            </a:pPr>
            <a:r>
              <a:rPr lang="en-US" sz="1300" b="1" dirty="0">
                <a:solidFill>
                  <a:srgbClr val="3B4CCA"/>
                </a:solidFill>
                <a:latin typeface="Meiryo" pitchFamily="34" charset="0"/>
                <a:ea typeface="Meiryo" pitchFamily="34" charset="-122"/>
                <a:cs typeface="Meiryo" pitchFamily="34" charset="-120"/>
              </a:rPr>
              <a:t>エンゲージ／差別化</a:t>
            </a:r>
            <a:endParaRPr lang="en-US" sz="1300" dirty="0"/>
          </a:p>
        </p:txBody>
      </p:sp>
      <p:sp>
        <p:nvSpPr>
          <p:cNvPr id="22" name="Text 20"/>
          <p:cNvSpPr/>
          <p:nvPr/>
        </p:nvSpPr>
        <p:spPr>
          <a:xfrm>
            <a:off x="850392" y="3840480"/>
            <a:ext cx="4800600" cy="1645920"/>
          </a:xfrm>
          <a:prstGeom prst="rect">
            <a:avLst/>
          </a:prstGeom>
          <a:noFill/>
          <a:ln/>
        </p:spPr>
        <p:txBody>
          <a:bodyPr wrap="square" rtlCol="0" anchor="t"/>
          <a:lstStyle/>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ポイント賭け質問 → ベストアンサーに報酬</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回答評価（投票）で良質回答を可視化</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ギルド単位の交流・期間限定のゲーム別開催（BtoB理由）</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リアルタイムチャット/DMは段階実装</a:t>
            </a:r>
            <a:endParaRPr lang="en-US" sz="1030" dirty="0"/>
          </a:p>
        </p:txBody>
      </p:sp>
      <p:sp>
        <p:nvSpPr>
          <p:cNvPr id="23" name="Shape 21"/>
          <p:cNvSpPr/>
          <p:nvPr/>
        </p:nvSpPr>
        <p:spPr>
          <a:xfrm>
            <a:off x="6263640" y="3291840"/>
            <a:ext cx="5349240" cy="2286000"/>
          </a:xfrm>
          <a:prstGeom prst="roundRect">
            <a:avLst>
              <a:gd name="adj" fmla="val 3200"/>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4" name="Shape 22"/>
          <p:cNvSpPr/>
          <p:nvPr/>
        </p:nvSpPr>
        <p:spPr>
          <a:xfrm>
            <a:off x="6263640" y="3291840"/>
            <a:ext cx="5349240" cy="54864"/>
          </a:xfrm>
          <a:prstGeom prst="rect">
            <a:avLst/>
          </a:prstGeom>
          <a:solidFill>
            <a:srgbClr val="2F8F5B"/>
          </a:solidFill>
          <a:ln/>
        </p:spPr>
      </p:sp>
      <p:sp>
        <p:nvSpPr>
          <p:cNvPr id="25" name="Text 23"/>
          <p:cNvSpPr/>
          <p:nvPr/>
        </p:nvSpPr>
        <p:spPr>
          <a:xfrm>
            <a:off x="6537960" y="3429000"/>
            <a:ext cx="4754880" cy="365760"/>
          </a:xfrm>
          <a:prstGeom prst="rect">
            <a:avLst/>
          </a:prstGeom>
          <a:noFill/>
          <a:ln/>
        </p:spPr>
        <p:txBody>
          <a:bodyPr wrap="square" rtlCol="0" anchor="ctr"/>
          <a:lstStyle/>
          <a:p>
            <a:pPr indent="0" marL="0">
              <a:buNone/>
            </a:pPr>
            <a:r>
              <a:rPr lang="en-US" sz="1300" b="1" dirty="0">
                <a:solidFill>
                  <a:srgbClr val="2F8F5B"/>
                </a:solidFill>
                <a:latin typeface="Meiryo" pitchFamily="34" charset="0"/>
                <a:ea typeface="Meiryo" pitchFamily="34" charset="-122"/>
                <a:cs typeface="Meiryo" pitchFamily="34" charset="-120"/>
              </a:rPr>
              <a:t>安全装置（前提）</a:t>
            </a:r>
            <a:endParaRPr lang="en-US" sz="1300" dirty="0"/>
          </a:p>
        </p:txBody>
      </p:sp>
      <p:sp>
        <p:nvSpPr>
          <p:cNvPr id="26" name="Text 24"/>
          <p:cNvSpPr/>
          <p:nvPr/>
        </p:nvSpPr>
        <p:spPr>
          <a:xfrm>
            <a:off x="6565392" y="3840480"/>
            <a:ext cx="4800600" cy="1645920"/>
          </a:xfrm>
          <a:prstGeom prst="rect">
            <a:avLst/>
          </a:prstGeom>
          <a:noFill/>
          <a:ln/>
        </p:spPr>
        <p:txBody>
          <a:bodyPr wrap="square" rtlCol="0" anchor="t"/>
          <a:lstStyle/>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投稿/ユーザーの通報フロー＋理由選択</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NGワード自動フィルタ・スパム検知</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モデレーション管理：削除/警告/凍結/BAN</a:t>
            </a:r>
            <a:endParaRPr lang="en-US" sz="1030" dirty="0"/>
          </a:p>
          <a:p>
            <a:pPr marL="152400" indent="-152400">
              <a:spcAft>
                <a:spcPts val="600"/>
              </a:spcAft>
              <a:buSzPct val="100000"/>
              <a:buChar char="•"/>
            </a:pPr>
            <a:r>
              <a:rPr lang="en-US" sz="1030" dirty="0">
                <a:solidFill>
                  <a:srgbClr val="1F2430"/>
                </a:solidFill>
                <a:latin typeface="Meiryo" pitchFamily="34" charset="0"/>
                <a:ea typeface="Meiryo" pitchFamily="34" charset="-122"/>
                <a:cs typeface="Meiryo" pitchFamily="34" charset="-120"/>
              </a:rPr>
              <a:t>権限：一般 / モデレーター / 管理者</a:t>
            </a:r>
            <a:endParaRPr lang="en-US" sz="1030" dirty="0"/>
          </a:p>
        </p:txBody>
      </p:sp>
      <p:sp>
        <p:nvSpPr>
          <p:cNvPr id="27" name="Text 25"/>
          <p:cNvSpPr/>
          <p:nvPr/>
        </p:nvSpPr>
        <p:spPr>
          <a:xfrm>
            <a:off x="548640" y="5897880"/>
            <a:ext cx="11064240" cy="365760"/>
          </a:xfrm>
          <a:prstGeom prst="rect">
            <a:avLst/>
          </a:prstGeom>
          <a:noFill/>
          <a:ln/>
        </p:spPr>
        <p:txBody>
          <a:bodyPr wrap="square" rtlCol="0" anchor="ctr"/>
          <a:lstStyle/>
          <a:p>
            <a:pPr indent="0" marL="0">
              <a:buNone/>
            </a:pPr>
            <a:r>
              <a:rPr lang="en-US" sz="1050" b="1" dirty="0">
                <a:solidFill>
                  <a:srgbClr val="2F8F5B"/>
                </a:solidFill>
                <a:latin typeface="Meiryo" pitchFamily="34" charset="0"/>
                <a:ea typeface="Meiryo" pitchFamily="34" charset="-122"/>
                <a:cs typeface="Meiryo" pitchFamily="34" charset="-120"/>
              </a:rPr>
              <a:t>✓ ワイヤーフレームで実装済み：</a:t>
            </a:r>
            <a:pPr indent="0" marL="0">
              <a:buNone/>
            </a:pPr>
            <a:r>
              <a:rPr lang="en-US" sz="1050" dirty="0">
                <a:solidFill>
                  <a:srgbClr val="1F2430"/>
                </a:solidFill>
                <a:latin typeface="Meiryo" pitchFamily="34" charset="0"/>
                <a:ea typeface="Meiryo" pitchFamily="34" charset="-122"/>
                <a:cs typeface="Meiryo" pitchFamily="34" charset="-120"/>
              </a:rPr>
              <a:t>ギルド→トピック→返信、賭け質問のベストアンサー進呈、通報モーダルまで操作できます。</a:t>
            </a:r>
            <a:endParaRPr lang="en-US" sz="1050" dirty="0"/>
          </a:p>
        </p:txBody>
      </p:sp>
      <p:sp>
        <p:nvSpPr>
          <p:cNvPr id="28" name="Text 26"/>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9" name="Text 27"/>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30" name="Text 28"/>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8"/>
        </a:solidFill>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rtlCol="0" anchor="ctr"/>
          <a:lstStyle/>
          <a:p>
            <a:pPr indent="0" marL="0">
              <a:buNone/>
            </a:pPr>
            <a:r>
              <a:rPr lang="en-US" sz="1100" b="1" spc="200" kern="0" dirty="0">
                <a:solidFill>
                  <a:srgbClr val="3B4CCA"/>
                </a:solidFill>
                <a:latin typeface="Meiryo" pitchFamily="34" charset="0"/>
                <a:ea typeface="Meiryo" pitchFamily="34" charset="-122"/>
                <a:cs typeface="Meiryo" pitchFamily="34" charset="-120"/>
              </a:rPr>
              <a:t>RISKS</a:t>
            </a:r>
            <a:endParaRPr lang="en-US" sz="1100" dirty="0"/>
          </a:p>
        </p:txBody>
      </p:sp>
      <p:sp>
        <p:nvSpPr>
          <p:cNvPr id="3" name="Text 1"/>
          <p:cNvSpPr/>
          <p:nvPr/>
        </p:nvSpPr>
        <p:spPr>
          <a:xfrm>
            <a:off x="530352" y="676656"/>
            <a:ext cx="11064240" cy="640080"/>
          </a:xfrm>
          <a:prstGeom prst="rect">
            <a:avLst/>
          </a:prstGeom>
          <a:noFill/>
          <a:ln/>
        </p:spPr>
        <p:txBody>
          <a:bodyPr wrap="square" rtlCol="0" anchor="ctr"/>
          <a:lstStyle/>
          <a:p>
            <a:pPr indent="0" marL="0">
              <a:buNone/>
            </a:pPr>
            <a:r>
              <a:rPr lang="en-US" sz="2500" b="1" dirty="0">
                <a:solidFill>
                  <a:srgbClr val="1F2430"/>
                </a:solidFill>
                <a:latin typeface="Meiryo" pitchFamily="34" charset="0"/>
                <a:ea typeface="Meiryo" pitchFamily="34" charset="-122"/>
                <a:cs typeface="Meiryo" pitchFamily="34" charset="-120"/>
              </a:rPr>
              <a:t>想定リスクと留意点</a:t>
            </a:r>
            <a:endParaRPr lang="en-US" sz="2500" dirty="0"/>
          </a:p>
        </p:txBody>
      </p:sp>
      <p:sp>
        <p:nvSpPr>
          <p:cNvPr id="4" name="Shape 2"/>
          <p:cNvSpPr/>
          <p:nvPr/>
        </p:nvSpPr>
        <p:spPr>
          <a:xfrm>
            <a:off x="548640" y="1554480"/>
            <a:ext cx="11064240" cy="749808"/>
          </a:xfrm>
          <a:prstGeom prst="roundRect">
            <a:avLst>
              <a:gd name="adj" fmla="val 731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5" name="Shape 3"/>
          <p:cNvSpPr/>
          <p:nvPr/>
        </p:nvSpPr>
        <p:spPr>
          <a:xfrm>
            <a:off x="548640" y="1554480"/>
            <a:ext cx="91440" cy="749808"/>
          </a:xfrm>
          <a:prstGeom prst="rect">
            <a:avLst/>
          </a:prstGeom>
          <a:solidFill>
            <a:srgbClr val="3B4CCA"/>
          </a:solidFill>
          <a:ln/>
        </p:spPr>
      </p:sp>
      <p:sp>
        <p:nvSpPr>
          <p:cNvPr id="6" name="Text 4"/>
          <p:cNvSpPr/>
          <p:nvPr/>
        </p:nvSpPr>
        <p:spPr>
          <a:xfrm>
            <a:off x="914400" y="1554480"/>
            <a:ext cx="3017520" cy="749808"/>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アイテム納品の運用</a:t>
            </a:r>
            <a:endParaRPr lang="en-US" sz="1250" dirty="0"/>
          </a:p>
        </p:txBody>
      </p:sp>
      <p:sp>
        <p:nvSpPr>
          <p:cNvPr id="7" name="Text 5"/>
          <p:cNvSpPr/>
          <p:nvPr/>
        </p:nvSpPr>
        <p:spPr>
          <a:xfrm>
            <a:off x="4023360" y="1600200"/>
            <a:ext cx="7406640" cy="658368"/>
          </a:xfrm>
          <a:prstGeom prst="rect">
            <a:avLst/>
          </a:prstGeom>
          <a:noFill/>
          <a:ln/>
        </p:spPr>
        <p:txBody>
          <a:bodyPr wrap="square" rtlCol="0" anchor="ctr"/>
          <a:lstStyle/>
          <a:p>
            <a:pPr indent="0" marL="0">
              <a:buNone/>
            </a:pPr>
            <a:r>
              <a:rPr lang="en-US" sz="1080" dirty="0">
                <a:solidFill>
                  <a:srgbClr val="6B7280"/>
                </a:solidFill>
                <a:latin typeface="Meiryo" pitchFamily="34" charset="0"/>
                <a:ea typeface="Meiryo" pitchFamily="34" charset="-122"/>
                <a:cs typeface="Meiryo" pitchFamily="34" charset="-120"/>
              </a:rPr>
              <a:t>MVP1は「コード式」中心、CSV式併用。API式は Phase3。納品〜付与のリードタイムを前提に設計</a:t>
            </a:r>
            <a:endParaRPr lang="en-US" sz="1080" dirty="0"/>
          </a:p>
        </p:txBody>
      </p:sp>
      <p:sp>
        <p:nvSpPr>
          <p:cNvPr id="8" name="Shape 6"/>
          <p:cNvSpPr/>
          <p:nvPr/>
        </p:nvSpPr>
        <p:spPr>
          <a:xfrm>
            <a:off x="548640" y="2450592"/>
            <a:ext cx="11064240" cy="749808"/>
          </a:xfrm>
          <a:prstGeom prst="roundRect">
            <a:avLst>
              <a:gd name="adj" fmla="val 731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9" name="Shape 7"/>
          <p:cNvSpPr/>
          <p:nvPr/>
        </p:nvSpPr>
        <p:spPr>
          <a:xfrm>
            <a:off x="548640" y="2450592"/>
            <a:ext cx="91440" cy="749808"/>
          </a:xfrm>
          <a:prstGeom prst="rect">
            <a:avLst/>
          </a:prstGeom>
          <a:solidFill>
            <a:srgbClr val="7A4FD0"/>
          </a:solidFill>
          <a:ln/>
        </p:spPr>
      </p:sp>
      <p:sp>
        <p:nvSpPr>
          <p:cNvPr id="10" name="Text 8"/>
          <p:cNvSpPr/>
          <p:nvPr/>
        </p:nvSpPr>
        <p:spPr>
          <a:xfrm>
            <a:off x="914400" y="2450592"/>
            <a:ext cx="3017520" cy="749808"/>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報酬精算フロー</a:t>
            </a:r>
            <a:endParaRPr lang="en-US" sz="1250" dirty="0"/>
          </a:p>
        </p:txBody>
      </p:sp>
      <p:sp>
        <p:nvSpPr>
          <p:cNvPr id="11" name="Text 9"/>
          <p:cNvSpPr/>
          <p:nvPr/>
        </p:nvSpPr>
        <p:spPr>
          <a:xfrm>
            <a:off x="4023360" y="2496312"/>
            <a:ext cx="7406640" cy="658368"/>
          </a:xfrm>
          <a:prstGeom prst="rect">
            <a:avLst/>
          </a:prstGeom>
          <a:noFill/>
          <a:ln/>
        </p:spPr>
        <p:txBody>
          <a:bodyPr wrap="square" rtlCol="0" anchor="ctr"/>
          <a:lstStyle/>
          <a:p>
            <a:pPr indent="0" marL="0">
              <a:buNone/>
            </a:pPr>
            <a:r>
              <a:rPr lang="en-US" sz="1080" dirty="0">
                <a:solidFill>
                  <a:srgbClr val="6B7280"/>
                </a:solidFill>
                <a:latin typeface="Meiryo" pitchFamily="34" charset="0"/>
                <a:ea typeface="Meiryo" pitchFamily="34" charset="-122"/>
                <a:cs typeface="Meiryo" pitchFamily="34" charset="-120"/>
              </a:rPr>
              <a:t>翌々月末精算（資料準拠）。管理側で月次集計・請求情報出力を MVP3 で整備</a:t>
            </a:r>
            <a:endParaRPr lang="en-US" sz="1080" dirty="0"/>
          </a:p>
        </p:txBody>
      </p:sp>
      <p:sp>
        <p:nvSpPr>
          <p:cNvPr id="12" name="Shape 10"/>
          <p:cNvSpPr/>
          <p:nvPr/>
        </p:nvSpPr>
        <p:spPr>
          <a:xfrm>
            <a:off x="548640" y="3346704"/>
            <a:ext cx="11064240" cy="749808"/>
          </a:xfrm>
          <a:prstGeom prst="roundRect">
            <a:avLst>
              <a:gd name="adj" fmla="val 731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3" name="Shape 11"/>
          <p:cNvSpPr/>
          <p:nvPr/>
        </p:nvSpPr>
        <p:spPr>
          <a:xfrm>
            <a:off x="548640" y="3346704"/>
            <a:ext cx="91440" cy="749808"/>
          </a:xfrm>
          <a:prstGeom prst="rect">
            <a:avLst/>
          </a:prstGeom>
          <a:solidFill>
            <a:srgbClr val="C79A3A"/>
          </a:solidFill>
          <a:ln/>
        </p:spPr>
      </p:sp>
      <p:sp>
        <p:nvSpPr>
          <p:cNvPr id="14" name="Text 12"/>
          <p:cNvSpPr/>
          <p:nvPr/>
        </p:nvSpPr>
        <p:spPr>
          <a:xfrm>
            <a:off x="914400" y="3346704"/>
            <a:ext cx="3017520" cy="749808"/>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ポイント不正対策</a:t>
            </a:r>
            <a:endParaRPr lang="en-US" sz="1250" dirty="0"/>
          </a:p>
        </p:txBody>
      </p:sp>
      <p:sp>
        <p:nvSpPr>
          <p:cNvPr id="15" name="Text 13"/>
          <p:cNvSpPr/>
          <p:nvPr/>
        </p:nvSpPr>
        <p:spPr>
          <a:xfrm>
            <a:off x="4023360" y="3392424"/>
            <a:ext cx="7406640" cy="658368"/>
          </a:xfrm>
          <a:prstGeom prst="rect">
            <a:avLst/>
          </a:prstGeom>
          <a:noFill/>
          <a:ln/>
        </p:spPr>
        <p:txBody>
          <a:bodyPr wrap="square" rtlCol="0" anchor="ctr"/>
          <a:lstStyle/>
          <a:p>
            <a:pPr indent="0" marL="0">
              <a:buNone/>
            </a:pPr>
            <a:r>
              <a:rPr lang="en-US" sz="1080" dirty="0">
                <a:solidFill>
                  <a:srgbClr val="6B7280"/>
                </a:solidFill>
                <a:latin typeface="Meiryo" pitchFamily="34" charset="0"/>
                <a:ea typeface="Meiryo" pitchFamily="34" charset="-122"/>
                <a:cs typeface="Meiryo" pitchFamily="34" charset="-120"/>
              </a:rPr>
              <a:t>本格セキュリティは Phase2 だが、ポイント二重取得・改ざん対策の最小限は MVP1 から設計</a:t>
            </a:r>
            <a:endParaRPr lang="en-US" sz="1080" dirty="0"/>
          </a:p>
        </p:txBody>
      </p:sp>
      <p:sp>
        <p:nvSpPr>
          <p:cNvPr id="16" name="Shape 14"/>
          <p:cNvSpPr/>
          <p:nvPr/>
        </p:nvSpPr>
        <p:spPr>
          <a:xfrm>
            <a:off x="548640" y="4242816"/>
            <a:ext cx="11064240" cy="749808"/>
          </a:xfrm>
          <a:prstGeom prst="roundRect">
            <a:avLst>
              <a:gd name="adj" fmla="val 731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17" name="Shape 15"/>
          <p:cNvSpPr/>
          <p:nvPr/>
        </p:nvSpPr>
        <p:spPr>
          <a:xfrm>
            <a:off x="548640" y="4242816"/>
            <a:ext cx="91440" cy="749808"/>
          </a:xfrm>
          <a:prstGeom prst="rect">
            <a:avLst/>
          </a:prstGeom>
          <a:solidFill>
            <a:srgbClr val="C0392B"/>
          </a:solidFill>
          <a:ln/>
        </p:spPr>
      </p:sp>
      <p:sp>
        <p:nvSpPr>
          <p:cNvPr id="18" name="Text 16"/>
          <p:cNvSpPr/>
          <p:nvPr/>
        </p:nvSpPr>
        <p:spPr>
          <a:xfrm>
            <a:off x="914400" y="4242816"/>
            <a:ext cx="3017520" cy="749808"/>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法務・会計確認</a:t>
            </a:r>
            <a:endParaRPr lang="en-US" sz="1250" dirty="0"/>
          </a:p>
        </p:txBody>
      </p:sp>
      <p:sp>
        <p:nvSpPr>
          <p:cNvPr id="19" name="Text 17"/>
          <p:cNvSpPr/>
          <p:nvPr/>
        </p:nvSpPr>
        <p:spPr>
          <a:xfrm>
            <a:off x="4023360" y="4288536"/>
            <a:ext cx="7406640" cy="658368"/>
          </a:xfrm>
          <a:prstGeom prst="rect">
            <a:avLst/>
          </a:prstGeom>
          <a:noFill/>
          <a:ln/>
        </p:spPr>
        <p:txBody>
          <a:bodyPr wrap="square" rtlCol="0" anchor="ctr"/>
          <a:lstStyle/>
          <a:p>
            <a:pPr indent="0" marL="0">
              <a:buNone/>
            </a:pPr>
            <a:r>
              <a:rPr lang="en-US" sz="1080" dirty="0">
                <a:solidFill>
                  <a:srgbClr val="6B7280"/>
                </a:solidFill>
                <a:latin typeface="Meiryo" pitchFamily="34" charset="0"/>
                <a:ea typeface="Meiryo" pitchFamily="34" charset="-122"/>
                <a:cs typeface="Meiryo" pitchFamily="34" charset="-120"/>
              </a:rPr>
              <a:t>ポイントに換金性が出る場合は前払式支払手段等の該当性を要確認。早めに専門家レビュー</a:t>
            </a:r>
            <a:endParaRPr lang="en-US" sz="1080" dirty="0"/>
          </a:p>
        </p:txBody>
      </p:sp>
      <p:sp>
        <p:nvSpPr>
          <p:cNvPr id="20" name="Shape 18"/>
          <p:cNvSpPr/>
          <p:nvPr/>
        </p:nvSpPr>
        <p:spPr>
          <a:xfrm>
            <a:off x="548640" y="5138928"/>
            <a:ext cx="11064240" cy="749808"/>
          </a:xfrm>
          <a:prstGeom prst="roundRect">
            <a:avLst>
              <a:gd name="adj" fmla="val 7317"/>
            </a:avLst>
          </a:prstGeom>
          <a:solidFill>
            <a:srgbClr val="FFFFFF"/>
          </a:solidFill>
          <a:ln w="12700">
            <a:solidFill>
              <a:srgbClr val="E2E5EC"/>
            </a:solidFill>
            <a:prstDash val="solid"/>
          </a:ln>
          <a:effectLst>
            <a:outerShdw sx="100000" sy="100000" kx="0" ky="0" algn="bl" rotWithShape="0" blurRad="114300" dist="38100" dir="8100000">
              <a:srgbClr val="1F2430">
                <a:alpha val="12000"/>
              </a:srgbClr>
            </a:outerShdw>
          </a:effectLst>
        </p:spPr>
      </p:sp>
      <p:sp>
        <p:nvSpPr>
          <p:cNvPr id="21" name="Shape 19"/>
          <p:cNvSpPr/>
          <p:nvPr/>
        </p:nvSpPr>
        <p:spPr>
          <a:xfrm>
            <a:off x="548640" y="5138928"/>
            <a:ext cx="91440" cy="749808"/>
          </a:xfrm>
          <a:prstGeom prst="rect">
            <a:avLst/>
          </a:prstGeom>
          <a:solidFill>
            <a:srgbClr val="5A6072"/>
          </a:solidFill>
          <a:ln/>
        </p:spPr>
      </p:sp>
      <p:sp>
        <p:nvSpPr>
          <p:cNvPr id="22" name="Text 20"/>
          <p:cNvSpPr/>
          <p:nvPr/>
        </p:nvSpPr>
        <p:spPr>
          <a:xfrm>
            <a:off x="914400" y="5138928"/>
            <a:ext cx="3017520" cy="749808"/>
          </a:xfrm>
          <a:prstGeom prst="rect">
            <a:avLst/>
          </a:prstGeom>
          <a:noFill/>
          <a:ln/>
        </p:spPr>
        <p:txBody>
          <a:bodyPr wrap="square" rtlCol="0" anchor="ctr"/>
          <a:lstStyle/>
          <a:p>
            <a:pPr indent="0" marL="0">
              <a:buNone/>
            </a:pPr>
            <a:r>
              <a:rPr lang="en-US" sz="1250" b="1" dirty="0">
                <a:solidFill>
                  <a:srgbClr val="1F2430"/>
                </a:solidFill>
                <a:latin typeface="Meiryo" pitchFamily="34" charset="0"/>
                <a:ea typeface="Meiryo" pitchFamily="34" charset="-122"/>
                <a:cs typeface="Meiryo" pitchFamily="34" charset="-120"/>
              </a:rPr>
              <a:t>Web3/NFT(Phase4)</a:t>
            </a:r>
            <a:endParaRPr lang="en-US" sz="1250" dirty="0"/>
          </a:p>
        </p:txBody>
      </p:sp>
      <p:sp>
        <p:nvSpPr>
          <p:cNvPr id="23" name="Text 21"/>
          <p:cNvSpPr/>
          <p:nvPr/>
        </p:nvSpPr>
        <p:spPr>
          <a:xfrm>
            <a:off x="4023360" y="5184648"/>
            <a:ext cx="7406640" cy="658368"/>
          </a:xfrm>
          <a:prstGeom prst="rect">
            <a:avLst/>
          </a:prstGeom>
          <a:noFill/>
          <a:ln/>
        </p:spPr>
        <p:txBody>
          <a:bodyPr wrap="square" rtlCol="0" anchor="ctr"/>
          <a:lstStyle/>
          <a:p>
            <a:pPr indent="0" marL="0">
              <a:buNone/>
            </a:pPr>
            <a:r>
              <a:rPr lang="en-US" sz="1080" dirty="0">
                <a:solidFill>
                  <a:srgbClr val="6B7280"/>
                </a:solidFill>
                <a:latin typeface="Meiryo" pitchFamily="34" charset="0"/>
                <a:ea typeface="Meiryo" pitchFamily="34" charset="-122"/>
                <a:cs typeface="Meiryo" pitchFamily="34" charset="-120"/>
              </a:rPr>
              <a:t>規制・税務の影響大。スコープ外だが、ポイント/アイテムのデータ設計は将来移行を阻害しない形に</a:t>
            </a:r>
            <a:endParaRPr lang="en-US" sz="1080" dirty="0"/>
          </a:p>
        </p:txBody>
      </p:sp>
      <p:sp>
        <p:nvSpPr>
          <p:cNvPr id="24" name="Text 22"/>
          <p:cNvSpPr/>
          <p:nvPr/>
        </p:nvSpPr>
        <p:spPr>
          <a:xfrm>
            <a:off x="502920" y="6473952"/>
            <a:ext cx="6400800" cy="274320"/>
          </a:xfrm>
          <a:prstGeom prst="rect">
            <a:avLst/>
          </a:prstGeom>
          <a:noFill/>
          <a:ln/>
        </p:spPr>
        <p:txBody>
          <a:bodyPr wrap="square" rtlCol="0" anchor="ctr"/>
          <a:lstStyle/>
          <a:p>
            <a:pPr indent="0" marL="0">
              <a:buNone/>
            </a:pPr>
            <a:r>
              <a:rPr lang="en-US" sz="850" dirty="0">
                <a:solidFill>
                  <a:srgbClr val="9AA0AC"/>
                </a:solidFill>
                <a:latin typeface="Meiryo" pitchFamily="34" charset="0"/>
                <a:ea typeface="Meiryo" pitchFamily="34" charset="-122"/>
                <a:cs typeface="Meiryo" pitchFamily="34" charset="-120"/>
              </a:rPr>
              <a:t>MasterGame ｜ 仕様提案・MVP分割</a:t>
            </a:r>
            <a:endParaRPr lang="en-US" sz="850" dirty="0"/>
          </a:p>
        </p:txBody>
      </p:sp>
      <p:sp>
        <p:nvSpPr>
          <p:cNvPr id="25" name="Text 23"/>
          <p:cNvSpPr/>
          <p:nvPr/>
        </p:nvSpPr>
        <p:spPr>
          <a:xfrm>
            <a:off x="9174175" y="6473952"/>
            <a:ext cx="1645920" cy="274320"/>
          </a:xfrm>
          <a:prstGeom prst="rect">
            <a:avLst/>
          </a:prstGeom>
          <a:noFill/>
          <a:ln/>
        </p:spPr>
        <p:txBody>
          <a:bodyPr wrap="square" rtlCol="0" anchor="ctr"/>
          <a:lstStyle/>
          <a:p>
            <a:pPr algn="r" indent="0" marL="0">
              <a:buNone/>
            </a:pPr>
            <a:r>
              <a:rPr lang="en-US" sz="850" dirty="0">
                <a:solidFill>
                  <a:srgbClr val="9AA0AC"/>
                </a:solidFill>
                <a:latin typeface="Meiryo" pitchFamily="34" charset="0"/>
                <a:ea typeface="Meiryo" pitchFamily="34" charset="-122"/>
                <a:cs typeface="Meiryo" pitchFamily="34" charset="-120"/>
              </a:rPr>
              <a:t>CONFIDENTIAL</a:t>
            </a:r>
            <a:endParaRPr lang="en-US" sz="850" dirty="0"/>
          </a:p>
        </p:txBody>
      </p:sp>
      <p:sp>
        <p:nvSpPr>
          <p:cNvPr id="26" name="Text 24"/>
          <p:cNvSpPr/>
          <p:nvPr/>
        </p:nvSpPr>
        <p:spPr>
          <a:xfrm>
            <a:off x="11048695" y="6473952"/>
            <a:ext cx="640080" cy="274320"/>
          </a:xfrm>
          <a:prstGeom prst="rect">
            <a:avLst/>
          </a:prstGeom>
          <a:noFill/>
          <a:ln/>
        </p:spPr>
        <p:txBody>
          <a:bodyPr wrap="square" rtlCol="0" anchor="ctr"/>
          <a:lstStyle/>
          <a:p>
            <a:pPr algn="r" indent="0" marL="0">
              <a:buNone/>
            </a:pPr>
            <a:r>
              <a:rPr lang="en-US" sz="850" b="1" dirty="0">
                <a:solidFill>
                  <a:srgbClr val="9AA0AC"/>
                </a:solidFill>
                <a:latin typeface="Meiryo" pitchFamily="34" charset="0"/>
                <a:ea typeface="Meiryo" pitchFamily="34" charset="-122"/>
                <a:cs typeface="Meiryo" pitchFamily="34" charset="-120"/>
              </a:rPr>
              <a:t>16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A2B"/>
        </a:solidFill>
      </p:bgPr>
    </p:bg>
    <p:spTree>
      <p:nvGrpSpPr>
        <p:cNvPr id="1" name=""/>
        <p:cNvGrpSpPr/>
        <p:nvPr/>
      </p:nvGrpSpPr>
      <p:grpSpPr>
        <a:xfrm>
          <a:off x="0" y="0"/>
          <a:ext cx="0" cy="0"/>
          <a:chOff x="0" y="0"/>
          <a:chExt cx="0" cy="0"/>
        </a:xfrm>
      </p:grpSpPr>
      <p:sp>
        <p:nvSpPr>
          <p:cNvPr id="2" name="Shape 0"/>
          <p:cNvSpPr/>
          <p:nvPr/>
        </p:nvSpPr>
        <p:spPr>
          <a:xfrm>
            <a:off x="-2011680" y="3200400"/>
            <a:ext cx="6400800" cy="6400800"/>
          </a:xfrm>
          <a:prstGeom prst="ellipse">
            <a:avLst/>
          </a:prstGeom>
          <a:solidFill>
            <a:srgbClr val="3B4CCA">
              <a:alpha val="20000"/>
            </a:srgbClr>
          </a:solidFill>
          <a:ln/>
        </p:spPr>
      </p:sp>
      <p:sp>
        <p:nvSpPr>
          <p:cNvPr id="3" name="Text 1"/>
          <p:cNvSpPr/>
          <p:nvPr/>
        </p:nvSpPr>
        <p:spPr>
          <a:xfrm>
            <a:off x="777240" y="777240"/>
            <a:ext cx="10058400" cy="365760"/>
          </a:xfrm>
          <a:prstGeom prst="rect">
            <a:avLst/>
          </a:prstGeom>
          <a:noFill/>
          <a:ln/>
        </p:spPr>
        <p:txBody>
          <a:bodyPr wrap="square" rtlCol="0" anchor="ctr"/>
          <a:lstStyle/>
          <a:p>
            <a:pPr indent="0" marL="0">
              <a:buNone/>
            </a:pPr>
            <a:r>
              <a:rPr lang="en-US" sz="1200" b="1" spc="200" kern="0" dirty="0">
                <a:solidFill>
                  <a:srgbClr val="C79A3A"/>
                </a:solidFill>
                <a:latin typeface="Meiryo" pitchFamily="34" charset="0"/>
                <a:ea typeface="Meiryo" pitchFamily="34" charset="-122"/>
                <a:cs typeface="Meiryo" pitchFamily="34" charset="-120"/>
              </a:rPr>
              <a:t>NEXT ACTIONS</a:t>
            </a:r>
            <a:endParaRPr lang="en-US" sz="1200" dirty="0"/>
          </a:p>
        </p:txBody>
      </p:sp>
      <p:sp>
        <p:nvSpPr>
          <p:cNvPr id="4" name="Text 2"/>
          <p:cNvSpPr/>
          <p:nvPr/>
        </p:nvSpPr>
        <p:spPr>
          <a:xfrm>
            <a:off x="758952" y="1097280"/>
            <a:ext cx="10058400" cy="731520"/>
          </a:xfrm>
          <a:prstGeom prst="rect">
            <a:avLst/>
          </a:prstGeom>
          <a:noFill/>
          <a:ln/>
        </p:spPr>
        <p:txBody>
          <a:bodyPr wrap="square" rtlCol="0" anchor="ctr"/>
          <a:lstStyle/>
          <a:p>
            <a:pPr indent="0" marL="0">
              <a:buNone/>
            </a:pPr>
            <a:r>
              <a:rPr lang="en-US" sz="3000" b="1" dirty="0">
                <a:solidFill>
                  <a:srgbClr val="FFFFFF"/>
                </a:solidFill>
                <a:latin typeface="Meiryo" pitchFamily="34" charset="0"/>
                <a:ea typeface="Meiryo" pitchFamily="34" charset="-122"/>
                <a:cs typeface="Meiryo" pitchFamily="34" charset="-120"/>
              </a:rPr>
              <a:t>次のステップ</a:t>
            </a:r>
            <a:endParaRPr lang="en-US" sz="3000" dirty="0"/>
          </a:p>
        </p:txBody>
      </p:sp>
      <p:sp>
        <p:nvSpPr>
          <p:cNvPr id="5" name="Text 3"/>
          <p:cNvSpPr/>
          <p:nvPr/>
        </p:nvSpPr>
        <p:spPr>
          <a:xfrm>
            <a:off x="777240" y="2240280"/>
            <a:ext cx="914400" cy="777240"/>
          </a:xfrm>
          <a:prstGeom prst="rect">
            <a:avLst/>
          </a:prstGeom>
          <a:noFill/>
          <a:ln/>
        </p:spPr>
        <p:txBody>
          <a:bodyPr wrap="square" rtlCol="0" anchor="ctr"/>
          <a:lstStyle/>
          <a:p>
            <a:pPr indent="0" marL="0">
              <a:buNone/>
            </a:pPr>
            <a:r>
              <a:rPr lang="en-US" sz="3000" b="1" dirty="0">
                <a:solidFill>
                  <a:srgbClr val="3B4CCA"/>
                </a:solidFill>
                <a:latin typeface="Meiryo" pitchFamily="34" charset="0"/>
                <a:ea typeface="Meiryo" pitchFamily="34" charset="-122"/>
                <a:cs typeface="Meiryo" pitchFamily="34" charset="-120"/>
              </a:rPr>
              <a:t>01</a:t>
            </a:r>
            <a:endParaRPr lang="en-US" sz="3000" dirty="0"/>
          </a:p>
        </p:txBody>
      </p:sp>
      <p:sp>
        <p:nvSpPr>
          <p:cNvPr id="6" name="Text 4"/>
          <p:cNvSpPr/>
          <p:nvPr/>
        </p:nvSpPr>
        <p:spPr>
          <a:xfrm>
            <a:off x="1828800" y="2240280"/>
            <a:ext cx="5486400" cy="77724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本提案・MVP分割の合意</a:t>
            </a:r>
            <a:endParaRPr lang="en-US" sz="1500" dirty="0"/>
          </a:p>
        </p:txBody>
      </p:sp>
      <p:sp>
        <p:nvSpPr>
          <p:cNvPr id="7" name="Text 5"/>
          <p:cNvSpPr/>
          <p:nvPr/>
        </p:nvSpPr>
        <p:spPr>
          <a:xfrm>
            <a:off x="6949440" y="2240280"/>
            <a:ext cx="4572000" cy="777240"/>
          </a:xfrm>
          <a:prstGeom prst="rect">
            <a:avLst/>
          </a:prstGeom>
          <a:noFill/>
          <a:ln/>
        </p:spPr>
        <p:txBody>
          <a:bodyPr wrap="square" rtlCol="0" anchor="ctr"/>
          <a:lstStyle/>
          <a:p>
            <a:pPr indent="0" marL="0">
              <a:buNone/>
            </a:pPr>
            <a:r>
              <a:rPr lang="en-US" sz="1100" dirty="0">
                <a:solidFill>
                  <a:srgbClr val="AEB3D8"/>
                </a:solidFill>
                <a:latin typeface="Meiryo" pitchFamily="34" charset="0"/>
                <a:ea typeface="Meiryo" pitchFamily="34" charset="-122"/>
                <a:cs typeface="Meiryo" pitchFamily="34" charset="-120"/>
              </a:rPr>
              <a:t>特に MVP1 のスコープ確定（コアフロー）</a:t>
            </a:r>
            <a:endParaRPr lang="en-US" sz="1100" dirty="0"/>
          </a:p>
        </p:txBody>
      </p:sp>
      <p:sp>
        <p:nvSpPr>
          <p:cNvPr id="8" name="Shape 6"/>
          <p:cNvSpPr/>
          <p:nvPr/>
        </p:nvSpPr>
        <p:spPr>
          <a:xfrm>
            <a:off x="822960" y="3063240"/>
            <a:ext cx="10607040" cy="0"/>
          </a:xfrm>
          <a:prstGeom prst="line">
            <a:avLst/>
          </a:prstGeom>
          <a:noFill/>
          <a:ln w="12700">
            <a:solidFill>
              <a:srgbClr val="2E3350"/>
            </a:solidFill>
            <a:prstDash val="solid"/>
          </a:ln>
        </p:spPr>
      </p:sp>
      <p:sp>
        <p:nvSpPr>
          <p:cNvPr id="9" name="Text 7"/>
          <p:cNvSpPr/>
          <p:nvPr/>
        </p:nvSpPr>
        <p:spPr>
          <a:xfrm>
            <a:off x="777240" y="3154680"/>
            <a:ext cx="914400" cy="777240"/>
          </a:xfrm>
          <a:prstGeom prst="rect">
            <a:avLst/>
          </a:prstGeom>
          <a:noFill/>
          <a:ln/>
        </p:spPr>
        <p:txBody>
          <a:bodyPr wrap="square" rtlCol="0" anchor="ctr"/>
          <a:lstStyle/>
          <a:p>
            <a:pPr indent="0" marL="0">
              <a:buNone/>
            </a:pPr>
            <a:r>
              <a:rPr lang="en-US" sz="3000" b="1" dirty="0">
                <a:solidFill>
                  <a:srgbClr val="3B4CCA"/>
                </a:solidFill>
                <a:latin typeface="Meiryo" pitchFamily="34" charset="0"/>
                <a:ea typeface="Meiryo" pitchFamily="34" charset="-122"/>
                <a:cs typeface="Meiryo" pitchFamily="34" charset="-120"/>
              </a:rPr>
              <a:t>02</a:t>
            </a:r>
            <a:endParaRPr lang="en-US" sz="3000" dirty="0"/>
          </a:p>
        </p:txBody>
      </p:sp>
      <p:sp>
        <p:nvSpPr>
          <p:cNvPr id="10" name="Text 8"/>
          <p:cNvSpPr/>
          <p:nvPr/>
        </p:nvSpPr>
        <p:spPr>
          <a:xfrm>
            <a:off x="1828800" y="3154680"/>
            <a:ext cx="5486400" cy="77724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技術スタックの決定</a:t>
            </a:r>
            <a:endParaRPr lang="en-US" sz="1500" dirty="0"/>
          </a:p>
        </p:txBody>
      </p:sp>
      <p:sp>
        <p:nvSpPr>
          <p:cNvPr id="11" name="Text 9"/>
          <p:cNvSpPr/>
          <p:nvPr/>
        </p:nvSpPr>
        <p:spPr>
          <a:xfrm>
            <a:off x="6949440" y="3154680"/>
            <a:ext cx="4572000" cy="777240"/>
          </a:xfrm>
          <a:prstGeom prst="rect">
            <a:avLst/>
          </a:prstGeom>
          <a:noFill/>
          <a:ln/>
        </p:spPr>
        <p:txBody>
          <a:bodyPr wrap="square" rtlCol="0" anchor="ctr"/>
          <a:lstStyle/>
          <a:p>
            <a:pPr indent="0" marL="0">
              <a:buNone/>
            </a:pPr>
            <a:r>
              <a:rPr lang="en-US" sz="1100" dirty="0">
                <a:solidFill>
                  <a:srgbClr val="AEB3D8"/>
                </a:solidFill>
                <a:latin typeface="Meiryo" pitchFamily="34" charset="0"/>
                <a:ea typeface="Meiryo" pitchFamily="34" charset="-122"/>
                <a:cs typeface="Meiryo" pitchFamily="34" charset="-120"/>
              </a:rPr>
              <a:t>RN+Expo / Supabase 方針の可否を判断</a:t>
            </a:r>
            <a:endParaRPr lang="en-US" sz="1100" dirty="0"/>
          </a:p>
        </p:txBody>
      </p:sp>
      <p:sp>
        <p:nvSpPr>
          <p:cNvPr id="12" name="Shape 10"/>
          <p:cNvSpPr/>
          <p:nvPr/>
        </p:nvSpPr>
        <p:spPr>
          <a:xfrm>
            <a:off x="822960" y="3977640"/>
            <a:ext cx="10607040" cy="0"/>
          </a:xfrm>
          <a:prstGeom prst="line">
            <a:avLst/>
          </a:prstGeom>
          <a:noFill/>
          <a:ln w="12700">
            <a:solidFill>
              <a:srgbClr val="2E3350"/>
            </a:solidFill>
            <a:prstDash val="solid"/>
          </a:ln>
        </p:spPr>
      </p:sp>
      <p:sp>
        <p:nvSpPr>
          <p:cNvPr id="13" name="Text 11"/>
          <p:cNvSpPr/>
          <p:nvPr/>
        </p:nvSpPr>
        <p:spPr>
          <a:xfrm>
            <a:off x="777240" y="4069080"/>
            <a:ext cx="914400" cy="777240"/>
          </a:xfrm>
          <a:prstGeom prst="rect">
            <a:avLst/>
          </a:prstGeom>
          <a:noFill/>
          <a:ln/>
        </p:spPr>
        <p:txBody>
          <a:bodyPr wrap="square" rtlCol="0" anchor="ctr"/>
          <a:lstStyle/>
          <a:p>
            <a:pPr indent="0" marL="0">
              <a:buNone/>
            </a:pPr>
            <a:r>
              <a:rPr lang="en-US" sz="3000" b="1" dirty="0">
                <a:solidFill>
                  <a:srgbClr val="3B4CCA"/>
                </a:solidFill>
                <a:latin typeface="Meiryo" pitchFamily="34" charset="0"/>
                <a:ea typeface="Meiryo" pitchFamily="34" charset="-122"/>
                <a:cs typeface="Meiryo" pitchFamily="34" charset="-120"/>
              </a:rPr>
              <a:t>03</a:t>
            </a:r>
            <a:endParaRPr lang="en-US" sz="3000" dirty="0"/>
          </a:p>
        </p:txBody>
      </p:sp>
      <p:sp>
        <p:nvSpPr>
          <p:cNvPr id="14" name="Text 12"/>
          <p:cNvSpPr/>
          <p:nvPr/>
        </p:nvSpPr>
        <p:spPr>
          <a:xfrm>
            <a:off x="1828800" y="4069080"/>
            <a:ext cx="5486400" cy="77724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MVP1 詳細要件・画面設計</a:t>
            </a:r>
            <a:endParaRPr lang="en-US" sz="1500" dirty="0"/>
          </a:p>
        </p:txBody>
      </p:sp>
      <p:sp>
        <p:nvSpPr>
          <p:cNvPr id="15" name="Text 13"/>
          <p:cNvSpPr/>
          <p:nvPr/>
        </p:nvSpPr>
        <p:spPr>
          <a:xfrm>
            <a:off x="6949440" y="4069080"/>
            <a:ext cx="4572000" cy="777240"/>
          </a:xfrm>
          <a:prstGeom prst="rect">
            <a:avLst/>
          </a:prstGeom>
          <a:noFill/>
          <a:ln/>
        </p:spPr>
        <p:txBody>
          <a:bodyPr wrap="square" rtlCol="0" anchor="ctr"/>
          <a:lstStyle/>
          <a:p>
            <a:pPr indent="0" marL="0">
              <a:buNone/>
            </a:pPr>
            <a:r>
              <a:rPr lang="en-US" sz="1100" dirty="0">
                <a:solidFill>
                  <a:srgbClr val="AEB3D8"/>
                </a:solidFill>
                <a:latin typeface="Meiryo" pitchFamily="34" charset="0"/>
                <a:ea typeface="Meiryo" pitchFamily="34" charset="-122"/>
                <a:cs typeface="Meiryo" pitchFamily="34" charset="-120"/>
              </a:rPr>
              <a:t>WFを土台に画面遷移とデータモデルを確定</a:t>
            </a:r>
            <a:endParaRPr lang="en-US" sz="1100" dirty="0"/>
          </a:p>
        </p:txBody>
      </p:sp>
      <p:sp>
        <p:nvSpPr>
          <p:cNvPr id="16" name="Shape 14"/>
          <p:cNvSpPr/>
          <p:nvPr/>
        </p:nvSpPr>
        <p:spPr>
          <a:xfrm>
            <a:off x="822960" y="4892040"/>
            <a:ext cx="10607040" cy="0"/>
          </a:xfrm>
          <a:prstGeom prst="line">
            <a:avLst/>
          </a:prstGeom>
          <a:noFill/>
          <a:ln w="12700">
            <a:solidFill>
              <a:srgbClr val="2E3350"/>
            </a:solidFill>
            <a:prstDash val="solid"/>
          </a:ln>
        </p:spPr>
      </p:sp>
      <p:sp>
        <p:nvSpPr>
          <p:cNvPr id="17" name="Text 15"/>
          <p:cNvSpPr/>
          <p:nvPr/>
        </p:nvSpPr>
        <p:spPr>
          <a:xfrm>
            <a:off x="777240" y="4983480"/>
            <a:ext cx="914400" cy="777240"/>
          </a:xfrm>
          <a:prstGeom prst="rect">
            <a:avLst/>
          </a:prstGeom>
          <a:noFill/>
          <a:ln/>
        </p:spPr>
        <p:txBody>
          <a:bodyPr wrap="square" rtlCol="0" anchor="ctr"/>
          <a:lstStyle/>
          <a:p>
            <a:pPr indent="0" marL="0">
              <a:buNone/>
            </a:pPr>
            <a:r>
              <a:rPr lang="en-US" sz="3000" b="1" dirty="0">
                <a:solidFill>
                  <a:srgbClr val="3B4CCA"/>
                </a:solidFill>
                <a:latin typeface="Meiryo" pitchFamily="34" charset="0"/>
                <a:ea typeface="Meiryo" pitchFamily="34" charset="-122"/>
                <a:cs typeface="Meiryo" pitchFamily="34" charset="-120"/>
              </a:rPr>
              <a:t>04</a:t>
            </a:r>
            <a:endParaRPr lang="en-US" sz="3000" dirty="0"/>
          </a:p>
        </p:txBody>
      </p:sp>
      <p:sp>
        <p:nvSpPr>
          <p:cNvPr id="18" name="Text 16"/>
          <p:cNvSpPr/>
          <p:nvPr/>
        </p:nvSpPr>
        <p:spPr>
          <a:xfrm>
            <a:off x="1828800" y="4983480"/>
            <a:ext cx="5486400" cy="777240"/>
          </a:xfrm>
          <a:prstGeom prst="rect">
            <a:avLst/>
          </a:prstGeom>
          <a:noFill/>
          <a:ln/>
        </p:spPr>
        <p:txBody>
          <a:bodyPr wrap="square" rtlCol="0" anchor="ctr"/>
          <a:lstStyle/>
          <a:p>
            <a:pPr indent="0" marL="0">
              <a:buNone/>
            </a:pPr>
            <a:r>
              <a:rPr lang="en-US" sz="1500" b="1" dirty="0">
                <a:solidFill>
                  <a:srgbClr val="FFFFFF"/>
                </a:solidFill>
                <a:latin typeface="Meiryo" pitchFamily="34" charset="0"/>
                <a:ea typeface="Meiryo" pitchFamily="34" charset="-122"/>
                <a:cs typeface="Meiryo" pitchFamily="34" charset="-120"/>
              </a:rPr>
              <a:t>見積り・体制確定 → 開発着手</a:t>
            </a:r>
            <a:endParaRPr lang="en-US" sz="1500" dirty="0"/>
          </a:p>
        </p:txBody>
      </p:sp>
      <p:sp>
        <p:nvSpPr>
          <p:cNvPr id="19" name="Text 17"/>
          <p:cNvSpPr/>
          <p:nvPr/>
        </p:nvSpPr>
        <p:spPr>
          <a:xfrm>
            <a:off x="6949440" y="4983480"/>
            <a:ext cx="4572000" cy="777240"/>
          </a:xfrm>
          <a:prstGeom prst="rect">
            <a:avLst/>
          </a:prstGeom>
          <a:noFill/>
          <a:ln/>
        </p:spPr>
        <p:txBody>
          <a:bodyPr wrap="square" rtlCol="0" anchor="ctr"/>
          <a:lstStyle/>
          <a:p>
            <a:pPr indent="0" marL="0">
              <a:buNone/>
            </a:pPr>
            <a:r>
              <a:rPr lang="en-US" sz="1100" dirty="0">
                <a:solidFill>
                  <a:srgbClr val="AEB3D8"/>
                </a:solidFill>
                <a:latin typeface="Meiryo" pitchFamily="34" charset="0"/>
                <a:ea typeface="Meiryo" pitchFamily="34" charset="-122"/>
                <a:cs typeface="Meiryo" pitchFamily="34" charset="-120"/>
              </a:rPr>
              <a:t>スプリント計画と受け入れ基準の最終化</a:t>
            </a:r>
            <a:endParaRPr lang="en-US" sz="1100" dirty="0"/>
          </a:p>
        </p:txBody>
      </p:sp>
      <p:sp>
        <p:nvSpPr>
          <p:cNvPr id="20" name="Text 18"/>
          <p:cNvSpPr/>
          <p:nvPr/>
        </p:nvSpPr>
        <p:spPr>
          <a:xfrm>
            <a:off x="777240" y="6263640"/>
            <a:ext cx="10515600" cy="320040"/>
          </a:xfrm>
          <a:prstGeom prst="rect">
            <a:avLst/>
          </a:prstGeom>
          <a:noFill/>
          <a:ln/>
        </p:spPr>
        <p:txBody>
          <a:bodyPr wrap="square" rtlCol="0" anchor="ctr"/>
          <a:lstStyle/>
          <a:p>
            <a:pPr indent="0" marL="0">
              <a:buNone/>
            </a:pPr>
            <a:r>
              <a:rPr lang="en-US" sz="1000" dirty="0">
                <a:solidFill>
                  <a:srgbClr val="8A90B0"/>
                </a:solidFill>
                <a:latin typeface="Meiryo" pitchFamily="34" charset="0"/>
                <a:ea typeface="Meiryo" pitchFamily="34" charset="-122"/>
                <a:cs typeface="Meiryo" pitchFamily="34" charset="-120"/>
              </a:rPr>
              <a:t>操作可能ワイヤーフレーム：wireframes/core-flow.html ／ 本資料：docs/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MasterGame 仕様提案・MVP分割</dc:title>
  <dc:subject>PptxGenJS Presentation</dc:subject>
  <dc:creator>株式会社クリティカルヒット</dc:creator>
  <cp:lastModifiedBy>株式会社クリティカルヒット</cp:lastModifiedBy>
  <cp:revision>1</cp:revision>
  <dcterms:created xsi:type="dcterms:W3CDTF">2026-05-31T04:17:00Z</dcterms:created>
  <dcterms:modified xsi:type="dcterms:W3CDTF">2026-05-31T04:17:00Z</dcterms:modified>
</cp:coreProperties>
</file>